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1" r:id="rId4"/>
    <p:sldId id="262" r:id="rId5"/>
    <p:sldId id="263" r:id="rId6"/>
    <p:sldId id="264" r:id="rId7"/>
    <p:sldId id="260" r:id="rId8"/>
    <p:sldId id="266" r:id="rId9"/>
    <p:sldId id="267" r:id="rId10"/>
    <p:sldId id="259" r:id="rId11"/>
    <p:sldId id="265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E1507DD5-B280-4770-AC0C-A345241EDAA4}">
          <p14:sldIdLst>
            <p14:sldId id="256"/>
            <p14:sldId id="257"/>
            <p14:sldId id="261"/>
            <p14:sldId id="262"/>
            <p14:sldId id="263"/>
            <p14:sldId id="264"/>
            <p14:sldId id="260"/>
            <p14:sldId id="266"/>
            <p14:sldId id="267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77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nalizaDanych\000_projekty\BI_NGO_Wikipedia\BI_NGO_Wikipedia\storytelling\Dane_do_pp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Suma wyświetleń w latach 2018 – 2026 [mln]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2103009997835928E-4"/>
          <c:y val="3.742714599740249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141072314560384"/>
          <c:y val="0.23752681419249164"/>
          <c:w val="0.64010815248045794"/>
          <c:h val="0.712266585014583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Wyświetlenia łączne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93-46BE-9319-5B9CB374ED5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93-46BE-9319-5B9CB374ED5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93-46BE-9319-5B9CB374ED5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93-46BE-9319-5B9CB374ED5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93-46BE-9319-5B9CB374ED5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93-46BE-9319-5B9CB374ED5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93-46BE-9319-5B9CB374ED5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A1CA-4071-B42E-24A59EF21E9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CA-4071-B42E-24A59EF21E9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A1CA-4071-B42E-24A59EF21E94}"/>
              </c:ext>
            </c:extLst>
          </c:dPt>
          <c:cat>
            <c:strRef>
              <c:f>Arkusz1!$A$2:$A$11</c:f>
              <c:strCache>
                <c:ptCount val="10"/>
                <c:pt idx="0">
                  <c:v>NATO</c:v>
                </c:pt>
                <c:pt idx="1">
                  <c:v>Ukraina</c:v>
                </c:pt>
                <c:pt idx="2">
                  <c:v>YouTube</c:v>
                </c:pt>
                <c:pt idx="3">
                  <c:v>Jan Paweł II</c:v>
                </c:pt>
                <c:pt idx="4">
                  <c:v>Facebook</c:v>
                </c:pt>
                <c:pt idx="5">
                  <c:v>Stany Zjednoczone</c:v>
                </c:pt>
                <c:pt idx="6">
                  <c:v>Warszawa</c:v>
                </c:pt>
                <c:pt idx="7">
                  <c:v>Robert Lewandowski</c:v>
                </c:pt>
                <c:pt idx="8">
                  <c:v>Elżbieta II</c:v>
                </c:pt>
                <c:pt idx="9">
                  <c:v>Polska</c:v>
                </c:pt>
              </c:strCache>
            </c:strRef>
          </c:cat>
          <c:val>
            <c:numRef>
              <c:f>Arkusz1!$B$2:$B$11</c:f>
              <c:numCache>
                <c:formatCode>General</c:formatCode>
                <c:ptCount val="10"/>
                <c:pt idx="0">
                  <c:v>7503348</c:v>
                </c:pt>
                <c:pt idx="1">
                  <c:v>8937209</c:v>
                </c:pt>
                <c:pt idx="2">
                  <c:v>9065523</c:v>
                </c:pt>
                <c:pt idx="3">
                  <c:v>10371717</c:v>
                </c:pt>
                <c:pt idx="4">
                  <c:v>10445296</c:v>
                </c:pt>
                <c:pt idx="5">
                  <c:v>10714236</c:v>
                </c:pt>
                <c:pt idx="6">
                  <c:v>11041651</c:v>
                </c:pt>
                <c:pt idx="7">
                  <c:v>11304169</c:v>
                </c:pt>
                <c:pt idx="8">
                  <c:v>14156616</c:v>
                </c:pt>
                <c:pt idx="9">
                  <c:v>24679130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3-46BE-9319-5B9CB374E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54764064"/>
        <c:axId val="1813308464"/>
      </c:barChart>
      <c:catAx>
        <c:axId val="115476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13308464"/>
        <c:crosses val="autoZero"/>
        <c:auto val="1"/>
        <c:lblAlgn val="ctr"/>
        <c:lblOffset val="100"/>
        <c:noMultiLvlLbl val="0"/>
      </c:catAx>
      <c:valAx>
        <c:axId val="1813308464"/>
        <c:scaling>
          <c:orientation val="minMax"/>
          <c:max val="250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accent6">
                  <a:alpha val="5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1547640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[Dane_do_ppt.xlsx]Historia zmian!Tabela przestawna1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Suma</a:t>
            </a:r>
            <a:r>
              <a:rPr lang="pl-PL" sz="1800" dirty="0">
                <a:solidFill>
                  <a:schemeClr val="tx1"/>
                </a:solidFill>
              </a:rPr>
              <a:t> wzrostów</a:t>
            </a:r>
            <a:r>
              <a:rPr lang="pl-PL" sz="1800" baseline="0" dirty="0">
                <a:solidFill>
                  <a:schemeClr val="tx1"/>
                </a:solidFill>
              </a:rPr>
              <a:t> odwiedzin stron wg kategorii przyczyn</a:t>
            </a:r>
            <a:r>
              <a:rPr lang="pl-PL" sz="1800" dirty="0">
                <a:solidFill>
                  <a:schemeClr val="tx1"/>
                </a:solidFill>
              </a:rPr>
              <a:t> zwiększonego</a:t>
            </a:r>
            <a:r>
              <a:rPr lang="pl-PL" sz="1800" baseline="0" dirty="0">
                <a:solidFill>
                  <a:schemeClr val="tx1"/>
                </a:solidFill>
              </a:rPr>
              <a:t> ruchu[mln]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4112899592264745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'Historia zmian'!$B$3</c:f>
              <c:strCache>
                <c:ptCount val="1"/>
                <c:pt idx="0">
                  <c:v>Suma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932-440C-9327-C5BDE0F89BC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932-440C-9327-C5BDE0F89BC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932-440C-9327-C5BDE0F89BC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932-440C-9327-C5BDE0F89BC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932-440C-9327-C5BDE0F89BC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932-440C-9327-C5BDE0F89BC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932-440C-9327-C5BDE0F89BC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932-440C-9327-C5BDE0F89BCE}"/>
              </c:ext>
            </c:extLst>
          </c:dPt>
          <c:cat>
            <c:strRef>
              <c:f>'Historia zmian'!$A$4:$A$13</c:f>
              <c:strCache>
                <c:ptCount val="9"/>
                <c:pt idx="0">
                  <c:v>Święta i rocznice</c:v>
                </c:pt>
                <c:pt idx="1">
                  <c:v>Katastrofa / wypadek</c:v>
                </c:pt>
                <c:pt idx="2">
                  <c:v>Pandemia / zdrowie</c:v>
                </c:pt>
                <c:pt idx="3">
                  <c:v>Wydarzenia medialne i społeczne</c:v>
                </c:pt>
                <c:pt idx="4">
                  <c:v>Wojna i konflikt</c:v>
                </c:pt>
                <c:pt idx="5">
                  <c:v>Polityka i wybory</c:v>
                </c:pt>
                <c:pt idx="6">
                  <c:v>Kultura / film / media</c:v>
                </c:pt>
                <c:pt idx="7">
                  <c:v>Śmierć osoby</c:v>
                </c:pt>
                <c:pt idx="8">
                  <c:v>Sport</c:v>
                </c:pt>
              </c:strCache>
            </c:strRef>
          </c:cat>
          <c:val>
            <c:numRef>
              <c:f>'Historia zmian'!$B$4:$B$13</c:f>
              <c:numCache>
                <c:formatCode>General</c:formatCode>
                <c:ptCount val="9"/>
                <c:pt idx="0">
                  <c:v>2248793</c:v>
                </c:pt>
                <c:pt idx="1">
                  <c:v>3531994</c:v>
                </c:pt>
                <c:pt idx="2">
                  <c:v>3868868</c:v>
                </c:pt>
                <c:pt idx="3">
                  <c:v>10673271</c:v>
                </c:pt>
                <c:pt idx="4">
                  <c:v>13663255</c:v>
                </c:pt>
                <c:pt idx="5">
                  <c:v>14441969</c:v>
                </c:pt>
                <c:pt idx="6">
                  <c:v>16898015</c:v>
                </c:pt>
                <c:pt idx="7">
                  <c:v>20346071</c:v>
                </c:pt>
                <c:pt idx="8">
                  <c:v>21020972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932-440C-9327-C5BDE0F89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287888656"/>
        <c:axId val="413498544"/>
      </c:barChart>
      <c:catAx>
        <c:axId val="287888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13498544"/>
        <c:crosses val="autoZero"/>
        <c:auto val="1"/>
        <c:lblAlgn val="ctr"/>
        <c:lblOffset val="100"/>
        <c:noMultiLvlLbl val="0"/>
      </c:catAx>
      <c:valAx>
        <c:axId val="413498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6">
                  <a:alpha val="5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87888656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 defTabSz="927100">
              <a:tabLst>
                <a:tab pos="4124325" algn="l"/>
              </a:tabLst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en-US" sz="1800" dirty="0">
                <a:solidFill>
                  <a:schemeClr val="tx1"/>
                </a:solidFill>
              </a:rPr>
              <a:t>Elżbieta II</a:t>
            </a:r>
            <a:r>
              <a:rPr lang="pl-PL" sz="1800" dirty="0">
                <a:solidFill>
                  <a:schemeClr val="tx1"/>
                </a:solidFill>
              </a:rPr>
              <a:t> [mln]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6.7410078951817497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defTabSz="927100">
            <a:tabLst>
              <a:tab pos="4124325" algn="l"/>
            </a:tabLst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737209555632855E-2"/>
          <c:y val="0.19334063952432939"/>
          <c:w val="0.94418872912625051"/>
          <c:h val="0.69569096249522122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Elżbieta II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3.14716421046514E-2"/>
                  <c:y val="-0.18971176222118347"/>
                </c:manualLayout>
              </c:layout>
              <c:tx>
                <c:rich>
                  <a:bodyPr/>
                  <a:lstStyle/>
                  <a:p>
                    <a:r>
                      <a:rPr lang="pl-PL" dirty="0"/>
                      <a:t>Ślub</a:t>
                    </a:r>
                    <a:r>
                      <a:rPr lang="pl-PL" baseline="0" dirty="0"/>
                      <a:t> Księcia </a:t>
                    </a:r>
                    <a:r>
                      <a:rPr lang="pl-PL" baseline="0" dirty="0" err="1"/>
                      <a:t>Harrego</a:t>
                    </a:r>
                    <a:r>
                      <a:rPr lang="pl-PL" baseline="0" dirty="0"/>
                      <a:t> z </a:t>
                    </a:r>
                    <a:r>
                      <a:rPr lang="pl-PL" baseline="0" dirty="0" err="1"/>
                      <a:t>Meghan</a:t>
                    </a:r>
                    <a:r>
                      <a:rPr lang="pl-PL" baseline="0" dirty="0"/>
                      <a:t> </a:t>
                    </a:r>
                    <a:r>
                      <a:rPr lang="pl-PL" baseline="0" dirty="0" err="1"/>
                      <a:t>Markle</a:t>
                    </a:r>
                    <a:endParaRPr lang="pl-PL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603-405E-B21C-BFF645A67AEA}"/>
                </c:ext>
              </c:extLst>
            </c:dLbl>
            <c:dLbl>
              <c:idx val="34"/>
              <c:layout>
                <c:manualLayout>
                  <c:x val="-0.2303467088836782"/>
                  <c:y val="-0.32396931702386716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pl-PL" sz="1197" b="0" i="0" u="none" strike="noStrike" kern="1200" baseline="0" dirty="0">
                        <a:solidFill>
                          <a:schemeClr val="tx2"/>
                        </a:solidFill>
                      </a:rPr>
                      <a:t>Obchody 73 rocznicy ślubu z Księciem Filipem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pl-PL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298A-42B4-BA2C-8AEEEEF9E6BE}"/>
                </c:ext>
              </c:extLst>
            </c:dLbl>
            <c:dLbl>
              <c:idx val="39"/>
              <c:layout>
                <c:manualLayout>
                  <c:x val="-4.3135758687979329E-2"/>
                  <c:y val="-0.2714337521010779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Śmierć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</a:t>
                    </a: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Księcia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Filipa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en-US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6603-405E-B21C-BFF645A67AEA}"/>
                </c:ext>
              </c:extLst>
            </c:dLbl>
            <c:dLbl>
              <c:idx val="56"/>
              <c:layout>
                <c:manualLayout>
                  <c:x val="1.0645526866962766E-2"/>
                  <c:y val="-2.3349139965684093E-2"/>
                </c:manualLayout>
              </c:layout>
              <c:tx>
                <c:rich>
                  <a:bodyPr/>
                  <a:lstStyle/>
                  <a:p>
                    <a:r>
                      <a:rPr lang="en-US" dirty="0" err="1"/>
                      <a:t>Śmierć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Elżbiety</a:t>
                    </a:r>
                    <a:r>
                      <a:rPr lang="en-US" baseline="0" dirty="0"/>
                      <a:t> II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03-405E-B21C-BFF645A67AEA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l"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144493</c:v>
                </c:pt>
                <c:pt idx="1">
                  <c:v>97617</c:v>
                </c:pt>
                <c:pt idx="2">
                  <c:v>86240</c:v>
                </c:pt>
                <c:pt idx="3">
                  <c:v>134475</c:v>
                </c:pt>
                <c:pt idx="4">
                  <c:v>375064</c:v>
                </c:pt>
                <c:pt idx="5">
                  <c:v>118184</c:v>
                </c:pt>
                <c:pt idx="6">
                  <c:v>99867</c:v>
                </c:pt>
                <c:pt idx="7">
                  <c:v>68493</c:v>
                </c:pt>
                <c:pt idx="8">
                  <c:v>60403</c:v>
                </c:pt>
                <c:pt idx="9">
                  <c:v>107675</c:v>
                </c:pt>
                <c:pt idx="10">
                  <c:v>86502</c:v>
                </c:pt>
                <c:pt idx="11">
                  <c:v>97699</c:v>
                </c:pt>
                <c:pt idx="12">
                  <c:v>156814</c:v>
                </c:pt>
                <c:pt idx="13">
                  <c:v>95459</c:v>
                </c:pt>
                <c:pt idx="14">
                  <c:v>90494</c:v>
                </c:pt>
                <c:pt idx="15">
                  <c:v>101154</c:v>
                </c:pt>
                <c:pt idx="16">
                  <c:v>140605</c:v>
                </c:pt>
                <c:pt idx="17">
                  <c:v>88963</c:v>
                </c:pt>
                <c:pt idx="18">
                  <c:v>73949</c:v>
                </c:pt>
                <c:pt idx="19">
                  <c:v>73525</c:v>
                </c:pt>
                <c:pt idx="20">
                  <c:v>58771</c:v>
                </c:pt>
                <c:pt idx="21">
                  <c:v>65568</c:v>
                </c:pt>
                <c:pt idx="22">
                  <c:v>199955</c:v>
                </c:pt>
                <c:pt idx="23">
                  <c:v>166970</c:v>
                </c:pt>
                <c:pt idx="24">
                  <c:v>198512</c:v>
                </c:pt>
                <c:pt idx="25">
                  <c:v>96712</c:v>
                </c:pt>
                <c:pt idx="26">
                  <c:v>131951</c:v>
                </c:pt>
                <c:pt idx="27">
                  <c:v>153187</c:v>
                </c:pt>
                <c:pt idx="28">
                  <c:v>85875</c:v>
                </c:pt>
                <c:pt idx="29">
                  <c:v>75402</c:v>
                </c:pt>
                <c:pt idx="30">
                  <c:v>59104</c:v>
                </c:pt>
                <c:pt idx="31">
                  <c:v>67302</c:v>
                </c:pt>
                <c:pt idx="32">
                  <c:v>67736</c:v>
                </c:pt>
                <c:pt idx="33">
                  <c:v>95625</c:v>
                </c:pt>
                <c:pt idx="34">
                  <c:v>631869</c:v>
                </c:pt>
                <c:pt idx="35">
                  <c:v>505906</c:v>
                </c:pt>
                <c:pt idx="36">
                  <c:v>323138</c:v>
                </c:pt>
                <c:pt idx="37">
                  <c:v>199731</c:v>
                </c:pt>
                <c:pt idx="38">
                  <c:v>330514</c:v>
                </c:pt>
                <c:pt idx="39">
                  <c:v>932081</c:v>
                </c:pt>
                <c:pt idx="40">
                  <c:v>118044</c:v>
                </c:pt>
                <c:pt idx="41">
                  <c:v>81910</c:v>
                </c:pt>
                <c:pt idx="42">
                  <c:v>82489</c:v>
                </c:pt>
                <c:pt idx="43">
                  <c:v>72238</c:v>
                </c:pt>
                <c:pt idx="44">
                  <c:v>75262</c:v>
                </c:pt>
                <c:pt idx="45">
                  <c:v>93208</c:v>
                </c:pt>
                <c:pt idx="46">
                  <c:v>107871</c:v>
                </c:pt>
                <c:pt idx="47">
                  <c:v>97380</c:v>
                </c:pt>
                <c:pt idx="48">
                  <c:v>108876</c:v>
                </c:pt>
                <c:pt idx="49">
                  <c:v>160475</c:v>
                </c:pt>
                <c:pt idx="50">
                  <c:v>71090</c:v>
                </c:pt>
                <c:pt idx="51">
                  <c:v>95350</c:v>
                </c:pt>
                <c:pt idx="52">
                  <c:v>81374</c:v>
                </c:pt>
                <c:pt idx="53">
                  <c:v>136118</c:v>
                </c:pt>
                <c:pt idx="54">
                  <c:v>64773</c:v>
                </c:pt>
                <c:pt idx="55">
                  <c:v>56130</c:v>
                </c:pt>
                <c:pt idx="56">
                  <c:v>2060640</c:v>
                </c:pt>
                <c:pt idx="57">
                  <c:v>115027</c:v>
                </c:pt>
                <c:pt idx="58">
                  <c:v>159108</c:v>
                </c:pt>
                <c:pt idx="59">
                  <c:v>89680</c:v>
                </c:pt>
                <c:pt idx="60">
                  <c:v>78603</c:v>
                </c:pt>
                <c:pt idx="61">
                  <c:v>46833</c:v>
                </c:pt>
                <c:pt idx="62">
                  <c:v>50690</c:v>
                </c:pt>
                <c:pt idx="63">
                  <c:v>54220</c:v>
                </c:pt>
                <c:pt idx="64">
                  <c:v>226682</c:v>
                </c:pt>
                <c:pt idx="65">
                  <c:v>31620</c:v>
                </c:pt>
                <c:pt idx="66">
                  <c:v>26717</c:v>
                </c:pt>
                <c:pt idx="67">
                  <c:v>30496</c:v>
                </c:pt>
                <c:pt idx="68">
                  <c:v>30704</c:v>
                </c:pt>
                <c:pt idx="69">
                  <c:v>26923</c:v>
                </c:pt>
                <c:pt idx="70">
                  <c:v>54409</c:v>
                </c:pt>
                <c:pt idx="71">
                  <c:v>99082</c:v>
                </c:pt>
                <c:pt idx="72">
                  <c:v>70150</c:v>
                </c:pt>
                <c:pt idx="73">
                  <c:v>52402</c:v>
                </c:pt>
                <c:pt idx="74">
                  <c:v>41690</c:v>
                </c:pt>
                <c:pt idx="75">
                  <c:v>33836</c:v>
                </c:pt>
                <c:pt idx="76">
                  <c:v>28177</c:v>
                </c:pt>
                <c:pt idx="77">
                  <c:v>26740</c:v>
                </c:pt>
                <c:pt idx="78">
                  <c:v>34836</c:v>
                </c:pt>
                <c:pt idx="79">
                  <c:v>26276</c:v>
                </c:pt>
                <c:pt idx="80">
                  <c:v>29725</c:v>
                </c:pt>
                <c:pt idx="81">
                  <c:v>27763</c:v>
                </c:pt>
                <c:pt idx="82">
                  <c:v>32114</c:v>
                </c:pt>
                <c:pt idx="83">
                  <c:v>30819</c:v>
                </c:pt>
                <c:pt idx="84">
                  <c:v>34989</c:v>
                </c:pt>
                <c:pt idx="85">
                  <c:v>31270</c:v>
                </c:pt>
                <c:pt idx="86">
                  <c:v>32749</c:v>
                </c:pt>
                <c:pt idx="87">
                  <c:v>29308</c:v>
                </c:pt>
                <c:pt idx="88">
                  <c:v>21985</c:v>
                </c:pt>
                <c:pt idx="89">
                  <c:v>17903</c:v>
                </c:pt>
                <c:pt idx="90">
                  <c:v>25998</c:v>
                </c:pt>
                <c:pt idx="91">
                  <c:v>26678</c:v>
                </c:pt>
                <c:pt idx="92">
                  <c:v>29825</c:v>
                </c:pt>
                <c:pt idx="93">
                  <c:v>28897</c:v>
                </c:pt>
                <c:pt idx="94">
                  <c:v>28915</c:v>
                </c:pt>
                <c:pt idx="95">
                  <c:v>27559</c:v>
                </c:pt>
                <c:pt idx="96">
                  <c:v>29673</c:v>
                </c:pt>
                <c:pt idx="97">
                  <c:v>41238</c:v>
                </c:pt>
                <c:pt idx="98">
                  <c:v>25981</c:v>
                </c:pt>
                <c:pt idx="99">
                  <c:v>29279</c:v>
                </c:pt>
                <c:pt idx="100">
                  <c:v>22758</c:v>
                </c:pt>
                <c:pt idx="101">
                  <c:v>20851</c:v>
                </c:pt>
                <c:pt idx="102">
                  <c:v>20094</c:v>
                </c:pt>
                <c:pt idx="103">
                  <c:v>26023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Iga Świątek</a:t>
            </a:r>
            <a:r>
              <a:rPr lang="pl-PL" sz="1800" dirty="0">
                <a:solidFill>
                  <a:schemeClr val="tx1"/>
                </a:solidFill>
              </a:rPr>
              <a:t> [tys.]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2086079838830137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4278109814586426E-2"/>
          <c:y val="0.12569330180558128"/>
          <c:w val="0.94418872912625051"/>
          <c:h val="0.75608435149749476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Iga Świątek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33"/>
              <c:layout>
                <c:manualLayout>
                  <c:x val="4.8192771084337352E-2"/>
                  <c:y val="-7.5082820628683281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err="1"/>
                      <a:t>Pierwsza</a:t>
                    </a:r>
                    <a:r>
                      <a:rPr lang="en-US" dirty="0"/>
                      <a:t> </a:t>
                    </a:r>
                    <a:r>
                      <a:rPr lang="en-US" dirty="0" err="1"/>
                      <a:t>wygrana</a:t>
                    </a:r>
                    <a:r>
                      <a:rPr lang="en-US" dirty="0"/>
                      <a:t> Rolanda Garrosa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3830390679076763"/>
                      <c:h val="0.1125558368343775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0E4A-4E4E-B9CD-2ED98FD21E61}"/>
                </c:ext>
              </c:extLst>
            </c:dLbl>
            <c:dLbl>
              <c:idx val="53"/>
              <c:layout>
                <c:manualLayout>
                  <c:x val="-7.1396697902722656E-3"/>
                  <c:y val="-0.15311006559574636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Wygrana</a:t>
                    </a:r>
                    <a:r>
                      <a:rPr lang="en-US" sz="1197" b="0" i="0" u="none" strike="noStrike" kern="1200" baseline="0" dirty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 Rolanda </a:t>
                    </a: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Garrosa</a:t>
                    </a:r>
                    <a:endParaRPr lang="en-US" sz="1197" b="0" i="0" u="none" strike="noStrike" kern="1200" baseline="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0E4A-4E4E-B9CD-2ED98FD21E61}"/>
                </c:ext>
              </c:extLst>
            </c:dLbl>
            <c:dLbl>
              <c:idx val="65"/>
              <c:layout>
                <c:manualLayout>
                  <c:x val="-8.9245872378402494E-2"/>
                  <c:y val="-0.13249909522708814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Wygrana</a:t>
                    </a:r>
                    <a:r>
                      <a:rPr lang="en-US" sz="1197" b="0" i="0" u="none" strike="noStrike" kern="1200" baseline="0" dirty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 Rolanda </a:t>
                    </a: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Garrosa</a:t>
                    </a:r>
                    <a:endParaRPr lang="en-US" sz="1197" b="0" i="0" u="none" strike="noStrike" kern="1200" baseline="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901341147617592"/>
                      <c:h val="9.5676866353506654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0E4A-4E4E-B9CD-2ED98FD21E61}"/>
                </c:ext>
              </c:extLst>
            </c:dLbl>
            <c:dLbl>
              <c:idx val="77"/>
              <c:layout>
                <c:manualLayout>
                  <c:x val="-0.17670682730923701"/>
                  <c:y val="-0.16488776294926524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err="1"/>
                      <a:t>Kolejne</a:t>
                    </a:r>
                    <a:r>
                      <a:rPr lang="en-US" baseline="0" dirty="0"/>
                      <a:t> </a:t>
                    </a: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wygrane</a:t>
                    </a:r>
                    <a:r>
                      <a:rPr lang="en-US" sz="1197" b="0" i="0" u="none" strike="noStrike" kern="1200" baseline="0" dirty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 Rolanda </a:t>
                    </a:r>
                    <a:r>
                      <a:rPr lang="en-US" sz="1197" b="0" i="0" u="none" strike="noStrike" kern="1200" baseline="0" dirty="0" err="1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</a:rPr>
                      <a:t>Garrosa</a:t>
                    </a:r>
                    <a:endParaRPr lang="en-US" sz="1197" b="0" i="0" u="none" strike="noStrike" kern="1200" baseline="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7848886359084635"/>
                      <c:h val="9.5676866353506654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0E4A-4E4E-B9CD-2ED98FD21E61}"/>
                </c:ext>
              </c:extLst>
            </c:dLbl>
            <c:dLbl>
              <c:idx val="90"/>
              <c:layout>
                <c:manualLayout>
                  <c:x val="-7.1396697902721996E-3"/>
                  <c:y val="-0.13838794390384768"/>
                </c:manualLayout>
              </c:layout>
              <c:tx>
                <c:rich>
                  <a:bodyPr/>
                  <a:lstStyle/>
                  <a:p>
                    <a:r>
                      <a:rPr lang="en-US" dirty="0" err="1"/>
                      <a:t>Wygrana</a:t>
                    </a:r>
                    <a:r>
                      <a:rPr lang="en-US" dirty="0"/>
                      <a:t> </a:t>
                    </a:r>
                    <a:r>
                      <a:rPr lang="en-US" dirty="0" err="1"/>
                      <a:t>Wimbledonu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4A-4E4E-B9CD-2ED98FD21E61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653</c:v>
                </c:pt>
                <c:pt idx="1">
                  <c:v>1014</c:v>
                </c:pt>
                <c:pt idx="2">
                  <c:v>496</c:v>
                </c:pt>
                <c:pt idx="3">
                  <c:v>3007</c:v>
                </c:pt>
                <c:pt idx="4">
                  <c:v>3760</c:v>
                </c:pt>
                <c:pt idx="5">
                  <c:v>8328</c:v>
                </c:pt>
                <c:pt idx="6">
                  <c:v>36928</c:v>
                </c:pt>
                <c:pt idx="7">
                  <c:v>2477</c:v>
                </c:pt>
                <c:pt idx="8">
                  <c:v>6395</c:v>
                </c:pt>
                <c:pt idx="9">
                  <c:v>3673</c:v>
                </c:pt>
                <c:pt idx="10">
                  <c:v>2409</c:v>
                </c:pt>
                <c:pt idx="11">
                  <c:v>3302</c:v>
                </c:pt>
                <c:pt idx="12">
                  <c:v>16784</c:v>
                </c:pt>
                <c:pt idx="13">
                  <c:v>6414</c:v>
                </c:pt>
                <c:pt idx="14">
                  <c:v>2878</c:v>
                </c:pt>
                <c:pt idx="15">
                  <c:v>21265</c:v>
                </c:pt>
                <c:pt idx="16">
                  <c:v>10211</c:v>
                </c:pt>
                <c:pt idx="17">
                  <c:v>16548</c:v>
                </c:pt>
                <c:pt idx="18">
                  <c:v>5133</c:v>
                </c:pt>
                <c:pt idx="19">
                  <c:v>17307</c:v>
                </c:pt>
                <c:pt idx="20">
                  <c:v>2028</c:v>
                </c:pt>
                <c:pt idx="21">
                  <c:v>935</c:v>
                </c:pt>
                <c:pt idx="22">
                  <c:v>1242</c:v>
                </c:pt>
                <c:pt idx="23">
                  <c:v>874</c:v>
                </c:pt>
                <c:pt idx="24">
                  <c:v>14186</c:v>
                </c:pt>
                <c:pt idx="25">
                  <c:v>3070</c:v>
                </c:pt>
                <c:pt idx="26">
                  <c:v>893</c:v>
                </c:pt>
                <c:pt idx="27">
                  <c:v>1805</c:v>
                </c:pt>
                <c:pt idx="28">
                  <c:v>1251</c:v>
                </c:pt>
                <c:pt idx="29">
                  <c:v>1693</c:v>
                </c:pt>
                <c:pt idx="30">
                  <c:v>1202</c:v>
                </c:pt>
                <c:pt idx="31">
                  <c:v>2605</c:v>
                </c:pt>
                <c:pt idx="32">
                  <c:v>7774</c:v>
                </c:pt>
                <c:pt idx="33">
                  <c:v>572375</c:v>
                </c:pt>
                <c:pt idx="34">
                  <c:v>17233</c:v>
                </c:pt>
                <c:pt idx="35">
                  <c:v>11320</c:v>
                </c:pt>
                <c:pt idx="36">
                  <c:v>23791</c:v>
                </c:pt>
                <c:pt idx="37">
                  <c:v>67800</c:v>
                </c:pt>
                <c:pt idx="38">
                  <c:v>27164</c:v>
                </c:pt>
                <c:pt idx="39">
                  <c:v>15187</c:v>
                </c:pt>
                <c:pt idx="40">
                  <c:v>54552</c:v>
                </c:pt>
                <c:pt idx="41">
                  <c:v>75102</c:v>
                </c:pt>
                <c:pt idx="42">
                  <c:v>42576</c:v>
                </c:pt>
                <c:pt idx="43">
                  <c:v>7114</c:v>
                </c:pt>
                <c:pt idx="44">
                  <c:v>17297</c:v>
                </c:pt>
                <c:pt idx="45">
                  <c:v>7917</c:v>
                </c:pt>
                <c:pt idx="46">
                  <c:v>9354</c:v>
                </c:pt>
                <c:pt idx="47">
                  <c:v>6321</c:v>
                </c:pt>
                <c:pt idx="48">
                  <c:v>66418</c:v>
                </c:pt>
                <c:pt idx="49">
                  <c:v>21482</c:v>
                </c:pt>
                <c:pt idx="50">
                  <c:v>78025</c:v>
                </c:pt>
                <c:pt idx="51">
                  <c:v>120751</c:v>
                </c:pt>
                <c:pt idx="52">
                  <c:v>102025</c:v>
                </c:pt>
                <c:pt idx="53">
                  <c:v>251771</c:v>
                </c:pt>
                <c:pt idx="54">
                  <c:v>37087</c:v>
                </c:pt>
                <c:pt idx="55">
                  <c:v>15795</c:v>
                </c:pt>
                <c:pt idx="56">
                  <c:v>155521</c:v>
                </c:pt>
                <c:pt idx="57">
                  <c:v>38265</c:v>
                </c:pt>
                <c:pt idx="58">
                  <c:v>24337</c:v>
                </c:pt>
                <c:pt idx="59">
                  <c:v>14462</c:v>
                </c:pt>
                <c:pt idx="60">
                  <c:v>88435</c:v>
                </c:pt>
                <c:pt idx="61">
                  <c:v>51815</c:v>
                </c:pt>
                <c:pt idx="62">
                  <c:v>29360</c:v>
                </c:pt>
                <c:pt idx="63">
                  <c:v>36341</c:v>
                </c:pt>
                <c:pt idx="64">
                  <c:v>62509</c:v>
                </c:pt>
                <c:pt idx="65">
                  <c:v>270738</c:v>
                </c:pt>
                <c:pt idx="66">
                  <c:v>125497</c:v>
                </c:pt>
                <c:pt idx="67">
                  <c:v>49908</c:v>
                </c:pt>
                <c:pt idx="68">
                  <c:v>40639</c:v>
                </c:pt>
                <c:pt idx="69">
                  <c:v>32484</c:v>
                </c:pt>
                <c:pt idx="70">
                  <c:v>77202</c:v>
                </c:pt>
                <c:pt idx="71">
                  <c:v>20296</c:v>
                </c:pt>
                <c:pt idx="72">
                  <c:v>87152</c:v>
                </c:pt>
                <c:pt idx="73">
                  <c:v>58812</c:v>
                </c:pt>
                <c:pt idx="74">
                  <c:v>77396</c:v>
                </c:pt>
                <c:pt idx="75">
                  <c:v>48437</c:v>
                </c:pt>
                <c:pt idx="76">
                  <c:v>175038</c:v>
                </c:pt>
                <c:pt idx="77">
                  <c:v>240368</c:v>
                </c:pt>
                <c:pt idx="78">
                  <c:v>97073</c:v>
                </c:pt>
                <c:pt idx="79">
                  <c:v>118940</c:v>
                </c:pt>
                <c:pt idx="80">
                  <c:v>40517</c:v>
                </c:pt>
                <c:pt idx="81">
                  <c:v>23714</c:v>
                </c:pt>
                <c:pt idx="82">
                  <c:v>27422</c:v>
                </c:pt>
                <c:pt idx="83">
                  <c:v>15316</c:v>
                </c:pt>
                <c:pt idx="84">
                  <c:v>88222</c:v>
                </c:pt>
                <c:pt idx="85">
                  <c:v>28762</c:v>
                </c:pt>
                <c:pt idx="86">
                  <c:v>28445</c:v>
                </c:pt>
                <c:pt idx="87">
                  <c:v>17945</c:v>
                </c:pt>
                <c:pt idx="88">
                  <c:v>29504</c:v>
                </c:pt>
                <c:pt idx="89">
                  <c:v>59003</c:v>
                </c:pt>
                <c:pt idx="90">
                  <c:v>370899</c:v>
                </c:pt>
                <c:pt idx="91">
                  <c:v>88578</c:v>
                </c:pt>
                <c:pt idx="92">
                  <c:v>69044</c:v>
                </c:pt>
                <c:pt idx="93">
                  <c:v>22683</c:v>
                </c:pt>
                <c:pt idx="94">
                  <c:v>25858</c:v>
                </c:pt>
                <c:pt idx="95">
                  <c:v>14753</c:v>
                </c:pt>
                <c:pt idx="96">
                  <c:v>70226</c:v>
                </c:pt>
                <c:pt idx="97">
                  <c:v>27615</c:v>
                </c:pt>
                <c:pt idx="98">
                  <c:v>27910</c:v>
                </c:pt>
                <c:pt idx="99">
                  <c:v>21060</c:v>
                </c:pt>
                <c:pt idx="100">
                  <c:v>50230</c:v>
                </c:pt>
                <c:pt idx="101">
                  <c:v>139857</c:v>
                </c:pt>
                <c:pt idx="102">
                  <c:v>31837</c:v>
                </c:pt>
                <c:pt idx="103">
                  <c:v>48439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pl-PL" sz="1800" baseline="0" dirty="0" err="1">
                <a:solidFill>
                  <a:schemeClr val="tx1"/>
                </a:solidFill>
              </a:rPr>
              <a:t>Freddie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baseline="0" dirty="0" err="1">
                <a:solidFill>
                  <a:schemeClr val="tx1"/>
                </a:solidFill>
              </a:rPr>
              <a:t>Mercury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dirty="0">
                <a:solidFill>
                  <a:schemeClr val="tx1"/>
                </a:solidFill>
              </a:rPr>
              <a:t>[tys.]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5465320444964783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9579239443601174"/>
          <c:w val="0.94418872912625051"/>
          <c:h val="0.69323897573910265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Freddie Mercury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1.0645526866962735E-2"/>
                  <c:y val="7.880334738418390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Premiera filmu Bohemian Rapsody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FE-4D5B-A63F-93FE995277E8}"/>
                </c:ext>
              </c:extLst>
            </c:dLbl>
            <c:dLbl>
              <c:idx val="46"/>
              <c:layout>
                <c:manualLayout>
                  <c:x val="1.4194035822617088E-2"/>
                  <c:y val="-1.16745699828420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30-ta </a:t>
                    </a:r>
                    <a:r>
                      <a:rPr lang="en-US" dirty="0" err="1"/>
                      <a:t>rocznica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śmierci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FE-4D5B-A63F-93FE995277E8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32919</c:v>
                </c:pt>
                <c:pt idx="1">
                  <c:v>25397</c:v>
                </c:pt>
                <c:pt idx="2">
                  <c:v>28423</c:v>
                </c:pt>
                <c:pt idx="3">
                  <c:v>30273</c:v>
                </c:pt>
                <c:pt idx="4">
                  <c:v>37553</c:v>
                </c:pt>
                <c:pt idx="5">
                  <c:v>25038</c:v>
                </c:pt>
                <c:pt idx="6">
                  <c:v>44352</c:v>
                </c:pt>
                <c:pt idx="7">
                  <c:v>30343</c:v>
                </c:pt>
                <c:pt idx="8">
                  <c:v>37061</c:v>
                </c:pt>
                <c:pt idx="9">
                  <c:v>78271</c:v>
                </c:pt>
                <c:pt idx="10">
                  <c:v>449113</c:v>
                </c:pt>
                <c:pt idx="11">
                  <c:v>211198</c:v>
                </c:pt>
                <c:pt idx="12">
                  <c:v>194916</c:v>
                </c:pt>
                <c:pt idx="13">
                  <c:v>214954</c:v>
                </c:pt>
                <c:pt idx="14">
                  <c:v>165365</c:v>
                </c:pt>
                <c:pt idx="15">
                  <c:v>75085</c:v>
                </c:pt>
                <c:pt idx="16">
                  <c:v>58533</c:v>
                </c:pt>
                <c:pt idx="17">
                  <c:v>50277</c:v>
                </c:pt>
                <c:pt idx="18">
                  <c:v>52872</c:v>
                </c:pt>
                <c:pt idx="19">
                  <c:v>45240</c:v>
                </c:pt>
                <c:pt idx="20">
                  <c:v>131260</c:v>
                </c:pt>
                <c:pt idx="21">
                  <c:v>85430</c:v>
                </c:pt>
                <c:pt idx="22">
                  <c:v>87686</c:v>
                </c:pt>
                <c:pt idx="23">
                  <c:v>67782</c:v>
                </c:pt>
                <c:pt idx="24">
                  <c:v>52818</c:v>
                </c:pt>
                <c:pt idx="25">
                  <c:v>44863</c:v>
                </c:pt>
                <c:pt idx="26">
                  <c:v>51769</c:v>
                </c:pt>
                <c:pt idx="27">
                  <c:v>50207</c:v>
                </c:pt>
                <c:pt idx="28">
                  <c:v>43144</c:v>
                </c:pt>
                <c:pt idx="29">
                  <c:v>37022</c:v>
                </c:pt>
                <c:pt idx="30">
                  <c:v>30423</c:v>
                </c:pt>
                <c:pt idx="31">
                  <c:v>32078</c:v>
                </c:pt>
                <c:pt idx="32">
                  <c:v>36980</c:v>
                </c:pt>
                <c:pt idx="33">
                  <c:v>33182</c:v>
                </c:pt>
                <c:pt idx="34">
                  <c:v>48119</c:v>
                </c:pt>
                <c:pt idx="35">
                  <c:v>44213</c:v>
                </c:pt>
                <c:pt idx="36">
                  <c:v>51776</c:v>
                </c:pt>
                <c:pt idx="37">
                  <c:v>34205</c:v>
                </c:pt>
                <c:pt idx="38">
                  <c:v>39312</c:v>
                </c:pt>
                <c:pt idx="39">
                  <c:v>37064</c:v>
                </c:pt>
                <c:pt idx="40">
                  <c:v>40983</c:v>
                </c:pt>
                <c:pt idx="41">
                  <c:v>28222</c:v>
                </c:pt>
                <c:pt idx="42">
                  <c:v>28539</c:v>
                </c:pt>
                <c:pt idx="43">
                  <c:v>29883</c:v>
                </c:pt>
                <c:pt idx="44">
                  <c:v>149854</c:v>
                </c:pt>
                <c:pt idx="45">
                  <c:v>93633</c:v>
                </c:pt>
                <c:pt idx="46">
                  <c:v>267298</c:v>
                </c:pt>
                <c:pt idx="47">
                  <c:v>95078</c:v>
                </c:pt>
                <c:pt idx="48">
                  <c:v>89223</c:v>
                </c:pt>
                <c:pt idx="49">
                  <c:v>44844</c:v>
                </c:pt>
                <c:pt idx="50">
                  <c:v>25220</c:v>
                </c:pt>
                <c:pt idx="51">
                  <c:v>30878</c:v>
                </c:pt>
                <c:pt idx="52">
                  <c:v>85157</c:v>
                </c:pt>
                <c:pt idx="53">
                  <c:v>33930</c:v>
                </c:pt>
                <c:pt idx="54">
                  <c:v>40443</c:v>
                </c:pt>
                <c:pt idx="55">
                  <c:v>24178</c:v>
                </c:pt>
                <c:pt idx="56">
                  <c:v>23694</c:v>
                </c:pt>
                <c:pt idx="57">
                  <c:v>24345</c:v>
                </c:pt>
                <c:pt idx="58">
                  <c:v>31850</c:v>
                </c:pt>
                <c:pt idx="59">
                  <c:v>23008</c:v>
                </c:pt>
                <c:pt idx="60">
                  <c:v>47372</c:v>
                </c:pt>
                <c:pt idx="61">
                  <c:v>25496</c:v>
                </c:pt>
                <c:pt idx="62">
                  <c:v>29122</c:v>
                </c:pt>
                <c:pt idx="63">
                  <c:v>29761</c:v>
                </c:pt>
                <c:pt idx="64">
                  <c:v>100721</c:v>
                </c:pt>
                <c:pt idx="65">
                  <c:v>26820</c:v>
                </c:pt>
                <c:pt idx="66">
                  <c:v>36048</c:v>
                </c:pt>
                <c:pt idx="67">
                  <c:v>34590</c:v>
                </c:pt>
                <c:pt idx="68">
                  <c:v>41269</c:v>
                </c:pt>
                <c:pt idx="69">
                  <c:v>25151</c:v>
                </c:pt>
                <c:pt idx="70">
                  <c:v>73888</c:v>
                </c:pt>
                <c:pt idx="71">
                  <c:v>36627</c:v>
                </c:pt>
                <c:pt idx="72">
                  <c:v>39646</c:v>
                </c:pt>
                <c:pt idx="73">
                  <c:v>22182</c:v>
                </c:pt>
                <c:pt idx="74">
                  <c:v>23681</c:v>
                </c:pt>
                <c:pt idx="75">
                  <c:v>77313</c:v>
                </c:pt>
                <c:pt idx="76">
                  <c:v>22061</c:v>
                </c:pt>
                <c:pt idx="77">
                  <c:v>19112</c:v>
                </c:pt>
                <c:pt idx="78">
                  <c:v>16485</c:v>
                </c:pt>
                <c:pt idx="79">
                  <c:v>18593</c:v>
                </c:pt>
                <c:pt idx="80">
                  <c:v>22637</c:v>
                </c:pt>
                <c:pt idx="81">
                  <c:v>19053</c:v>
                </c:pt>
                <c:pt idx="82">
                  <c:v>26886</c:v>
                </c:pt>
                <c:pt idx="83">
                  <c:v>23867</c:v>
                </c:pt>
                <c:pt idx="84">
                  <c:v>23190</c:v>
                </c:pt>
                <c:pt idx="85">
                  <c:v>28138</c:v>
                </c:pt>
                <c:pt idx="86">
                  <c:v>60700</c:v>
                </c:pt>
                <c:pt idx="87">
                  <c:v>19013</c:v>
                </c:pt>
                <c:pt idx="88">
                  <c:v>14599</c:v>
                </c:pt>
                <c:pt idx="89">
                  <c:v>15262</c:v>
                </c:pt>
                <c:pt idx="90">
                  <c:v>18648</c:v>
                </c:pt>
                <c:pt idx="91">
                  <c:v>16869</c:v>
                </c:pt>
                <c:pt idx="92">
                  <c:v>22743</c:v>
                </c:pt>
                <c:pt idx="93">
                  <c:v>22633</c:v>
                </c:pt>
                <c:pt idx="94">
                  <c:v>22206</c:v>
                </c:pt>
                <c:pt idx="95">
                  <c:v>22621</c:v>
                </c:pt>
                <c:pt idx="96">
                  <c:v>19715</c:v>
                </c:pt>
                <c:pt idx="97">
                  <c:v>13823</c:v>
                </c:pt>
                <c:pt idx="98">
                  <c:v>44827</c:v>
                </c:pt>
                <c:pt idx="99">
                  <c:v>14635</c:v>
                </c:pt>
                <c:pt idx="100">
                  <c:v>20408</c:v>
                </c:pt>
                <c:pt idx="101">
                  <c:v>18121</c:v>
                </c:pt>
                <c:pt idx="102">
                  <c:v>14827</c:v>
                </c:pt>
                <c:pt idx="103">
                  <c:v>20686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 </a:t>
            </a:r>
            <a:r>
              <a:rPr lang="pl-PL" sz="1800" dirty="0">
                <a:solidFill>
                  <a:schemeClr val="tx1"/>
                </a:solidFill>
              </a:rPr>
              <a:t>Republika Zielonego Przylądka oraz Curaçao [tys.]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8313502485770299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9282223536522569"/>
          <c:w val="0.94418872912625051"/>
          <c:h val="0.69326471047150895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Republika Zielonego Przylądka</c:v>
                </c:pt>
              </c:strCache>
            </c:strRef>
          </c:tx>
          <c:spPr>
            <a:ln w="254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22551</c:v>
                </c:pt>
                <c:pt idx="1">
                  <c:v>20088</c:v>
                </c:pt>
                <c:pt idx="2">
                  <c:v>18648</c:v>
                </c:pt>
                <c:pt idx="3">
                  <c:v>15304</c:v>
                </c:pt>
                <c:pt idx="4">
                  <c:v>16017</c:v>
                </c:pt>
                <c:pt idx="5">
                  <c:v>20793</c:v>
                </c:pt>
                <c:pt idx="6">
                  <c:v>24073</c:v>
                </c:pt>
                <c:pt idx="7">
                  <c:v>20587</c:v>
                </c:pt>
                <c:pt idx="8">
                  <c:v>21821</c:v>
                </c:pt>
                <c:pt idx="9">
                  <c:v>20866</c:v>
                </c:pt>
                <c:pt idx="10">
                  <c:v>20681</c:v>
                </c:pt>
                <c:pt idx="11">
                  <c:v>20276</c:v>
                </c:pt>
                <c:pt idx="12">
                  <c:v>22216</c:v>
                </c:pt>
                <c:pt idx="13">
                  <c:v>20603</c:v>
                </c:pt>
                <c:pt idx="14">
                  <c:v>19292</c:v>
                </c:pt>
                <c:pt idx="15">
                  <c:v>11804</c:v>
                </c:pt>
                <c:pt idx="16">
                  <c:v>12443</c:v>
                </c:pt>
                <c:pt idx="17">
                  <c:v>15614</c:v>
                </c:pt>
                <c:pt idx="18">
                  <c:v>18295</c:v>
                </c:pt>
                <c:pt idx="19">
                  <c:v>34271</c:v>
                </c:pt>
                <c:pt idx="20">
                  <c:v>32728</c:v>
                </c:pt>
                <c:pt idx="21">
                  <c:v>16496</c:v>
                </c:pt>
                <c:pt idx="22">
                  <c:v>15918</c:v>
                </c:pt>
                <c:pt idx="23">
                  <c:v>14647</c:v>
                </c:pt>
                <c:pt idx="24">
                  <c:v>18428</c:v>
                </c:pt>
                <c:pt idx="25">
                  <c:v>13301</c:v>
                </c:pt>
                <c:pt idx="26">
                  <c:v>10989</c:v>
                </c:pt>
                <c:pt idx="27">
                  <c:v>7888</c:v>
                </c:pt>
                <c:pt idx="28">
                  <c:v>7726</c:v>
                </c:pt>
                <c:pt idx="29">
                  <c:v>5652</c:v>
                </c:pt>
                <c:pt idx="30">
                  <c:v>7029</c:v>
                </c:pt>
                <c:pt idx="31">
                  <c:v>6579</c:v>
                </c:pt>
                <c:pt idx="32">
                  <c:v>6880</c:v>
                </c:pt>
                <c:pt idx="33">
                  <c:v>6468</c:v>
                </c:pt>
                <c:pt idx="34">
                  <c:v>7657</c:v>
                </c:pt>
                <c:pt idx="35">
                  <c:v>8879</c:v>
                </c:pt>
                <c:pt idx="36">
                  <c:v>14813</c:v>
                </c:pt>
                <c:pt idx="37">
                  <c:v>10721</c:v>
                </c:pt>
                <c:pt idx="38">
                  <c:v>15336</c:v>
                </c:pt>
                <c:pt idx="39">
                  <c:v>15873</c:v>
                </c:pt>
                <c:pt idx="40">
                  <c:v>13452</c:v>
                </c:pt>
                <c:pt idx="41">
                  <c:v>18018</c:v>
                </c:pt>
                <c:pt idx="42">
                  <c:v>18029</c:v>
                </c:pt>
                <c:pt idx="43">
                  <c:v>17484</c:v>
                </c:pt>
                <c:pt idx="44">
                  <c:v>18591</c:v>
                </c:pt>
                <c:pt idx="45">
                  <c:v>20359</c:v>
                </c:pt>
                <c:pt idx="46">
                  <c:v>17381</c:v>
                </c:pt>
                <c:pt idx="47">
                  <c:v>14139</c:v>
                </c:pt>
                <c:pt idx="48">
                  <c:v>21102</c:v>
                </c:pt>
                <c:pt idx="49">
                  <c:v>13575</c:v>
                </c:pt>
                <c:pt idx="50">
                  <c:v>16139</c:v>
                </c:pt>
                <c:pt idx="51">
                  <c:v>12940</c:v>
                </c:pt>
                <c:pt idx="52">
                  <c:v>12287</c:v>
                </c:pt>
                <c:pt idx="53">
                  <c:v>11969</c:v>
                </c:pt>
                <c:pt idx="54">
                  <c:v>15070</c:v>
                </c:pt>
                <c:pt idx="55">
                  <c:v>14212</c:v>
                </c:pt>
                <c:pt idx="56">
                  <c:v>12952</c:v>
                </c:pt>
                <c:pt idx="57">
                  <c:v>13750</c:v>
                </c:pt>
                <c:pt idx="58">
                  <c:v>15068</c:v>
                </c:pt>
                <c:pt idx="59">
                  <c:v>16377</c:v>
                </c:pt>
                <c:pt idx="60">
                  <c:v>20988</c:v>
                </c:pt>
                <c:pt idx="61">
                  <c:v>16314</c:v>
                </c:pt>
                <c:pt idx="62">
                  <c:v>16029</c:v>
                </c:pt>
                <c:pt idx="63">
                  <c:v>15490</c:v>
                </c:pt>
                <c:pt idx="64">
                  <c:v>16950</c:v>
                </c:pt>
                <c:pt idx="65">
                  <c:v>16184</c:v>
                </c:pt>
                <c:pt idx="66">
                  <c:v>16749</c:v>
                </c:pt>
                <c:pt idx="67">
                  <c:v>19702</c:v>
                </c:pt>
                <c:pt idx="68">
                  <c:v>18341</c:v>
                </c:pt>
                <c:pt idx="69">
                  <c:v>20925</c:v>
                </c:pt>
                <c:pt idx="70">
                  <c:v>22426</c:v>
                </c:pt>
                <c:pt idx="71">
                  <c:v>24749</c:v>
                </c:pt>
                <c:pt idx="72">
                  <c:v>36474</c:v>
                </c:pt>
                <c:pt idx="73">
                  <c:v>26349</c:v>
                </c:pt>
                <c:pt idx="74">
                  <c:v>23087</c:v>
                </c:pt>
                <c:pt idx="75">
                  <c:v>19485</c:v>
                </c:pt>
                <c:pt idx="76">
                  <c:v>18349</c:v>
                </c:pt>
                <c:pt idx="77">
                  <c:v>15729</c:v>
                </c:pt>
                <c:pt idx="78">
                  <c:v>20903</c:v>
                </c:pt>
                <c:pt idx="79">
                  <c:v>18287</c:v>
                </c:pt>
                <c:pt idx="80">
                  <c:v>19081</c:v>
                </c:pt>
                <c:pt idx="81">
                  <c:v>20806</c:v>
                </c:pt>
                <c:pt idx="82">
                  <c:v>23368</c:v>
                </c:pt>
                <c:pt idx="83">
                  <c:v>24771</c:v>
                </c:pt>
                <c:pt idx="84">
                  <c:v>29250</c:v>
                </c:pt>
                <c:pt idx="85">
                  <c:v>24407</c:v>
                </c:pt>
                <c:pt idx="86">
                  <c:v>26287</c:v>
                </c:pt>
                <c:pt idx="87">
                  <c:v>18755</c:v>
                </c:pt>
                <c:pt idx="88">
                  <c:v>17160</c:v>
                </c:pt>
                <c:pt idx="89">
                  <c:v>18956</c:v>
                </c:pt>
                <c:pt idx="90">
                  <c:v>22533</c:v>
                </c:pt>
                <c:pt idx="91">
                  <c:v>26900</c:v>
                </c:pt>
                <c:pt idx="92">
                  <c:v>31540</c:v>
                </c:pt>
                <c:pt idx="93">
                  <c:v>42687</c:v>
                </c:pt>
                <c:pt idx="94">
                  <c:v>27507</c:v>
                </c:pt>
                <c:pt idx="95">
                  <c:v>25250</c:v>
                </c:pt>
                <c:pt idx="96">
                  <c:v>28459</c:v>
                </c:pt>
                <c:pt idx="97">
                  <c:v>23050</c:v>
                </c:pt>
                <c:pt idx="98">
                  <c:v>23760</c:v>
                </c:pt>
                <c:pt idx="99">
                  <c:v>21524</c:v>
                </c:pt>
                <c:pt idx="100">
                  <c:v>24934</c:v>
                </c:pt>
                <c:pt idx="101">
                  <c:v>338510</c:v>
                </c:pt>
                <c:pt idx="102">
                  <c:v>176331</c:v>
                </c:pt>
                <c:pt idx="103">
                  <c:v>19500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Curaçao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Arkusz1!$C$2:$C$105</c:f>
              <c:numCache>
                <c:formatCode>General</c:formatCode>
                <c:ptCount val="104"/>
                <c:pt idx="0">
                  <c:v>4960</c:v>
                </c:pt>
                <c:pt idx="1">
                  <c:v>4015</c:v>
                </c:pt>
                <c:pt idx="2">
                  <c:v>6474</c:v>
                </c:pt>
                <c:pt idx="3">
                  <c:v>4131</c:v>
                </c:pt>
                <c:pt idx="4">
                  <c:v>4209</c:v>
                </c:pt>
                <c:pt idx="5">
                  <c:v>4919</c:v>
                </c:pt>
                <c:pt idx="6">
                  <c:v>5130</c:v>
                </c:pt>
                <c:pt idx="7">
                  <c:v>5424</c:v>
                </c:pt>
                <c:pt idx="8">
                  <c:v>4967</c:v>
                </c:pt>
                <c:pt idx="9">
                  <c:v>4789</c:v>
                </c:pt>
                <c:pt idx="10">
                  <c:v>5160</c:v>
                </c:pt>
                <c:pt idx="11">
                  <c:v>5804</c:v>
                </c:pt>
                <c:pt idx="12">
                  <c:v>6412</c:v>
                </c:pt>
                <c:pt idx="13">
                  <c:v>5483</c:v>
                </c:pt>
                <c:pt idx="14">
                  <c:v>5347</c:v>
                </c:pt>
                <c:pt idx="15">
                  <c:v>3877</c:v>
                </c:pt>
                <c:pt idx="16">
                  <c:v>4447</c:v>
                </c:pt>
                <c:pt idx="17">
                  <c:v>7604</c:v>
                </c:pt>
                <c:pt idx="18">
                  <c:v>5939</c:v>
                </c:pt>
                <c:pt idx="19">
                  <c:v>5042</c:v>
                </c:pt>
                <c:pt idx="20">
                  <c:v>6801</c:v>
                </c:pt>
                <c:pt idx="21">
                  <c:v>6864</c:v>
                </c:pt>
                <c:pt idx="22">
                  <c:v>5952</c:v>
                </c:pt>
                <c:pt idx="23">
                  <c:v>5743</c:v>
                </c:pt>
                <c:pt idx="24">
                  <c:v>11412</c:v>
                </c:pt>
                <c:pt idx="25">
                  <c:v>5938</c:v>
                </c:pt>
                <c:pt idx="26">
                  <c:v>6179</c:v>
                </c:pt>
                <c:pt idx="27">
                  <c:v>7535</c:v>
                </c:pt>
                <c:pt idx="28">
                  <c:v>4814</c:v>
                </c:pt>
                <c:pt idx="29">
                  <c:v>4120</c:v>
                </c:pt>
                <c:pt idx="30">
                  <c:v>4437</c:v>
                </c:pt>
                <c:pt idx="31">
                  <c:v>4986</c:v>
                </c:pt>
                <c:pt idx="32">
                  <c:v>5141</c:v>
                </c:pt>
                <c:pt idx="33">
                  <c:v>5343</c:v>
                </c:pt>
                <c:pt idx="34">
                  <c:v>5062</c:v>
                </c:pt>
                <c:pt idx="35">
                  <c:v>5273</c:v>
                </c:pt>
                <c:pt idx="36">
                  <c:v>5441</c:v>
                </c:pt>
                <c:pt idx="37">
                  <c:v>4138</c:v>
                </c:pt>
                <c:pt idx="38">
                  <c:v>6732</c:v>
                </c:pt>
                <c:pt idx="39">
                  <c:v>7821</c:v>
                </c:pt>
                <c:pt idx="40">
                  <c:v>6303</c:v>
                </c:pt>
                <c:pt idx="41">
                  <c:v>7504</c:v>
                </c:pt>
                <c:pt idx="42">
                  <c:v>6409</c:v>
                </c:pt>
                <c:pt idx="43">
                  <c:v>5988</c:v>
                </c:pt>
                <c:pt idx="44">
                  <c:v>5574</c:v>
                </c:pt>
                <c:pt idx="45">
                  <c:v>6041</c:v>
                </c:pt>
                <c:pt idx="46">
                  <c:v>5295</c:v>
                </c:pt>
                <c:pt idx="47">
                  <c:v>5387</c:v>
                </c:pt>
                <c:pt idx="48">
                  <c:v>5831</c:v>
                </c:pt>
                <c:pt idx="49">
                  <c:v>4844</c:v>
                </c:pt>
                <c:pt idx="50">
                  <c:v>5654</c:v>
                </c:pt>
                <c:pt idx="51">
                  <c:v>5115</c:v>
                </c:pt>
                <c:pt idx="52">
                  <c:v>4868</c:v>
                </c:pt>
                <c:pt idx="53">
                  <c:v>6929</c:v>
                </c:pt>
                <c:pt idx="54">
                  <c:v>6460</c:v>
                </c:pt>
                <c:pt idx="55">
                  <c:v>5523</c:v>
                </c:pt>
                <c:pt idx="56">
                  <c:v>5545</c:v>
                </c:pt>
                <c:pt idx="57">
                  <c:v>4835</c:v>
                </c:pt>
                <c:pt idx="58">
                  <c:v>6508</c:v>
                </c:pt>
                <c:pt idx="59">
                  <c:v>6668</c:v>
                </c:pt>
                <c:pt idx="60">
                  <c:v>6183</c:v>
                </c:pt>
                <c:pt idx="61">
                  <c:v>6594</c:v>
                </c:pt>
                <c:pt idx="62">
                  <c:v>10725</c:v>
                </c:pt>
                <c:pt idx="63">
                  <c:v>5583</c:v>
                </c:pt>
                <c:pt idx="64">
                  <c:v>5670</c:v>
                </c:pt>
                <c:pt idx="65">
                  <c:v>5919</c:v>
                </c:pt>
                <c:pt idx="66">
                  <c:v>7305</c:v>
                </c:pt>
                <c:pt idx="67">
                  <c:v>6385</c:v>
                </c:pt>
                <c:pt idx="68">
                  <c:v>5432</c:v>
                </c:pt>
                <c:pt idx="69">
                  <c:v>5156</c:v>
                </c:pt>
                <c:pt idx="70">
                  <c:v>5927</c:v>
                </c:pt>
                <c:pt idx="71">
                  <c:v>6007</c:v>
                </c:pt>
                <c:pt idx="72">
                  <c:v>6957</c:v>
                </c:pt>
                <c:pt idx="73">
                  <c:v>5917</c:v>
                </c:pt>
                <c:pt idx="74">
                  <c:v>5922</c:v>
                </c:pt>
                <c:pt idx="75">
                  <c:v>5516</c:v>
                </c:pt>
                <c:pt idx="76">
                  <c:v>4974</c:v>
                </c:pt>
                <c:pt idx="77">
                  <c:v>5967</c:v>
                </c:pt>
                <c:pt idx="78">
                  <c:v>9441</c:v>
                </c:pt>
                <c:pt idx="79">
                  <c:v>6516</c:v>
                </c:pt>
                <c:pt idx="80">
                  <c:v>4786</c:v>
                </c:pt>
                <c:pt idx="81">
                  <c:v>4976</c:v>
                </c:pt>
                <c:pt idx="82">
                  <c:v>5073</c:v>
                </c:pt>
                <c:pt idx="83">
                  <c:v>7020</c:v>
                </c:pt>
                <c:pt idx="84">
                  <c:v>7384</c:v>
                </c:pt>
                <c:pt idx="85">
                  <c:v>5723</c:v>
                </c:pt>
                <c:pt idx="86">
                  <c:v>5627</c:v>
                </c:pt>
                <c:pt idx="87">
                  <c:v>5559</c:v>
                </c:pt>
                <c:pt idx="88">
                  <c:v>3798</c:v>
                </c:pt>
                <c:pt idx="89">
                  <c:v>8780</c:v>
                </c:pt>
                <c:pt idx="90">
                  <c:v>7324</c:v>
                </c:pt>
                <c:pt idx="91">
                  <c:v>6670</c:v>
                </c:pt>
                <c:pt idx="92">
                  <c:v>6034</c:v>
                </c:pt>
                <c:pt idx="93">
                  <c:v>13600</c:v>
                </c:pt>
                <c:pt idx="94">
                  <c:v>53420</c:v>
                </c:pt>
                <c:pt idx="95">
                  <c:v>20560</c:v>
                </c:pt>
                <c:pt idx="96">
                  <c:v>10172</c:v>
                </c:pt>
                <c:pt idx="97">
                  <c:v>7314</c:v>
                </c:pt>
                <c:pt idx="98">
                  <c:v>11119</c:v>
                </c:pt>
                <c:pt idx="99">
                  <c:v>18778</c:v>
                </c:pt>
                <c:pt idx="100">
                  <c:v>19030</c:v>
                </c:pt>
                <c:pt idx="101">
                  <c:v>703315</c:v>
                </c:pt>
                <c:pt idx="102">
                  <c:v>24281</c:v>
                </c:pt>
                <c:pt idx="103">
                  <c:v>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Przedłużanie życia </a:t>
            </a:r>
            <a:r>
              <a:rPr lang="pl-PL" sz="1800" dirty="0">
                <a:solidFill>
                  <a:schemeClr val="tx1"/>
                </a:solidFill>
              </a:rPr>
              <a:t>[mln]</a:t>
            </a:r>
            <a:endParaRPr lang="en-US" sz="180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0486937544985171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987368187743915"/>
          <c:w val="0.94418872912625051"/>
          <c:h val="0.69323897573910265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Przedłużanie życia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769</c:v>
                </c:pt>
                <c:pt idx="1">
                  <c:v>447</c:v>
                </c:pt>
                <c:pt idx="2">
                  <c:v>621</c:v>
                </c:pt>
                <c:pt idx="3">
                  <c:v>624</c:v>
                </c:pt>
                <c:pt idx="4">
                  <c:v>503</c:v>
                </c:pt>
                <c:pt idx="5">
                  <c:v>512</c:v>
                </c:pt>
                <c:pt idx="6">
                  <c:v>507</c:v>
                </c:pt>
                <c:pt idx="7">
                  <c:v>469</c:v>
                </c:pt>
                <c:pt idx="8">
                  <c:v>505</c:v>
                </c:pt>
                <c:pt idx="9">
                  <c:v>532</c:v>
                </c:pt>
                <c:pt idx="10">
                  <c:v>666</c:v>
                </c:pt>
                <c:pt idx="11">
                  <c:v>612</c:v>
                </c:pt>
                <c:pt idx="12">
                  <c:v>585</c:v>
                </c:pt>
                <c:pt idx="13">
                  <c:v>502</c:v>
                </c:pt>
                <c:pt idx="14">
                  <c:v>513</c:v>
                </c:pt>
                <c:pt idx="15">
                  <c:v>423</c:v>
                </c:pt>
                <c:pt idx="16">
                  <c:v>491</c:v>
                </c:pt>
                <c:pt idx="17">
                  <c:v>280830</c:v>
                </c:pt>
                <c:pt idx="18">
                  <c:v>2518501</c:v>
                </c:pt>
                <c:pt idx="19">
                  <c:v>569</c:v>
                </c:pt>
                <c:pt idx="20">
                  <c:v>380</c:v>
                </c:pt>
                <c:pt idx="21">
                  <c:v>758</c:v>
                </c:pt>
                <c:pt idx="22">
                  <c:v>464</c:v>
                </c:pt>
                <c:pt idx="23">
                  <c:v>404</c:v>
                </c:pt>
                <c:pt idx="24">
                  <c:v>589</c:v>
                </c:pt>
                <c:pt idx="25">
                  <c:v>455</c:v>
                </c:pt>
                <c:pt idx="26">
                  <c:v>444</c:v>
                </c:pt>
                <c:pt idx="27">
                  <c:v>535</c:v>
                </c:pt>
                <c:pt idx="28">
                  <c:v>600</c:v>
                </c:pt>
                <c:pt idx="29">
                  <c:v>427</c:v>
                </c:pt>
                <c:pt idx="30">
                  <c:v>368</c:v>
                </c:pt>
                <c:pt idx="31">
                  <c:v>331</c:v>
                </c:pt>
                <c:pt idx="32">
                  <c:v>400</c:v>
                </c:pt>
                <c:pt idx="33">
                  <c:v>483</c:v>
                </c:pt>
                <c:pt idx="34">
                  <c:v>526</c:v>
                </c:pt>
                <c:pt idx="35">
                  <c:v>536</c:v>
                </c:pt>
                <c:pt idx="36">
                  <c:v>605</c:v>
                </c:pt>
                <c:pt idx="37">
                  <c:v>523</c:v>
                </c:pt>
                <c:pt idx="38">
                  <c:v>635</c:v>
                </c:pt>
                <c:pt idx="39">
                  <c:v>610</c:v>
                </c:pt>
                <c:pt idx="40">
                  <c:v>556</c:v>
                </c:pt>
                <c:pt idx="41">
                  <c:v>530</c:v>
                </c:pt>
                <c:pt idx="42">
                  <c:v>455</c:v>
                </c:pt>
                <c:pt idx="43">
                  <c:v>375</c:v>
                </c:pt>
                <c:pt idx="44">
                  <c:v>416</c:v>
                </c:pt>
                <c:pt idx="45">
                  <c:v>532</c:v>
                </c:pt>
                <c:pt idx="46">
                  <c:v>542</c:v>
                </c:pt>
                <c:pt idx="47">
                  <c:v>553</c:v>
                </c:pt>
                <c:pt idx="48">
                  <c:v>583</c:v>
                </c:pt>
                <c:pt idx="49">
                  <c:v>403</c:v>
                </c:pt>
                <c:pt idx="50">
                  <c:v>419</c:v>
                </c:pt>
                <c:pt idx="51">
                  <c:v>366</c:v>
                </c:pt>
                <c:pt idx="52">
                  <c:v>334</c:v>
                </c:pt>
                <c:pt idx="53">
                  <c:v>283</c:v>
                </c:pt>
                <c:pt idx="54">
                  <c:v>299</c:v>
                </c:pt>
                <c:pt idx="55">
                  <c:v>310</c:v>
                </c:pt>
                <c:pt idx="56">
                  <c:v>284</c:v>
                </c:pt>
                <c:pt idx="57">
                  <c:v>364</c:v>
                </c:pt>
                <c:pt idx="58">
                  <c:v>377</c:v>
                </c:pt>
                <c:pt idx="59">
                  <c:v>325</c:v>
                </c:pt>
                <c:pt idx="60">
                  <c:v>419</c:v>
                </c:pt>
                <c:pt idx="61">
                  <c:v>298</c:v>
                </c:pt>
                <c:pt idx="62">
                  <c:v>391</c:v>
                </c:pt>
                <c:pt idx="63">
                  <c:v>352</c:v>
                </c:pt>
                <c:pt idx="64">
                  <c:v>405</c:v>
                </c:pt>
                <c:pt idx="65">
                  <c:v>346</c:v>
                </c:pt>
                <c:pt idx="66">
                  <c:v>319</c:v>
                </c:pt>
                <c:pt idx="67">
                  <c:v>346</c:v>
                </c:pt>
                <c:pt idx="68">
                  <c:v>283</c:v>
                </c:pt>
                <c:pt idx="69">
                  <c:v>260</c:v>
                </c:pt>
                <c:pt idx="70">
                  <c:v>270</c:v>
                </c:pt>
                <c:pt idx="71">
                  <c:v>223</c:v>
                </c:pt>
                <c:pt idx="72">
                  <c:v>288</c:v>
                </c:pt>
                <c:pt idx="73">
                  <c:v>247</c:v>
                </c:pt>
                <c:pt idx="74">
                  <c:v>237</c:v>
                </c:pt>
                <c:pt idx="75">
                  <c:v>267</c:v>
                </c:pt>
                <c:pt idx="76">
                  <c:v>236</c:v>
                </c:pt>
                <c:pt idx="77">
                  <c:v>220</c:v>
                </c:pt>
                <c:pt idx="78">
                  <c:v>183</c:v>
                </c:pt>
                <c:pt idx="79">
                  <c:v>237</c:v>
                </c:pt>
                <c:pt idx="80">
                  <c:v>220</c:v>
                </c:pt>
                <c:pt idx="81">
                  <c:v>240</c:v>
                </c:pt>
                <c:pt idx="82">
                  <c:v>265</c:v>
                </c:pt>
                <c:pt idx="83">
                  <c:v>202</c:v>
                </c:pt>
                <c:pt idx="84">
                  <c:v>217</c:v>
                </c:pt>
                <c:pt idx="85">
                  <c:v>162</c:v>
                </c:pt>
                <c:pt idx="86">
                  <c:v>207</c:v>
                </c:pt>
                <c:pt idx="87">
                  <c:v>169</c:v>
                </c:pt>
                <c:pt idx="88">
                  <c:v>158</c:v>
                </c:pt>
                <c:pt idx="89">
                  <c:v>150</c:v>
                </c:pt>
                <c:pt idx="90">
                  <c:v>144</c:v>
                </c:pt>
                <c:pt idx="91">
                  <c:v>134</c:v>
                </c:pt>
                <c:pt idx="92">
                  <c:v>106</c:v>
                </c:pt>
                <c:pt idx="93">
                  <c:v>120</c:v>
                </c:pt>
                <c:pt idx="94">
                  <c:v>144</c:v>
                </c:pt>
                <c:pt idx="95">
                  <c:v>167</c:v>
                </c:pt>
                <c:pt idx="96">
                  <c:v>133</c:v>
                </c:pt>
                <c:pt idx="97">
                  <c:v>96</c:v>
                </c:pt>
                <c:pt idx="98">
                  <c:v>135</c:v>
                </c:pt>
                <c:pt idx="99">
                  <c:v>101</c:v>
                </c:pt>
                <c:pt idx="100">
                  <c:v>104</c:v>
                </c:pt>
                <c:pt idx="101">
                  <c:v>101</c:v>
                </c:pt>
                <c:pt idx="102">
                  <c:v>97</c:v>
                </c:pt>
                <c:pt idx="103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3F312BC8-7CED-964C-5C2B-78003A548E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39024C0-F6FE-C279-6068-CE47CB74D4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7170D-57BC-4138-8517-84641EEC49C6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74DE053-A33E-A90D-E6F9-AFE55ACE29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8CC52E2-731A-DE1B-F690-C9CAD254B9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1BC16-D8E6-4521-92A3-4C35721D9F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99220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35C60-06B4-43D2-8FB6-7E8AA44FCC6B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5FADB-00C8-4FB2-BB50-76DE30578D9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334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dirty="0"/>
              <a:t> Dostępne są dane dotyczące wyświetleń od 2008 r, natomiast dane od 2016 roku zawierają podział na ludzi i boty. W latach 2016-17 odnotowano incydenty wzmożonego ruchu botów zaklasyfikowanych jako użytkownicy, dlatego zdecydowałem się pokazać ostatnie 8 lat.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5FADB-00C8-4FB2-BB50-76DE30578D93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839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5FADB-00C8-4FB2-BB50-76DE30578D93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367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9D3066-3F9E-7507-A82F-F90BCB3F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53957D5-0BDA-51DF-583D-5C9B92F11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BFD57A-F1C5-E83D-6994-61615151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029B45-B938-BC91-DEA6-31988BDB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9C2CB1-9F34-7292-9FAC-D1522A4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236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624C3-F21A-D57C-4779-71E4C7A0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DF078-20D2-95CF-5E14-A94DDEEC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982C61-7CAE-31F3-18B7-2DFB504B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AC59E4-A4C2-4C9E-C116-F32B8627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231EC9-AF99-43AE-4BF9-EFDF0851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086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podział 2/3 +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624C3-F21A-D57C-4779-71E4C7A0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DF078-20D2-95CF-5E14-A94DDEECB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455421"/>
            <a:ext cx="7115174" cy="4312920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C347789-C3DE-42BE-9182-991EB0BD702C}"/>
              </a:ext>
            </a:extLst>
          </p:cNvPr>
          <p:cNvSpPr/>
          <p:nvPr userDrawn="1"/>
        </p:nvSpPr>
        <p:spPr>
          <a:xfrm>
            <a:off x="8070852" y="1449704"/>
            <a:ext cx="3416299" cy="4174809"/>
          </a:xfrm>
          <a:prstGeom prst="roundRect">
            <a:avLst>
              <a:gd name="adj" fmla="val 635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982C61-7CAE-31F3-18B7-2DFB504B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AC59E4-A4C2-4C9E-C116-F32B8627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231EC9-AF99-43AE-4BF9-EFDF0851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C50A19FF-AD7D-1DC7-77BD-0F6C9DE66F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70851" y="1449704"/>
            <a:ext cx="3416299" cy="4174809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pl-PL" dirty="0"/>
              <a:t>Kliknij, aby edytować wzorzec</a:t>
            </a:r>
          </a:p>
        </p:txBody>
      </p:sp>
    </p:spTree>
    <p:extLst>
      <p:ext uri="{BB962C8B-B14F-4D97-AF65-F5344CB8AC3E}">
        <p14:creationId xmlns:p14="http://schemas.microsoft.com/office/powerpoint/2010/main" val="264196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EC914C-3EFF-FC05-C5D4-D338B73F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140809-F34E-A8C6-5D6F-B06FBB879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597F03-AA90-1517-F4C5-10CD3432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E40038-BB1E-5A52-F407-D8C946C7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FEE438-352C-D242-180C-924AF861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39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03817-2A93-FED3-FBDB-244CF85F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A88ED-75BC-0121-376D-5A3156FDF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825625"/>
            <a:ext cx="5324475" cy="435133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5CDAD63-6655-BE50-0BF2-C7E9BCC7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24475" cy="435133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612F97F-AC7D-1CC2-FECC-A8AB3817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B73069-7046-BFD7-42A1-A34F11A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DA65674-A0E6-87F0-365A-A5E3BFC7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07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313B9C-F8AD-859F-E1EB-A05D47D9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5"/>
            <a:ext cx="10660063" cy="1325563"/>
          </a:xfrm>
        </p:spPr>
        <p:txBody>
          <a:bodyPr/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C5EE98-2342-9422-2E20-B66E54842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681163"/>
            <a:ext cx="53022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17E98A2-CF8A-3D91-D593-FE5EA52B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505075"/>
            <a:ext cx="5302250" cy="368458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C9D4037-DEF4-C410-AB67-0DF9860BD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3022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3ED75DF-E629-FAE6-57CB-621947130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324474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6EEE76A-F576-EE75-073C-0395AF0F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CBA82FD-645F-7F4C-B01D-09097334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617355-7BF2-428A-3BCE-95BABBB9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864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09FE18-0AE9-7353-49BF-A33AB1E6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94EE45-BE5D-2EC2-871B-F380B772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D5EF9C5-CB98-6ACD-ED22-B016DB1C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90C3667-2BEB-9CC1-6881-1E0B3F11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97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D3E4AFA-9D77-ECD2-3537-12712237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5A8279-982E-2DEB-48C4-31346B24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1C08BCF-AC92-55DE-F2F0-11494317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601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DAC369-5338-3B1B-F146-2A8E6A93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D4C74-DF6C-153A-26B1-74788DEE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D88DD2-39C9-E478-21A7-750DEB6C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B2F165-82F3-8DF9-B941-12FB976A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5428AA0-D2A3-75DF-BC05-640CF235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900F070-C41B-84CF-22B3-B7B93832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652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F58B93-0757-98BD-CF28-F4085C4C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BD4A296-459A-9B19-E7F6-5B64707F0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BF1E3F-4369-7633-ABF3-9DCC5DAB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C1FD90B-6427-6B84-8D86-4065C19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B3725F-0963-468C-3496-C6507191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CAD953-3D47-9575-BB09-2DCFA3A8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917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4882DE-D6C2-ADAA-5CC4-9C86E558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F2EAB83-76D1-C014-BDE4-459C3BEA2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F553C6-CE96-31E2-9D0B-87F08042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984E3A-F428-9721-57D4-4DA6A60F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3202D7-522C-85FA-AF9E-E3EECD96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5716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432D806-DFEC-1939-C6F7-E41DAFDFB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926729-E8F8-36B4-561D-2BCAA84B7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8D9FD4A-C811-CC77-4EAE-26EF19E6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F210D4-8811-A5CC-BFF8-ABF352F9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9B824F-4746-C760-83D5-28C51546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327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0AEF985-C006-A2C8-FE5C-9336877C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6"/>
            <a:ext cx="10801349" cy="817632"/>
          </a:xfrm>
          <a:prstGeom prst="rect">
            <a:avLst/>
          </a:prstGeom>
        </p:spPr>
        <p:txBody>
          <a:bodyPr vert="horz" lIns="0" tIns="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A447A2-73DA-7AFC-6B1A-DA7A5A6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490871"/>
            <a:ext cx="10801349" cy="427746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F7173B-C4EA-8C34-A7C1-AA1F082E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326" y="6120352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EE27-536F-479E-B304-98213E6B58CC}" type="datetimeFigureOut">
              <a:rPr lang="pl-PL" smtClean="0"/>
              <a:t>01.11.2026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21AE16-4107-19CD-FC61-FC35B7E57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599" y="61130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F53CDD-E309-7B6A-BF3C-C65B27CD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27749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1C49296C-602D-8351-3C9D-7E5AD22125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09305" y="6066916"/>
            <a:ext cx="517187" cy="4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views.wmcloud.org/" TargetMode="External"/><Relationship Id="rId2" Type="http://schemas.openxmlformats.org/officeDocument/2006/relationships/hyperlink" Target="https://pl.wikipedia.org/wiki/Wikipedia:Liczba_artyku%C5%82%C3%B3w_w_polskoj%C4%99zycznej_Wikipedi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l.wikipedia.org/wiki/El%C5%BCbieta_II" TargetMode="External"/><Relationship Id="rId4" Type="http://schemas.openxmlformats.org/officeDocument/2006/relationships/hyperlink" Target="https://creativecommons.org/licenses/by-sa/4.0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2A08C688-2254-4D63-9CD5-1A55F8EC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2414411"/>
            <a:ext cx="5400000" cy="17812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1,7 mln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Liczba artykułów w polskiej Wikipedii [1]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1EC44DC-1882-24AB-7621-D4D838414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414411"/>
            <a:ext cx="5400675" cy="17812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27 mld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Suma wyświetleń przez użytkowników </a:t>
            </a:r>
            <a:br>
              <a:rPr lang="pl-PL" sz="1600" dirty="0">
                <a:solidFill>
                  <a:schemeClr val="tx2"/>
                </a:solidFill>
              </a:rPr>
            </a:br>
            <a:r>
              <a:rPr lang="pl-PL" sz="1600" dirty="0">
                <a:solidFill>
                  <a:schemeClr val="tx2"/>
                </a:solidFill>
              </a:rPr>
              <a:t>w ostatnich 8 latach [2]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B49EA53-37D8-077D-998A-E3927B7AA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018" y="557826"/>
            <a:ext cx="7976616" cy="1217315"/>
          </a:xfrm>
          <a:prstGeom prst="rect">
            <a:avLst/>
          </a:prstGeom>
        </p:spPr>
      </p:pic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CE723375-0C54-A455-129B-05381629C29E}"/>
              </a:ext>
            </a:extLst>
          </p:cNvPr>
          <p:cNvSpPr txBox="1">
            <a:spLocks/>
          </p:cNvSpPr>
          <p:nvPr/>
        </p:nvSpPr>
        <p:spPr>
          <a:xfrm>
            <a:off x="695325" y="4834913"/>
            <a:ext cx="10801349" cy="937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l-PL" sz="2400" dirty="0"/>
              <a:t>Przez 25 lat Wikipedia nie była tylko encyklopedią. </a:t>
            </a:r>
            <a:br>
              <a:rPr lang="pl-PL" sz="2400" dirty="0"/>
            </a:br>
            <a:r>
              <a:rPr lang="pl-PL" sz="2400" dirty="0"/>
              <a:t>Była miejscem, do którego trafialiśmy, gdy działo się coś ważnego.</a:t>
            </a:r>
          </a:p>
        </p:txBody>
      </p:sp>
    </p:spTree>
    <p:extLst>
      <p:ext uri="{BB962C8B-B14F-4D97-AF65-F5344CB8AC3E}">
        <p14:creationId xmlns:p14="http://schemas.microsoft.com/office/powerpoint/2010/main" val="23103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4">
            <a:extLst>
              <a:ext uri="{FF2B5EF4-FFF2-40B4-BE49-F238E27FC236}">
                <a16:creationId xmlns:a16="http://schemas.microsoft.com/office/drawing/2014/main" id="{6DBC4545-96B9-73B4-24E4-8DE4515B03DA}"/>
              </a:ext>
            </a:extLst>
          </p:cNvPr>
          <p:cNvSpPr txBox="1">
            <a:spLocks/>
          </p:cNvSpPr>
          <p:nvPr/>
        </p:nvSpPr>
        <p:spPr>
          <a:xfrm>
            <a:off x="695325" y="5214026"/>
            <a:ext cx="7027379" cy="81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l-PL" sz="1400" dirty="0">
                <a:solidFill>
                  <a:schemeClr val="tx2"/>
                </a:solidFill>
              </a:rPr>
              <a:t>Wśród najpopularniejszych artykułów trudno znaleźć przypadkowe tematy. Dotyczą osób, państw lub wydarzeń, które regularnie pojawiają się </a:t>
            </a:r>
            <a:br>
              <a:rPr lang="pl-PL" sz="1400" dirty="0">
                <a:solidFill>
                  <a:schemeClr val="tx2"/>
                </a:solidFill>
              </a:rPr>
            </a:br>
            <a:r>
              <a:rPr lang="pl-PL" sz="1400" dirty="0">
                <a:solidFill>
                  <a:schemeClr val="tx2"/>
                </a:solidFill>
              </a:rPr>
              <a:t>w przestrzeni publicznej. [4][5]</a:t>
            </a:r>
          </a:p>
        </p:txBody>
      </p:sp>
      <p:sp>
        <p:nvSpPr>
          <p:cNvPr id="9" name="Tytuł 8">
            <a:extLst>
              <a:ext uri="{FF2B5EF4-FFF2-40B4-BE49-F238E27FC236}">
                <a16:creationId xmlns:a16="http://schemas.microsoft.com/office/drawing/2014/main" id="{C0DEE201-5A1F-4DAA-DD16-738368DE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6"/>
            <a:ext cx="10801349" cy="817632"/>
          </a:xfrm>
        </p:spPr>
        <p:txBody>
          <a:bodyPr tIns="0">
            <a:noAutofit/>
          </a:bodyPr>
          <a:lstStyle/>
          <a:p>
            <a:r>
              <a:rPr lang="pl-PL" dirty="0"/>
              <a:t>Czego szukamy najczęściej</a:t>
            </a:r>
          </a:p>
        </p:txBody>
      </p:sp>
      <p:graphicFrame>
        <p:nvGraphicFramePr>
          <p:cNvPr id="18" name="Symbol zastępczy zawartości 17">
            <a:extLst>
              <a:ext uri="{FF2B5EF4-FFF2-40B4-BE49-F238E27FC236}">
                <a16:creationId xmlns:a16="http://schemas.microsoft.com/office/drawing/2014/main" id="{1CED35B4-95D4-37AD-597F-EADF4B8D9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254639"/>
              </p:ext>
            </p:extLst>
          </p:nvPr>
        </p:nvGraphicFramePr>
        <p:xfrm>
          <a:off x="695325" y="1820767"/>
          <a:ext cx="7027379" cy="339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Obraz 1" descr="Ilustracja">
            <a:extLst>
              <a:ext uri="{FF2B5EF4-FFF2-40B4-BE49-F238E27FC236}">
                <a16:creationId xmlns:a16="http://schemas.microsoft.com/office/drawing/2014/main" id="{442588CC-D45D-0187-38D5-7C1E4AE7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214" y="3892042"/>
            <a:ext cx="2997786" cy="1990529"/>
          </a:xfrm>
          <a:prstGeom prst="roundRect">
            <a:avLst>
              <a:gd name="adj" fmla="val 10446"/>
            </a:avLst>
          </a:prstGeom>
        </p:spPr>
      </p:pic>
      <p:pic>
        <p:nvPicPr>
          <p:cNvPr id="21" name="Obraz 20" descr="Ilustracja">
            <a:extLst>
              <a:ext uri="{FF2B5EF4-FFF2-40B4-BE49-F238E27FC236}">
                <a16:creationId xmlns:a16="http://schemas.microsoft.com/office/drawing/2014/main" id="{2AA5B949-D598-B0A1-AE1D-03766D27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325" y="1820767"/>
            <a:ext cx="2161778" cy="2879488"/>
          </a:xfrm>
          <a:prstGeom prst="roundRect">
            <a:avLst>
              <a:gd name="adj" fmla="val 10498"/>
            </a:avLst>
          </a:prstGeom>
        </p:spPr>
      </p:pic>
      <p:pic>
        <p:nvPicPr>
          <p:cNvPr id="19" name="Obraz 18" descr="Mapa opisywanego kraju">
            <a:extLst>
              <a:ext uri="{FF2B5EF4-FFF2-40B4-BE49-F238E27FC236}">
                <a16:creationId xmlns:a16="http://schemas.microsoft.com/office/drawing/2014/main" id="{619B8E3E-16F0-0004-5A2C-28B6697D9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894" y="384849"/>
            <a:ext cx="2565106" cy="2760054"/>
          </a:xfrm>
          <a:prstGeom prst="roundRect">
            <a:avLst>
              <a:gd name="adj" fmla="val 8126"/>
            </a:avLst>
          </a:prstGeom>
        </p:spPr>
      </p:pic>
    </p:spTree>
    <p:extLst>
      <p:ext uri="{BB962C8B-B14F-4D97-AF65-F5344CB8AC3E}">
        <p14:creationId xmlns:p14="http://schemas.microsoft.com/office/powerpoint/2010/main" val="68022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460EE4-EA64-CC2B-6927-2112E572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Autofit/>
          </a:bodyPr>
          <a:lstStyle/>
          <a:p>
            <a:r>
              <a:rPr lang="pl-PL" dirty="0"/>
              <a:t>Kiedy szukamy informacji</a:t>
            </a:r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CE68ED20-6441-CB02-9F64-0BE1D6B66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658393"/>
              </p:ext>
            </p:extLst>
          </p:nvPr>
        </p:nvGraphicFramePr>
        <p:xfrm>
          <a:off x="695325" y="1455738"/>
          <a:ext cx="701992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B41B7B2-346D-8428-1ECC-9E405BADCF49}"/>
              </a:ext>
            </a:extLst>
          </p:cNvPr>
          <p:cNvSpPr>
            <a:spLocks noGrp="1"/>
          </p:cNvSpPr>
          <p:nvPr>
            <p:ph idx="13"/>
          </p:nvPr>
        </p:nvSpPr>
        <p:spPr>
          <a:noFill/>
          <a:ln cap="flat">
            <a:noFill/>
          </a:ln>
          <a:effectLst>
            <a:softEdge rad="0"/>
          </a:effectLst>
        </p:spPr>
        <p:txBody>
          <a:bodyPr lIns="180000" tIns="180000" rIns="180000" bIns="180000">
            <a:normAutofit/>
          </a:bodyPr>
          <a:lstStyle/>
          <a:p>
            <a:r>
              <a:rPr lang="pl-PL" sz="1600" dirty="0">
                <a:solidFill>
                  <a:schemeClr val="tx2"/>
                </a:solidFill>
              </a:rPr>
              <a:t>Zwiększenie ruchu na stronach Wikipedii powodują </a:t>
            </a:r>
            <a:r>
              <a:rPr lang="pl-PL" sz="1600" b="1" dirty="0">
                <a:solidFill>
                  <a:schemeClr val="accent5"/>
                </a:solidFill>
                <a:latin typeface="Montserrat" pitchFamily="2" charset="-18"/>
              </a:rPr>
              <a:t>wydarzenia wywołujące różne emocje. </a:t>
            </a:r>
            <a:r>
              <a:rPr lang="pl-PL" sz="1600" dirty="0">
                <a:solidFill>
                  <a:schemeClr val="tx2"/>
                </a:solidFill>
              </a:rPr>
              <a:t>Są to zarówno tragedie – śmierć, wojna czy katastrofa, oraz pozytywne jak sukcesy sportowe.</a:t>
            </a:r>
          </a:p>
          <a:p>
            <a:r>
              <a:rPr lang="pl-PL" sz="1600" dirty="0">
                <a:solidFill>
                  <a:schemeClr val="tx2"/>
                </a:solidFill>
              </a:rPr>
              <a:t>Na wzrost wyświetleń wpływają również szeroko komentowane </a:t>
            </a:r>
            <a:r>
              <a:rPr lang="pl-PL" sz="1600" b="1" dirty="0">
                <a:solidFill>
                  <a:schemeClr val="accent2"/>
                </a:solidFill>
                <a:latin typeface="Montserrat" pitchFamily="2" charset="-18"/>
              </a:rPr>
              <a:t>doniesienia medialne oraz nowe produkcje popkultury.</a:t>
            </a:r>
          </a:p>
          <a:p>
            <a:r>
              <a:rPr lang="pl-PL" sz="1600" b="1" dirty="0">
                <a:solidFill>
                  <a:schemeClr val="tx2"/>
                </a:solidFill>
                <a:latin typeface="Montserrat" pitchFamily="2" charset="-18"/>
              </a:rPr>
              <a:t>Za każdą kategorią kryją się konkretne historie.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841B65-AF2F-A5E9-49C9-16D3F6E1F5D2}"/>
              </a:ext>
            </a:extLst>
          </p:cNvPr>
          <p:cNvSpPr txBox="1"/>
          <p:nvPr/>
        </p:nvSpPr>
        <p:spPr>
          <a:xfrm>
            <a:off x="695325" y="6251109"/>
            <a:ext cx="956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Kategorie dopasowane przez model językowy [6]</a:t>
            </a:r>
          </a:p>
        </p:txBody>
      </p:sp>
    </p:spTree>
    <p:extLst>
      <p:ext uri="{BB962C8B-B14F-4D97-AF65-F5344CB8AC3E}">
        <p14:creationId xmlns:p14="http://schemas.microsoft.com/office/powerpoint/2010/main" val="373599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5D46-B436-0687-F0BE-76004710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D4BB3-9918-D94B-07CC-A46844FE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Elżbieta II – śmierć i wesele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AEDA1524-37FE-05DD-A0C6-B5A1DD4D5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790411"/>
              </p:ext>
            </p:extLst>
          </p:nvPr>
        </p:nvGraphicFramePr>
        <p:xfrm>
          <a:off x="695325" y="1455738"/>
          <a:ext cx="711517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7308BC-9B00-7067-1B51-FE82E258FC5B}"/>
              </a:ext>
            </a:extLst>
          </p:cNvPr>
          <p:cNvSpPr>
            <a:spLocks noGrp="1"/>
          </p:cNvSpPr>
          <p:nvPr>
            <p:ph idx="13"/>
          </p:nvPr>
        </p:nvSpPr>
        <p:spPr>
          <a:noFill/>
          <a:ln cap="flat">
            <a:noFill/>
          </a:ln>
        </p:spPr>
        <p:txBody>
          <a:bodyPr lIns="180000" tIns="180000" rIns="180000" bIns="180000"/>
          <a:lstStyle/>
          <a:p>
            <a:r>
              <a:rPr lang="pl-PL" dirty="0">
                <a:solidFill>
                  <a:schemeClr val="tx2"/>
                </a:solidFill>
              </a:rPr>
              <a:t>Największe zainteresowanie stroną Elżbiety II wynika z Jej śmierci oraz śmierci Jej męża – Księcia Filipa. Mniejsze, acz znaczące skoki w ruchu generowane są przez tematy medialne, jak obchody rocznicy ślubu czy ślub Księcia Harry’ego z </a:t>
            </a:r>
            <a:r>
              <a:rPr lang="pl-PL" dirty="0" err="1">
                <a:solidFill>
                  <a:schemeClr val="tx2"/>
                </a:solidFill>
              </a:rPr>
              <a:t>Meghan</a:t>
            </a:r>
            <a:r>
              <a:rPr lang="pl-PL" dirty="0">
                <a:solidFill>
                  <a:schemeClr val="tx2"/>
                </a:solidFill>
              </a:rPr>
              <a:t> </a:t>
            </a:r>
            <a:r>
              <a:rPr lang="pl-PL" dirty="0" err="1">
                <a:solidFill>
                  <a:schemeClr val="tx2"/>
                </a:solidFill>
              </a:rPr>
              <a:t>Markle</a:t>
            </a:r>
            <a:r>
              <a:rPr lang="pl-PL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053E86D-93C9-BD0A-6FF4-6E65101A571A}"/>
              </a:ext>
            </a:extLst>
          </p:cNvPr>
          <p:cNvSpPr txBox="1"/>
          <p:nvPr/>
        </p:nvSpPr>
        <p:spPr>
          <a:xfrm>
            <a:off x="695325" y="6251109"/>
            <a:ext cx="956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Na podstawie </a:t>
            </a:r>
            <a:r>
              <a:rPr lang="pl-PL" sz="1200" dirty="0">
                <a:latin typeface="Aptos" panose="020B0004020202020204" pitchFamily="34" charset="0"/>
              </a:rPr>
              <a:t>https://pageviews.wmcloud.org/ [4][8]  </a:t>
            </a:r>
          </a:p>
        </p:txBody>
      </p:sp>
    </p:spTree>
    <p:extLst>
      <p:ext uri="{BB962C8B-B14F-4D97-AF65-F5344CB8AC3E}">
        <p14:creationId xmlns:p14="http://schemas.microsoft.com/office/powerpoint/2010/main" val="84183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4312-CD02-FC4C-F8DD-7C079AED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84AD0D-7CD0-3713-508A-FC0699E9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Sukcesy Igi Świątek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09D98903-2D8C-F765-284D-96F1B8D81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581845"/>
              </p:ext>
            </p:extLst>
          </p:nvPr>
        </p:nvGraphicFramePr>
        <p:xfrm>
          <a:off x="695325" y="1455738"/>
          <a:ext cx="711517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1C6FFD-2A59-D2F9-6220-5455BF0BA04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l-PL" dirty="0">
                <a:solidFill>
                  <a:schemeClr val="tx2"/>
                </a:solidFill>
              </a:rPr>
              <a:t>Pięć największych szczytów wyświetleń strony Igi Świątek pochodzi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z wygranych turniejów wielkoszlemowych – czterech Rolanda Garrosa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i Wimbledonu. </a:t>
            </a:r>
          </a:p>
          <a:p>
            <a:r>
              <a:rPr lang="pl-PL" dirty="0">
                <a:solidFill>
                  <a:schemeClr val="tx2"/>
                </a:solidFill>
              </a:rPr>
              <a:t>Ani spadek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z pierwszego miejsca klasyfikacji WTA, ani pozytywny wynik kontroli antydopingowej nie spowodowały takiego zainteresowania, jak spektakularne wygrane.</a:t>
            </a:r>
          </a:p>
          <a:p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00168F3-3B2A-A2A5-4D31-54DD250344D0}"/>
              </a:ext>
            </a:extLst>
          </p:cNvPr>
          <p:cNvSpPr txBox="1"/>
          <p:nvPr/>
        </p:nvSpPr>
        <p:spPr>
          <a:xfrm>
            <a:off x="695325" y="6251109"/>
            <a:ext cx="956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Na podstawie </a:t>
            </a:r>
            <a:r>
              <a:rPr lang="pl-PL" sz="1200" dirty="0">
                <a:latin typeface="Aptos" panose="020B0004020202020204" pitchFamily="34" charset="0"/>
              </a:rPr>
              <a:t>https://pageviews.wmcloud.org/ [4]  </a:t>
            </a:r>
          </a:p>
        </p:txBody>
      </p:sp>
    </p:spTree>
    <p:extLst>
      <p:ext uri="{BB962C8B-B14F-4D97-AF65-F5344CB8AC3E}">
        <p14:creationId xmlns:p14="http://schemas.microsoft.com/office/powerpoint/2010/main" val="89983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FECD-C453-A5D0-4CEB-90324FAE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77D155-CF86-1E32-3C60-1EA6CD50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Drugie życie </a:t>
            </a:r>
            <a:r>
              <a:rPr lang="pl-PL" dirty="0" err="1"/>
              <a:t>Freddiego</a:t>
            </a:r>
            <a:r>
              <a:rPr lang="pl-PL" dirty="0"/>
              <a:t> </a:t>
            </a:r>
            <a:r>
              <a:rPr lang="pl-PL" dirty="0" err="1"/>
              <a:t>Mercury’ego</a:t>
            </a:r>
            <a:endParaRPr lang="pl-PL" dirty="0"/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FA18856F-AC8A-DDEF-2221-BFA52CE49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241789"/>
              </p:ext>
            </p:extLst>
          </p:nvPr>
        </p:nvGraphicFramePr>
        <p:xfrm>
          <a:off x="695325" y="1455738"/>
          <a:ext cx="711517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19FE4F-1F5F-7398-3D66-2D0C312E258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l-PL" dirty="0">
                <a:solidFill>
                  <a:schemeClr val="tx2"/>
                </a:solidFill>
              </a:rPr>
              <a:t>Historia </a:t>
            </a:r>
            <a:r>
              <a:rPr lang="pl-PL" dirty="0" err="1">
                <a:solidFill>
                  <a:schemeClr val="tx2"/>
                </a:solidFill>
              </a:rPr>
              <a:t>Freddiego</a:t>
            </a:r>
            <a:r>
              <a:rPr lang="pl-PL" dirty="0">
                <a:solidFill>
                  <a:schemeClr val="tx2"/>
                </a:solidFill>
              </a:rPr>
              <a:t> </a:t>
            </a:r>
            <a:r>
              <a:rPr lang="pl-PL" dirty="0" err="1">
                <a:solidFill>
                  <a:schemeClr val="tx2"/>
                </a:solidFill>
              </a:rPr>
              <a:t>Mercury'ego</a:t>
            </a:r>
            <a:r>
              <a:rPr lang="pl-PL" dirty="0">
                <a:solidFill>
                  <a:schemeClr val="tx2"/>
                </a:solidFill>
              </a:rPr>
              <a:t> pokazuje,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że media potrafią nadać drugie życie znanym postaciom. </a:t>
            </a:r>
          </a:p>
          <a:p>
            <a:r>
              <a:rPr lang="pl-PL" dirty="0">
                <a:solidFill>
                  <a:schemeClr val="tx2"/>
                </a:solidFill>
              </a:rPr>
              <a:t>Premierze filmu i okrągłej rocznicy śmierci towarzyszył wyraźny wzrost zainteresowania jego biografią.</a:t>
            </a:r>
          </a:p>
          <a:p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E784E70-FF9A-68BD-887E-BC2C1A63DE80}"/>
              </a:ext>
            </a:extLst>
          </p:cNvPr>
          <p:cNvSpPr txBox="1"/>
          <p:nvPr/>
        </p:nvSpPr>
        <p:spPr>
          <a:xfrm>
            <a:off x="695325" y="6251109"/>
            <a:ext cx="956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Na podstawie </a:t>
            </a:r>
            <a:r>
              <a:rPr lang="pl-PL" sz="1200" dirty="0">
                <a:latin typeface="Aptos" panose="020B0004020202020204" pitchFamily="34" charset="0"/>
              </a:rPr>
              <a:t>https://pageviews.wmcloud.org/ [4] </a:t>
            </a:r>
          </a:p>
        </p:txBody>
      </p:sp>
    </p:spTree>
    <p:extLst>
      <p:ext uri="{BB962C8B-B14F-4D97-AF65-F5344CB8AC3E}">
        <p14:creationId xmlns:p14="http://schemas.microsoft.com/office/powerpoint/2010/main" val="152364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22C4A2-1B90-4E31-AB1C-E2D45B1E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Piłka nożna a znajomość geografii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4B65AB7F-448F-7A38-A170-C9008F774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078881"/>
              </p:ext>
            </p:extLst>
          </p:nvPr>
        </p:nvGraphicFramePr>
        <p:xfrm>
          <a:off x="695325" y="1455738"/>
          <a:ext cx="711517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23E0AF-E7E9-B8C5-B54A-95E7639FDD5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l-PL" dirty="0">
                <a:solidFill>
                  <a:schemeClr val="tx2"/>
                </a:solidFill>
              </a:rPr>
              <a:t>Duże imprezy sportowe sprawiają również, że chcemy lepiej poznać państwa, o których na co dzień wiemy niewiele.</a:t>
            </a:r>
          </a:p>
          <a:p>
            <a:r>
              <a:rPr lang="pl-PL" dirty="0">
                <a:solidFill>
                  <a:schemeClr val="tx2"/>
                </a:solidFill>
              </a:rPr>
              <a:t>Sporo osób odkryło Curaçao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i Republika Zielonego Przylądka dzięki ich pierwszemu udziałowi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w Mistrzostwach Świata </a:t>
            </a:r>
            <a:br>
              <a:rPr lang="pl-PL" dirty="0">
                <a:solidFill>
                  <a:schemeClr val="tx2"/>
                </a:solidFill>
              </a:rPr>
            </a:br>
            <a:r>
              <a:rPr lang="pl-PL" dirty="0">
                <a:solidFill>
                  <a:schemeClr val="tx2"/>
                </a:solidFill>
              </a:rPr>
              <a:t>w Piłce Nożnej.</a:t>
            </a:r>
          </a:p>
          <a:p>
            <a:endParaRPr lang="pl-PL" dirty="0"/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2FF7C437-CEDE-316F-788D-277332313050}"/>
              </a:ext>
            </a:extLst>
          </p:cNvPr>
          <p:cNvSpPr txBox="1">
            <a:spLocks/>
          </p:cNvSpPr>
          <p:nvPr/>
        </p:nvSpPr>
        <p:spPr>
          <a:xfrm>
            <a:off x="4719203" y="1853927"/>
            <a:ext cx="3592143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l-PL" sz="1800" dirty="0">
              <a:solidFill>
                <a:schemeClr val="tx2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C9DEECA-28D9-00F8-F31C-EB2CB9AC30EC}"/>
              </a:ext>
            </a:extLst>
          </p:cNvPr>
          <p:cNvSpPr txBox="1"/>
          <p:nvPr/>
        </p:nvSpPr>
        <p:spPr>
          <a:xfrm>
            <a:off x="695325" y="6251109"/>
            <a:ext cx="956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Na podstawie </a:t>
            </a:r>
            <a:r>
              <a:rPr lang="pl-PL" sz="1200" dirty="0">
                <a:latin typeface="Aptos" panose="020B0004020202020204" pitchFamily="34" charset="0"/>
              </a:rPr>
              <a:t>https://pageviews.wmcloud.org/ [4]  </a:t>
            </a:r>
          </a:p>
        </p:txBody>
      </p:sp>
    </p:spTree>
    <p:extLst>
      <p:ext uri="{BB962C8B-B14F-4D97-AF65-F5344CB8AC3E}">
        <p14:creationId xmlns:p14="http://schemas.microsoft.com/office/powerpoint/2010/main" val="40870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912FD5-44F1-B5A4-DB1C-68AEC4C7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buNone/>
            </a:pPr>
            <a:endParaRPr lang="pl-PL" sz="4000" dirty="0"/>
          </a:p>
          <a:p>
            <a:pPr fontAlgn="t">
              <a:buNone/>
            </a:pPr>
            <a:r>
              <a:rPr lang="pl-PL" sz="4000" dirty="0"/>
              <a:t>Nie otwieramy Wikipedii tylko po wiedzę.</a:t>
            </a:r>
          </a:p>
          <a:p>
            <a:pPr marL="0" indent="0" fontAlgn="t">
              <a:buNone/>
            </a:pPr>
            <a:r>
              <a:rPr lang="pl-PL" sz="4000" dirty="0"/>
              <a:t>Otwieramy ją wtedy, gdy dzieje się coś ważnego.</a:t>
            </a:r>
          </a:p>
          <a:p>
            <a:pPr fontAlgn="t">
              <a:buNone/>
            </a:pPr>
            <a:r>
              <a:rPr lang="pl-PL" sz="4000" b="1" dirty="0">
                <a:latin typeface="Montserrat" pitchFamily="2" charset="-18"/>
              </a:rPr>
              <a:t>Od 25 lat.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5AE2DDD-F83E-5B49-400C-A739A05D9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513" y="360196"/>
            <a:ext cx="6504972" cy="99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8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687F5BB-8301-DFD8-9EDB-3655C225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94" y="2572213"/>
            <a:ext cx="11228412" cy="17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1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661581-DBC8-41B7-1C77-09DC67F2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153441-6F99-2CEC-8830-0CF93CCC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[1] </a:t>
            </a:r>
            <a:r>
              <a:rPr lang="pl-PL" sz="1400" dirty="0">
                <a:latin typeface="Aptos" panose="020B0004020202020204" pitchFamily="34" charset="0"/>
                <a:hlinkClick r:id="rId2"/>
              </a:rPr>
              <a:t>https://pl.wikipedia.org/wiki/Wikipedia:Liczba_artyku%C5%82%C3%B3w_w_polskoj%C4%99zycznej_Wikipedii</a:t>
            </a:r>
            <a:r>
              <a:rPr lang="pl-PL" sz="1400" dirty="0">
                <a:latin typeface="Aptos" panose="020B0004020202020204" pitchFamily="34" charset="0"/>
              </a:rPr>
              <a:t> – data pobrania: 25.09.2026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[2] </a:t>
            </a:r>
            <a:r>
              <a:rPr lang="pl-PL" sz="1400" dirty="0" err="1">
                <a:latin typeface="Aptos" panose="020B0004020202020204" pitchFamily="34" charset="0"/>
              </a:rPr>
              <a:t>Wikistats</a:t>
            </a:r>
            <a:r>
              <a:rPr lang="pl-PL" sz="1400" dirty="0">
                <a:latin typeface="Aptos" panose="020B0004020202020204" pitchFamily="34" charset="0"/>
              </a:rPr>
              <a:t> 2 /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Analytics API (AQS) | CC0 1.0, analiza obejmuje 8 lat ze względu na jakość danych i kategoryzację ruchu ludzkiego i botów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[3] Kategoryzacja w oparciu o model językowy, który przypisał jedną z głównych kategorii Wikipedii do top 300 artykułów i zweryfikowane ręcznie. Najpopularniejszą kategorią polskiej Wikipedii są biografie, pozostałe zdecydowanie odbiegają. Nie sumuję kategorii geografia z Polską, gdyż zawiera ona cały przekrój kategorii.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[4] </a:t>
            </a:r>
            <a:r>
              <a:rPr lang="pl-PL" sz="1400" dirty="0">
                <a:latin typeface="Aptos" panose="020B0004020202020204" pitchFamily="34" charset="0"/>
                <a:hlinkClick r:id="rId3"/>
              </a:rPr>
              <a:t>https://pageviews.wmcloud.org/</a:t>
            </a:r>
            <a:r>
              <a:rPr lang="pl-PL" sz="1400" dirty="0">
                <a:latin typeface="Aptos" panose="020B0004020202020204" pitchFamily="34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[5] Użyte zdjęcia: Robert Lewandowski: </a:t>
            </a:r>
            <a:r>
              <a:rPr lang="pl-PL" sz="1400" dirty="0">
                <a:latin typeface="Aptos" panose="020B0004020202020204" pitchFamily="34" charset="0"/>
                <a:hlinkClick r:id="rId4"/>
              </a:rPr>
              <a:t>CC BY-SA 4.0</a:t>
            </a:r>
            <a:r>
              <a:rPr lang="pl-PL" sz="1400" dirty="0">
                <a:latin typeface="Aptos" panose="020B0004020202020204" pitchFamily="34" charset="0"/>
              </a:rPr>
              <a:t>, Plik:2019147183134 2019-05-27 </a:t>
            </a:r>
            <a:r>
              <a:rPr lang="pl-PL" sz="1400" dirty="0" err="1">
                <a:latin typeface="Aptos" panose="020B0004020202020204" pitchFamily="34" charset="0"/>
              </a:rPr>
              <a:t>Fussball</a:t>
            </a:r>
            <a:r>
              <a:rPr lang="pl-PL" sz="1400" dirty="0">
                <a:latin typeface="Aptos" panose="020B0004020202020204" pitchFamily="34" charset="0"/>
              </a:rPr>
              <a:t> 1.FC </a:t>
            </a:r>
            <a:r>
              <a:rPr lang="pl-PL" sz="1400" dirty="0" err="1">
                <a:latin typeface="Aptos" panose="020B0004020202020204" pitchFamily="34" charset="0"/>
              </a:rPr>
              <a:t>Kaiserslautern</a:t>
            </a:r>
            <a:r>
              <a:rPr lang="pl-PL" sz="1400" dirty="0">
                <a:latin typeface="Aptos" panose="020B0004020202020204" pitchFamily="34" charset="0"/>
              </a:rPr>
              <a:t> vs FC Bayern </a:t>
            </a:r>
            <a:r>
              <a:rPr lang="pl-PL" sz="1400" dirty="0" err="1">
                <a:latin typeface="Aptos" panose="020B0004020202020204" pitchFamily="34" charset="0"/>
              </a:rPr>
              <a:t>München</a:t>
            </a:r>
            <a:r>
              <a:rPr lang="pl-PL" sz="1400" dirty="0">
                <a:latin typeface="Aptos" panose="020B0004020202020204" pitchFamily="34" charset="0"/>
              </a:rPr>
              <a:t> - Sven - 1D X MK II - 0228 - B70I8527 (</a:t>
            </a:r>
            <a:r>
              <a:rPr lang="pl-PL" sz="1400" dirty="0" err="1">
                <a:latin typeface="Aptos" panose="020B0004020202020204" pitchFamily="34" charset="0"/>
              </a:rPr>
              <a:t>cropped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wider</a:t>
            </a:r>
            <a:r>
              <a:rPr lang="pl-PL" sz="1400" dirty="0">
                <a:latin typeface="Aptos" panose="020B0004020202020204" pitchFamily="34" charset="0"/>
              </a:rPr>
              <a:t>).jpg, Utworzony: 27 maja 2019, Przesłany: 31 marca 2026; 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Elżbieta II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Polska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endParaRPr lang="pl-PL" sz="1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[6] Kategorie dopasowane przez model językowy, a następnie ręcznie zweryfikowane, „Śmierć osoby” może dotyczyć osoby z artykułu lub osoby powiązanej. Suma zwiększonych wyświetleń została obliczona jako różnica między liczbą wyświetleń w danym miesiącu danego artykułu, a średnią jego wyświetleń. Dane na podstawie liczby wyświetleń top 1000 artykułów każdego miesiąca [8]. Na potrzeby wykresu zsumowano 200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[7] </a:t>
            </a:r>
            <a:r>
              <a:rPr lang="pl-PL" sz="1400" dirty="0">
                <a:latin typeface="Aptos" panose="020B0004020202020204" pitchFamily="34" charset="0"/>
                <a:hlinkClick r:id="rId5"/>
              </a:rPr>
              <a:t>https://pl.wikipedia.org/wiki/El%C5%BCbieta_II</a:t>
            </a:r>
            <a:r>
              <a:rPr lang="pl-PL" sz="1400" dirty="0">
                <a:latin typeface="Aptos" panose="020B0004020202020204" pitchFamily="34" charset="0"/>
              </a:rPr>
              <a:t> – data pobrania 24.09.2026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[8] Zrzuty „</a:t>
            </a:r>
            <a:r>
              <a:rPr lang="pl-PL" sz="1400" dirty="0" err="1">
                <a:latin typeface="Aptos" panose="020B0004020202020204" pitchFamily="34" charset="0"/>
              </a:rPr>
              <a:t>pageview_complete</a:t>
            </a:r>
            <a:r>
              <a:rPr lang="pl-PL" sz="1400" dirty="0">
                <a:latin typeface="Aptos" panose="020B0004020202020204" pitchFamily="34" charset="0"/>
              </a:rPr>
              <a:t>” (dumps.wikimedia.org), uzupełnione o metadane stron polskojęzycznej Wikipedii | CC0 1.0 |</a:t>
            </a:r>
          </a:p>
          <a:p>
            <a:pPr>
              <a:spcAft>
                <a:spcPts val="600"/>
              </a:spcAft>
            </a:pPr>
            <a:endParaRPr lang="pl-PL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35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82BA-BDE6-C715-5C7A-A641072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D42B59-DCF6-4896-2960-FC277C02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Slajd po napisach: A to ki czort?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B5B9341C-F4A6-EF18-93EF-81A1EE23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004559"/>
              </p:ext>
            </p:extLst>
          </p:nvPr>
        </p:nvGraphicFramePr>
        <p:xfrm>
          <a:off x="695325" y="1455738"/>
          <a:ext cx="7115175" cy="431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557C64-7B04-9D97-E032-EF929C2BFFB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pl-PL" dirty="0"/>
              <a:t>Mediana miesięcznych wyświetleń strony Przedłużanie życia wynosi </a:t>
            </a:r>
            <a:r>
              <a:rPr lang="pl-PL" b="1" u="sng" dirty="0">
                <a:latin typeface="Montserrat" pitchFamily="2" charset="-18"/>
              </a:rPr>
              <a:t>455</a:t>
            </a:r>
            <a:r>
              <a:rPr lang="pl-PL" dirty="0">
                <a:latin typeface="Montserrat" pitchFamily="2" charset="-18"/>
              </a:rPr>
              <a:t>.</a:t>
            </a:r>
            <a:r>
              <a:rPr lang="pl-PL" dirty="0"/>
              <a:t> </a:t>
            </a:r>
          </a:p>
          <a:p>
            <a:r>
              <a:rPr lang="pl-PL" dirty="0"/>
              <a:t>Jak to się stało, że w lipcu 2019 osiągnęła oglądalność większą niż strona Królowej Elżbiety w miesiącu Jej śmierci?</a:t>
            </a:r>
          </a:p>
          <a:p>
            <a:r>
              <a:rPr lang="pl-PL" dirty="0"/>
              <a:t>Ze względu na bardzo punktowy ruch wskazuje to na wejścia automatu nieprzedstawiającego się jako bot. Nie były one w 2019 rozpoznawane na podstawie zachowania. [9] Takie chochoły też się w danych zdarzają </a:t>
            </a:r>
            <a:r>
              <a:rPr lang="pl-PL" dirty="0">
                <a:sym typeface="Wingdings" panose="05000000000000000000" pitchFamily="2" charset="2"/>
              </a:rPr>
              <a:t></a:t>
            </a:r>
            <a:endParaRPr lang="pl-PL" dirty="0"/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53B82AA8-5108-9A9F-A76E-ACFC5CFEEE10}"/>
              </a:ext>
            </a:extLst>
          </p:cNvPr>
          <p:cNvSpPr txBox="1">
            <a:spLocks/>
          </p:cNvSpPr>
          <p:nvPr/>
        </p:nvSpPr>
        <p:spPr>
          <a:xfrm>
            <a:off x="7908583" y="1825625"/>
            <a:ext cx="3588091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l-PL" sz="16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11EB0B5-AB85-955E-61A1-642C850D6955}"/>
              </a:ext>
            </a:extLst>
          </p:cNvPr>
          <p:cNvSpPr txBox="1"/>
          <p:nvPr/>
        </p:nvSpPr>
        <p:spPr>
          <a:xfrm>
            <a:off x="695325" y="6251110"/>
            <a:ext cx="9568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[9] Maciek z </a:t>
            </a:r>
            <a:r>
              <a:rPr lang="pl-PL" sz="1200" dirty="0" err="1">
                <a:solidFill>
                  <a:schemeClr val="tx2"/>
                </a:solidFill>
              </a:rPr>
              <a:t>Wikimedia</a:t>
            </a:r>
            <a:endParaRPr lang="pl-PL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5880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y 4">
      <a:dk1>
        <a:srgbClr val="000000"/>
      </a:dk1>
      <a:lt1>
        <a:sysClr val="window" lastClr="FFFFFF"/>
      </a:lt1>
      <a:dk2>
        <a:srgbClr val="404040"/>
      </a:dk2>
      <a:lt2>
        <a:srgbClr val="F9F9F0"/>
      </a:lt2>
      <a:accent1>
        <a:srgbClr val="C3D8EF"/>
      </a:accent1>
      <a:accent2>
        <a:srgbClr val="0E65C0"/>
      </a:accent2>
      <a:accent3>
        <a:srgbClr val="E5C0C0"/>
      </a:accent3>
      <a:accent4>
        <a:srgbClr val="308557"/>
      </a:accent4>
      <a:accent5>
        <a:srgbClr val="EE8019"/>
      </a:accent5>
      <a:accent6>
        <a:srgbClr val="7F7F7F"/>
      </a:accent6>
      <a:hlink>
        <a:srgbClr val="0E65C0"/>
      </a:hlink>
      <a:folHlink>
        <a:srgbClr val="0E65C0"/>
      </a:folHlink>
    </a:clrScheme>
    <a:fontScheme name="Niestandardowy 2">
      <a:majorFont>
        <a:latin typeface="Montserrat SemiBold"/>
        <a:ea typeface=""/>
        <a:cs typeface=""/>
      </a:majorFont>
      <a:minorFont>
        <a:latin typeface="Montserrat Medium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942</Words>
  <Application>Microsoft Office PowerPoint</Application>
  <PresentationFormat>Panoramiczny</PresentationFormat>
  <Paragraphs>66</Paragraphs>
  <Slides>11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Aptos</vt:lpstr>
      <vt:lpstr>Arial</vt:lpstr>
      <vt:lpstr>Montserrat Medium</vt:lpstr>
      <vt:lpstr>Montserrat SemiBold</vt:lpstr>
      <vt:lpstr>Wingdings</vt:lpstr>
      <vt:lpstr>Motyw pakietu Office</vt:lpstr>
      <vt:lpstr>Prezentacja programu PowerPoint</vt:lpstr>
      <vt:lpstr>Czego szukamy najczęściej</vt:lpstr>
      <vt:lpstr>Kiedy szukamy informacji</vt:lpstr>
      <vt:lpstr>Elżbieta II – śmierć i wesele</vt:lpstr>
      <vt:lpstr>Sukcesy Igi Świątek</vt:lpstr>
      <vt:lpstr>Drugie życie Freddiego Mercury’ego</vt:lpstr>
      <vt:lpstr>Piłka nożna a znajomość geografii</vt:lpstr>
      <vt:lpstr>Prezentacja programu PowerPoint</vt:lpstr>
      <vt:lpstr>Prezentacja programu PowerPoint</vt:lpstr>
      <vt:lpstr>Źródła</vt:lpstr>
      <vt:lpstr>Slajd po napisach: A to ki czort?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Kotlarek</dc:creator>
  <cp:lastModifiedBy>Marcin Kotlarek</cp:lastModifiedBy>
  <cp:revision>40</cp:revision>
  <dcterms:created xsi:type="dcterms:W3CDTF">2026-09-20T19:16:26Z</dcterms:created>
  <dcterms:modified xsi:type="dcterms:W3CDTF">2026-11-01T21:32:50Z</dcterms:modified>
</cp:coreProperties>
</file>