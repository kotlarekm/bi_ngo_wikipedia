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7" r:id="rId4"/>
    <p:sldId id="261" r:id="rId5"/>
    <p:sldId id="262" r:id="rId6"/>
    <p:sldId id="263" r:id="rId7"/>
    <p:sldId id="264" r:id="rId8"/>
    <p:sldId id="260" r:id="rId9"/>
    <p:sldId id="266" r:id="rId10"/>
    <p:sldId id="267" r:id="rId11"/>
    <p:sldId id="259" r:id="rId12"/>
    <p:sldId id="265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3"/>
            <p14:sldId id="264"/>
            <p14:sldId id="260"/>
            <p14:sldId id="266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wg kategorii [mln][6]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cat>
            <c:strRef>
              <c:f>Arkusz1!$A$2:$A$8</c:f>
              <c:strCache>
                <c:ptCount val="7"/>
                <c:pt idx="0">
                  <c:v>Technika</c:v>
                </c:pt>
                <c:pt idx="1">
                  <c:v>Kultura i sztuka</c:v>
                </c:pt>
                <c:pt idx="2">
                  <c:v>Polska</c:v>
                </c:pt>
                <c:pt idx="3">
                  <c:v>Historia</c:v>
                </c:pt>
                <c:pt idx="4">
                  <c:v>Społeczeństwo</c:v>
                </c:pt>
                <c:pt idx="5">
                  <c:v>Geografia</c:v>
                </c:pt>
                <c:pt idx="6">
                  <c:v>Biografie</c:v>
                </c:pt>
              </c:strCache>
            </c:strRef>
          </c:cat>
          <c:val>
            <c:numRef>
              <c:f>Arkusz1!$B$2:$B$8</c:f>
              <c:numCache>
                <c:formatCode>General</c:formatCode>
                <c:ptCount val="7"/>
                <c:pt idx="0">
                  <c:v>4395312</c:v>
                </c:pt>
                <c:pt idx="1">
                  <c:v>10269740</c:v>
                </c:pt>
                <c:pt idx="2">
                  <c:v>19814745</c:v>
                </c:pt>
                <c:pt idx="3">
                  <c:v>25428753</c:v>
                </c:pt>
                <c:pt idx="4">
                  <c:v>33099833</c:v>
                </c:pt>
                <c:pt idx="5">
                  <c:v>70351979</c:v>
                </c:pt>
                <c:pt idx="6">
                  <c:v>128004067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[mln] 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4189380884412409"/>
          <c:y val="0.18825468321860345"/>
          <c:w val="0.6796250272249863"/>
          <c:h val="0.7177475576519556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1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Suma</a:t>
            </a:r>
            <a:r>
              <a:rPr lang="pl-PL" dirty="0"/>
              <a:t> wzrostów</a:t>
            </a:r>
            <a:r>
              <a:rPr lang="pl-PL" baseline="0" dirty="0"/>
              <a:t> odwiedzin stron wg kategorii przyczyn</a:t>
            </a:r>
            <a:r>
              <a:rPr lang="pl-PL" dirty="0"/>
              <a:t> zwiększonego</a:t>
            </a:r>
            <a:r>
              <a:rPr lang="pl-PL" baseline="0" dirty="0"/>
              <a:t> ruchu</a:t>
            </a:r>
            <a:r>
              <a:rPr lang="pl-PL" dirty="0"/>
              <a:t>[4]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A067-45B7-A7C5-005738E5D21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7-45B7-A7C5-005738E5D21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67-45B7-A7C5-005738E5D21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7-45B7-A7C5-005738E5D21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A067-45B7-A7C5-005738E5D21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67-45B7-A7C5-005738E5D21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7-45B7-A7C5-005738E5D21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A067-45B7-A7C5-005738E5D216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7-45B7-A7C5-005738E5D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</c:dispUnitsLbl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en-US" dirty="0"/>
              <a:t>Elżbieta II</a:t>
            </a:r>
            <a:r>
              <a:rPr lang="pl-PL" dirty="0"/>
              <a:t> [mln][2][3]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defRPr>
                    </a:pPr>
                    <a:endParaRPr lang="pl-PL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Filipa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defRPr>
                    </a:pPr>
                    <a:endParaRPr lang="en-US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Iga Świątek</a:t>
            </a:r>
            <a:r>
              <a:rPr lang="pl-PL" dirty="0"/>
              <a:t> [tys.][2]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pl-PL" baseline="0" dirty="0" err="1"/>
              <a:t>Freddie</a:t>
            </a:r>
            <a:r>
              <a:rPr lang="pl-PL" baseline="0" dirty="0"/>
              <a:t> </a:t>
            </a:r>
            <a:r>
              <a:rPr lang="pl-PL" baseline="0" dirty="0" err="1"/>
              <a:t>Mercury</a:t>
            </a:r>
            <a:r>
              <a:rPr lang="pl-PL" baseline="0" dirty="0"/>
              <a:t> </a:t>
            </a:r>
            <a:r>
              <a:rPr lang="pl-PL" dirty="0"/>
              <a:t>[tys.][2]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 </a:t>
            </a:r>
            <a:r>
              <a:rPr lang="pl-PL" dirty="0"/>
              <a:t>Republika Zielonego Przylądka oraz Curaçao [tys.][2]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926678644591617"/>
          <c:w val="0.94418872912625051"/>
          <c:h val="0.5800119411546517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Przedłużanie życia </a:t>
            </a:r>
            <a:r>
              <a:rPr lang="pl-PL" dirty="0"/>
              <a:t>[mln][2]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35C60-06B4-43D2-8FB6-7E8AA44FCC6B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5FADB-00C8-4FB2-BB50-76DE30578D9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334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dirty="0"/>
              <a:t>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839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16883" y="6140211"/>
            <a:ext cx="636917" cy="58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l.wikipedia.org/wiki/El%C5%BCbieta_II" TargetMode="External"/><Relationship Id="rId2" Type="http://schemas.openxmlformats.org/officeDocument/2006/relationships/hyperlink" Target="https://pageviews.wmcloud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4.0" TargetMode="External"/><Relationship Id="rId4" Type="http://schemas.openxmlformats.org/officeDocument/2006/relationships/hyperlink" Target="https://pl.wikipedia.org/wiki/Wikipedia:Liczba_artyku%C5%82%C3%B3w_w_polskoj%C4%99zycznej_Wikipedi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1,7 mln</a:t>
            </a:r>
          </a:p>
          <a:p>
            <a:pPr marL="0" indent="0" algn="ctr">
              <a:buNone/>
            </a:pPr>
            <a:r>
              <a:rPr lang="pl-PL" sz="1600" dirty="0"/>
              <a:t>Liczba artykułów w polskiej Wikipedii [7]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/>
              <a:t>Suma wyświetleń przez użytkowników </a:t>
            </a:r>
            <a:br>
              <a:rPr lang="pl-PL" sz="1600" dirty="0"/>
            </a:br>
            <a:r>
              <a:rPr lang="pl-PL" sz="1600" dirty="0"/>
              <a:t>w ostatnich 8 latach[1]*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92" y="458158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8200" y="4320563"/>
            <a:ext cx="10515600" cy="937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2400" dirty="0"/>
              <a:t>Przez ostatnie 25 lat zadaliśmy miliardy pytań w polskiej Wikipedii. Sprawdźmy czego dotyczą, kiedy się pojawiają i dlaczego.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AC538181-EDAA-9D86-BC1B-79F880235718}"/>
              </a:ext>
            </a:extLst>
          </p:cNvPr>
          <p:cNvSpPr txBox="1"/>
          <p:nvPr/>
        </p:nvSpPr>
        <p:spPr>
          <a:xfrm>
            <a:off x="838200" y="6251110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/>
              <a:t> Dane o wyświetleniach przedstawiono dla lat 2018-2025 ze względu na jakość danych historycznych.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5637000"/>
              </p:ext>
            </p:extLst>
          </p:nvPr>
        </p:nvGraphicFramePr>
        <p:xfrm>
          <a:off x="838199" y="1825627"/>
          <a:ext cx="7070387" cy="4008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953894" y="6215876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/>
              <a:t>Kategoryzacja w oparciu o model językowy, który przypisał jedną z głównych kategorii Wikipedii do top 100 artykułów.</a:t>
            </a:r>
          </a:p>
        </p:txBody>
      </p:sp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8FF34AFB-BB03-C486-2D94-7FC87E58046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Choć Wikipedia zawiera informacje o niemal każdym aspekcie świata, najbardziej interesują nas inni ludzie. Biografie wyraźnie dominują nad wszystkimi pozostałymi kategoriami, zostawiając daleko w tyle historię, geografię czy kulturę.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3188763"/>
              </p:ext>
            </p:extLst>
          </p:nvPr>
        </p:nvGraphicFramePr>
        <p:xfrm>
          <a:off x="838200" y="1690687"/>
          <a:ext cx="7731868" cy="3320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212" y="4254476"/>
            <a:ext cx="2194547" cy="1457179"/>
          </a:xfrm>
          <a:prstGeom prst="rect">
            <a:avLst/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1904" y="2835581"/>
            <a:ext cx="1397343" cy="1861261"/>
          </a:xfrm>
          <a:prstGeom prst="rect">
            <a:avLst/>
          </a:prstGeom>
        </p:spPr>
      </p:pic>
      <p:sp>
        <p:nvSpPr>
          <p:cNvPr id="4" name="Symbol zastępczy zawartości 4">
            <a:extLst>
              <a:ext uri="{FF2B5EF4-FFF2-40B4-BE49-F238E27FC236}">
                <a16:creationId xmlns:a16="http://schemas.microsoft.com/office/drawing/2014/main" id="{6DBC4545-96B9-73B4-24E4-8DE4515B03DA}"/>
              </a:ext>
            </a:extLst>
          </p:cNvPr>
          <p:cNvSpPr txBox="1">
            <a:spLocks/>
          </p:cNvSpPr>
          <p:nvPr/>
        </p:nvSpPr>
        <p:spPr>
          <a:xfrm>
            <a:off x="838200" y="5010912"/>
            <a:ext cx="7731868" cy="1033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pl-PL" sz="1800" dirty="0"/>
              <a:t>Wśród najpopularniejszych artykułów trudno znaleźć przypadkowe tematy. Dotyczą osób, państw lub wydarzeń, które regularnie pojawiają się w przestrzeni publicznej. [8]</a:t>
            </a:r>
          </a:p>
        </p:txBody>
      </p:sp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4210" y="1820768"/>
            <a:ext cx="1729796" cy="186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7" name="Wykres 6">
            <a:extLst>
              <a:ext uri="{FF2B5EF4-FFF2-40B4-BE49-F238E27FC236}">
                <a16:creationId xmlns:a16="http://schemas.microsoft.com/office/drawing/2014/main" id="{F6814C3D-6579-8325-76B9-9092EF1007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80172190"/>
              </p:ext>
            </p:extLst>
          </p:nvPr>
        </p:nvGraphicFramePr>
        <p:xfrm>
          <a:off x="838200" y="1753616"/>
          <a:ext cx="7187119" cy="4260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408B14C-EEE3-F15A-BE30-968444DB9FBB}"/>
              </a:ext>
            </a:extLst>
          </p:cNvPr>
          <p:cNvSpPr txBox="1"/>
          <p:nvPr/>
        </p:nvSpPr>
        <p:spPr>
          <a:xfrm>
            <a:off x="8341468" y="1753616"/>
            <a:ext cx="3536004" cy="181588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Zwiększenie ruchu na stronach Wikipedii powodują wydarzenia wywołujące różne emocje. Są to zarówno tragedie, jak śmierć, wojna czy katastrofa, jak </a:t>
            </a:r>
            <a:br>
              <a:rPr lang="pl-PL" sz="1600" dirty="0">
                <a:solidFill>
                  <a:schemeClr val="bg1"/>
                </a:solidFill>
              </a:rPr>
            </a:br>
            <a:r>
              <a:rPr lang="pl-PL" sz="1600" dirty="0">
                <a:solidFill>
                  <a:schemeClr val="bg1"/>
                </a:solidFill>
              </a:rPr>
              <a:t>i pozytywne jak sukcesy sportowe.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1DB5434-4B8C-EEA6-8442-37AEBEBCCCC8}"/>
              </a:ext>
            </a:extLst>
          </p:cNvPr>
          <p:cNvSpPr txBox="1"/>
          <p:nvPr/>
        </p:nvSpPr>
        <p:spPr>
          <a:xfrm>
            <a:off x="8341468" y="3961949"/>
            <a:ext cx="3536004" cy="1077218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Na wzrost wyświetleń wpływają również szeroko komentowane doniesienia medialne oraz nowe produkcje popkultury.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F2E79AD-B041-5ADB-B7D6-BE50C8AFBB59}"/>
              </a:ext>
            </a:extLst>
          </p:cNvPr>
          <p:cNvSpPr txBox="1"/>
          <p:nvPr/>
        </p:nvSpPr>
        <p:spPr>
          <a:xfrm>
            <a:off x="8341468" y="5431618"/>
            <a:ext cx="3536004" cy="5847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/>
              <a:t>Za każdą kategorią kryją się konkretne historie.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- wyszukiwanie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3CD9D0DB-9DFC-5821-4BF0-47CA446729DD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1800" dirty="0"/>
              <a:t>Największe zainteresowanie stroną Elżbiety II wynika z Jej śmierci oraz śmierci Jej męża – Księcia Filipa. Mniejsze, acz znaczące skoki w ruchu generowane są przez tematy medialne, jak obchody rocznicy ślubu czy ślub Księcia Harry’ego z </a:t>
            </a:r>
            <a:r>
              <a:rPr lang="pl-PL" sz="1800" dirty="0" err="1"/>
              <a:t>Meghan</a:t>
            </a:r>
            <a:r>
              <a:rPr lang="pl-PL" sz="1800" dirty="0"/>
              <a:t> </a:t>
            </a:r>
            <a:r>
              <a:rPr lang="pl-PL" sz="1800" dirty="0" err="1"/>
              <a:t>Markle</a:t>
            </a:r>
            <a:r>
              <a:rPr lang="pl-PL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582739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9B69F184-3F92-17F2-114A-2CE5AD94E7BB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Pięć największych szczytów wyświetleń strony Igi Świątek pochodzi </a:t>
            </a:r>
            <a:br>
              <a:rPr lang="pl-PL" sz="1800" dirty="0"/>
            </a:br>
            <a:r>
              <a:rPr lang="pl-PL" sz="1800" dirty="0"/>
              <a:t>z wygranych turniejów wielkoszlemowych – czterech Rolanda Garrosa </a:t>
            </a:r>
            <a:br>
              <a:rPr lang="pl-PL" sz="1800" dirty="0"/>
            </a:br>
            <a:r>
              <a:rPr lang="pl-PL" sz="1800" dirty="0"/>
              <a:t>i Wimbledonu. Ani spadek </a:t>
            </a:r>
            <a:br>
              <a:rPr lang="pl-PL" sz="1800" dirty="0"/>
            </a:br>
            <a:r>
              <a:rPr lang="pl-PL" sz="1800" dirty="0"/>
              <a:t>z pierwszego miejsca klasyfikacji WTA, ani pozytywny wynik kontroli antydopingowej nie spowodowały takiego zainteresowania, jak spektakularne wygrane.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Freddie</a:t>
            </a:r>
            <a:r>
              <a:rPr lang="pl-PL" dirty="0"/>
              <a:t> </a:t>
            </a:r>
            <a:r>
              <a:rPr lang="pl-PL" dirty="0" err="1"/>
              <a:t>Mercury</a:t>
            </a:r>
            <a:r>
              <a:rPr lang="pl-PL" dirty="0"/>
              <a:t> – film i rocznica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0929887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44FA4A5A-2D15-6902-72CC-6462164612AC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Historia </a:t>
            </a:r>
            <a:r>
              <a:rPr lang="pl-PL" sz="1800" dirty="0" err="1"/>
              <a:t>Freddiego</a:t>
            </a:r>
            <a:r>
              <a:rPr lang="pl-PL" sz="1800" dirty="0"/>
              <a:t> </a:t>
            </a:r>
            <a:r>
              <a:rPr lang="pl-PL" sz="1800" dirty="0" err="1"/>
              <a:t>Mercury'ego</a:t>
            </a:r>
            <a:r>
              <a:rPr lang="pl-PL" sz="1800" dirty="0"/>
              <a:t> pokazuje, </a:t>
            </a:r>
            <a:br>
              <a:rPr lang="pl-PL" sz="1800" dirty="0"/>
            </a:br>
            <a:r>
              <a:rPr lang="pl-PL" sz="1800" dirty="0"/>
              <a:t>że media potrafią nadać drugie życie znanym postaciom. Premierze filmu i okrągłej rocznicy śmierci towarzyszył wyraźny wzrost zainteresowania jego biografią.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4158751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Duże imprezy sportowe sprawiają również, że chcemy lepiej poznać państwa, o których na co dzień wiemy niewiele. Sporo osób odkryło Curaçao i Republika Zielonego Przylądka dzięki ich pierwszemu udziałowi </a:t>
            </a:r>
            <a:br>
              <a:rPr lang="pl-PL" sz="1800" dirty="0"/>
            </a:br>
            <a:r>
              <a:rPr lang="pl-PL" sz="1800" dirty="0"/>
              <a:t>w Mistrzostwach Świata </a:t>
            </a:r>
            <a:br>
              <a:rPr lang="pl-PL" sz="1800" dirty="0"/>
            </a:br>
            <a:r>
              <a:rPr lang="pl-PL" sz="1800" dirty="0"/>
              <a:t>w Piłce Nożnej.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06FA26-7517-0D14-088B-3B659316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/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[1] </a:t>
            </a:r>
            <a:r>
              <a:rPr lang="pl-PL" sz="1200" dirty="0" err="1">
                <a:latin typeface="Aptos" panose="020B0004020202020204" pitchFamily="34" charset="0"/>
              </a:rPr>
              <a:t>Wikistats</a:t>
            </a:r>
            <a:r>
              <a:rPr lang="pl-PL" sz="1200" dirty="0">
                <a:latin typeface="Aptos" panose="020B0004020202020204" pitchFamily="34" charset="0"/>
              </a:rPr>
              <a:t> 2 / </a:t>
            </a:r>
            <a:r>
              <a:rPr lang="pl-PL" sz="1200" dirty="0" err="1">
                <a:latin typeface="Aptos" panose="020B0004020202020204" pitchFamily="34" charset="0"/>
              </a:rPr>
              <a:t>Wikimedia</a:t>
            </a:r>
            <a:r>
              <a:rPr lang="pl-PL" sz="1200" dirty="0">
                <a:latin typeface="Aptos" panose="020B0004020202020204" pitchFamily="34" charset="0"/>
              </a:rPr>
              <a:t> Analytics API (AQS) | CC0 1.0 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[2] </a:t>
            </a:r>
            <a:r>
              <a:rPr lang="pl-PL" sz="1200" dirty="0">
                <a:latin typeface="Aptos" panose="020B0004020202020204" pitchFamily="34" charset="0"/>
                <a:hlinkClick r:id="rId2"/>
              </a:rPr>
              <a:t>https://pageviews.wmcloud.org/</a:t>
            </a:r>
            <a:r>
              <a:rPr lang="pl-PL" sz="1200" dirty="0">
                <a:latin typeface="Aptos" panose="020B0004020202020204" pitchFamily="34" charset="0"/>
              </a:rPr>
              <a:t>  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[3] </a:t>
            </a:r>
            <a:r>
              <a:rPr lang="pl-PL" sz="1200" dirty="0">
                <a:latin typeface="Aptos" panose="020B0004020202020204" pitchFamily="34" charset="0"/>
                <a:hlinkClick r:id="rId3"/>
              </a:rPr>
              <a:t>https://pl.wikipedia.org/wiki/El%C5%BCbieta_II</a:t>
            </a:r>
            <a:r>
              <a:rPr lang="pl-PL" sz="1200" dirty="0">
                <a:latin typeface="Aptos" panose="020B0004020202020204" pitchFamily="34" charset="0"/>
              </a:rPr>
              <a:t> – data pobrania 24.09.2026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[4]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[5]. Na potrzeby wykresu zsumowano 200 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[5] Zrzuty „</a:t>
            </a:r>
            <a:r>
              <a:rPr lang="pl-PL" sz="1200" dirty="0" err="1">
                <a:latin typeface="Aptos" panose="020B0004020202020204" pitchFamily="34" charset="0"/>
              </a:rPr>
              <a:t>pageview_complete</a:t>
            </a:r>
            <a:r>
              <a:rPr lang="pl-PL" sz="1200" dirty="0">
                <a:latin typeface="Aptos" panose="020B0004020202020204" pitchFamily="34" charset="0"/>
              </a:rPr>
              <a:t>” (dumps.wikimedia.org), uzupełnione o metadane stron polskojęzycznej Wikipedii | CC0 1.0 |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[6] Kategoryzacja w oparciu o model językowy, który przypisał jedną z głównych kategorii Wikipedii do top 100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>
              <a:spcAft>
                <a:spcPts val="600"/>
              </a:spcAft>
            </a:pPr>
            <a:r>
              <a:rPr lang="pl-PL" sz="1200" dirty="0">
                <a:latin typeface="Aptos" panose="020B0004020202020204" pitchFamily="34" charset="0"/>
              </a:rPr>
              <a:t>[7] </a:t>
            </a:r>
            <a:r>
              <a:rPr lang="pl-PL" sz="1200" dirty="0">
                <a:latin typeface="Aptos" panose="020B0004020202020204" pitchFamily="34" charset="0"/>
                <a:hlinkClick r:id="rId4"/>
              </a:rPr>
              <a:t>https://pl.wikipedia.org/wiki/Wikipedia:Liczba_artyku%C5%82%C3%B3w_w_polskoj%C4%99zycznej_Wikipedii</a:t>
            </a:r>
            <a:r>
              <a:rPr lang="pl-PL" sz="1200" dirty="0">
                <a:latin typeface="Aptos" panose="020B0004020202020204" pitchFamily="34" charset="0"/>
              </a:rPr>
              <a:t> – data pobrania: 25.09.2026</a:t>
            </a:r>
          </a:p>
          <a:p>
            <a:pPr lvl="0"/>
            <a:r>
              <a:rPr lang="pl-PL" sz="1200" dirty="0">
                <a:latin typeface="Aptos" panose="020B0004020202020204" pitchFamily="34" charset="0"/>
              </a:rPr>
              <a:t>[8] Użyte zdjęcia: Robert </a:t>
            </a:r>
            <a:r>
              <a:rPr lang="pl-PL" sz="1200" dirty="0" err="1">
                <a:latin typeface="Aptos" panose="020B0004020202020204" pitchFamily="34" charset="0"/>
              </a:rPr>
              <a:t>Lewadowski</a:t>
            </a:r>
            <a:r>
              <a:rPr lang="pl-PL" sz="1200" dirty="0">
                <a:latin typeface="Aptos" panose="020B0004020202020204" pitchFamily="34" charset="0"/>
              </a:rPr>
              <a:t>: </a:t>
            </a:r>
            <a:r>
              <a:rPr lang="pl-PL" sz="1200" dirty="0">
                <a:latin typeface="Aptos" panose="020B0004020202020204" pitchFamily="34" charset="0"/>
                <a:hlinkClick r:id="rId5"/>
              </a:rPr>
              <a:t>CC BY-SA 4.0</a:t>
            </a:r>
            <a:r>
              <a:rPr lang="pl-PL" sz="1200" dirty="0">
                <a:latin typeface="Aptos" panose="020B0004020202020204" pitchFamily="34" charset="0"/>
              </a:rPr>
              <a:t>, Plik:2019147183134 2019-05-27 </a:t>
            </a:r>
            <a:r>
              <a:rPr lang="pl-PL" sz="1200" dirty="0" err="1">
                <a:latin typeface="Aptos" panose="020B0004020202020204" pitchFamily="34" charset="0"/>
              </a:rPr>
              <a:t>Fussball</a:t>
            </a:r>
            <a:r>
              <a:rPr lang="pl-PL" sz="1200" dirty="0">
                <a:latin typeface="Aptos" panose="020B0004020202020204" pitchFamily="34" charset="0"/>
              </a:rPr>
              <a:t> 1.FC </a:t>
            </a:r>
            <a:r>
              <a:rPr lang="pl-PL" sz="1200" dirty="0" err="1">
                <a:latin typeface="Aptos" panose="020B0004020202020204" pitchFamily="34" charset="0"/>
              </a:rPr>
              <a:t>Kaiserslautern</a:t>
            </a:r>
            <a:r>
              <a:rPr lang="pl-PL" sz="1200" dirty="0">
                <a:latin typeface="Aptos" panose="020B0004020202020204" pitchFamily="34" charset="0"/>
              </a:rPr>
              <a:t> vs FC Bayern </a:t>
            </a:r>
            <a:r>
              <a:rPr lang="pl-PL" sz="1200" dirty="0" err="1">
                <a:latin typeface="Aptos" panose="020B0004020202020204" pitchFamily="34" charset="0"/>
              </a:rPr>
              <a:t>München</a:t>
            </a:r>
            <a:r>
              <a:rPr lang="pl-PL" sz="1200" dirty="0">
                <a:latin typeface="Aptos" panose="020B0004020202020204" pitchFamily="34" charset="0"/>
              </a:rPr>
              <a:t> - Sven - 1D X MK II - 0228 - B70I8527 (</a:t>
            </a:r>
            <a:r>
              <a:rPr lang="pl-PL" sz="1200" dirty="0" err="1">
                <a:latin typeface="Aptos" panose="020B0004020202020204" pitchFamily="34" charset="0"/>
              </a:rPr>
              <a:t>cropped</a:t>
            </a:r>
            <a:r>
              <a:rPr lang="pl-PL" sz="1200" dirty="0">
                <a:latin typeface="Aptos" panose="020B0004020202020204" pitchFamily="34" charset="0"/>
              </a:rPr>
              <a:t> </a:t>
            </a:r>
            <a:r>
              <a:rPr lang="pl-PL" sz="1200" dirty="0" err="1">
                <a:latin typeface="Aptos" panose="020B0004020202020204" pitchFamily="34" charset="0"/>
              </a:rPr>
              <a:t>wider</a:t>
            </a:r>
            <a:r>
              <a:rPr lang="pl-PL" sz="1200" dirty="0">
                <a:latin typeface="Aptos" panose="020B0004020202020204" pitchFamily="34" charset="0"/>
              </a:rPr>
              <a:t>).jpg, Utworzony: 27 maja 2019, Przesłany: 31 marca 2026; </a:t>
            </a:r>
            <a:br>
              <a:rPr lang="pl-PL" sz="1200" dirty="0">
                <a:latin typeface="Aptos" panose="020B0004020202020204" pitchFamily="34" charset="0"/>
              </a:rPr>
            </a:br>
            <a:r>
              <a:rPr lang="pl-PL" sz="1200" dirty="0">
                <a:latin typeface="Aptos" panose="020B0004020202020204" pitchFamily="34" charset="0"/>
              </a:rPr>
              <a:t>Elżbieta II – </a:t>
            </a:r>
            <a:r>
              <a:rPr lang="pl-PL" sz="1200" dirty="0" err="1">
                <a:latin typeface="Aptos" panose="020B0004020202020204" pitchFamily="34" charset="0"/>
              </a:rPr>
              <a:t>domenda</a:t>
            </a:r>
            <a:r>
              <a:rPr lang="pl-PL" sz="1200" dirty="0">
                <a:latin typeface="Aptos" panose="020B0004020202020204" pitchFamily="34" charset="0"/>
              </a:rPr>
              <a:t> publiczna, z </a:t>
            </a:r>
            <a:r>
              <a:rPr lang="pl-PL" sz="1200" dirty="0" err="1">
                <a:latin typeface="Aptos" panose="020B0004020202020204" pitchFamily="34" charset="0"/>
              </a:rPr>
              <a:t>Wikimedia</a:t>
            </a:r>
            <a:r>
              <a:rPr lang="pl-PL" sz="1200" dirty="0">
                <a:latin typeface="Aptos" panose="020B0004020202020204" pitchFamily="34" charset="0"/>
              </a:rPr>
              <a:t> </a:t>
            </a:r>
            <a:r>
              <a:rPr lang="pl-PL" sz="1200" dirty="0" err="1">
                <a:latin typeface="Aptos" panose="020B0004020202020204" pitchFamily="34" charset="0"/>
              </a:rPr>
              <a:t>Commons</a:t>
            </a:r>
            <a:br>
              <a:rPr lang="pl-PL" sz="1200" dirty="0">
                <a:latin typeface="Aptos" panose="020B0004020202020204" pitchFamily="34" charset="0"/>
              </a:rPr>
            </a:br>
            <a:r>
              <a:rPr lang="pl-PL" sz="1200" dirty="0">
                <a:latin typeface="Aptos" panose="020B0004020202020204" pitchFamily="34" charset="0"/>
              </a:rPr>
              <a:t>Polska – </a:t>
            </a:r>
            <a:r>
              <a:rPr lang="pl-PL" sz="1200" dirty="0" err="1">
                <a:latin typeface="Aptos" panose="020B0004020202020204" pitchFamily="34" charset="0"/>
              </a:rPr>
              <a:t>domenda</a:t>
            </a:r>
            <a:r>
              <a:rPr lang="pl-PL" sz="1200" dirty="0">
                <a:latin typeface="Aptos" panose="020B0004020202020204" pitchFamily="34" charset="0"/>
              </a:rPr>
              <a:t> publiczna, z </a:t>
            </a:r>
            <a:r>
              <a:rPr lang="pl-PL" sz="1200" dirty="0" err="1">
                <a:latin typeface="Aptos" panose="020B0004020202020204" pitchFamily="34" charset="0"/>
              </a:rPr>
              <a:t>Wikimedia</a:t>
            </a:r>
            <a:r>
              <a:rPr lang="pl-PL" sz="1200" dirty="0">
                <a:latin typeface="Aptos" panose="020B0004020202020204" pitchFamily="34" charset="0"/>
              </a:rPr>
              <a:t> </a:t>
            </a:r>
            <a:r>
              <a:rPr lang="pl-PL" sz="1200" dirty="0" err="1">
                <a:latin typeface="Aptos" panose="020B0004020202020204" pitchFamily="34" charset="0"/>
              </a:rPr>
              <a:t>Commons</a:t>
            </a:r>
            <a:endParaRPr lang="pl-PL" sz="1200" dirty="0">
              <a:latin typeface="Aptos" panose="020B0004020202020204" pitchFamily="34" charset="0"/>
            </a:endParaRPr>
          </a:p>
          <a:p>
            <a:pPr>
              <a:spcAft>
                <a:spcPts val="600"/>
              </a:spcAft>
            </a:pPr>
            <a:endParaRPr lang="pl-PL" sz="1200" dirty="0">
              <a:latin typeface="Aptos" panose="020B0004020202020204" pitchFamily="34" charset="0"/>
            </a:endParaRPr>
          </a:p>
          <a:p>
            <a:pPr>
              <a:spcAft>
                <a:spcPts val="600"/>
              </a:spcAft>
            </a:pPr>
            <a:endParaRPr lang="pl-PL" sz="12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3646543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Mediana miesięcznych wyświetleń strony Przedłużanie życia wynosi </a:t>
            </a:r>
            <a:r>
              <a:rPr lang="pl-PL" sz="1800" b="1" u="sng" dirty="0"/>
              <a:t>455</a:t>
            </a:r>
            <a:r>
              <a:rPr lang="pl-PL" sz="1800" dirty="0"/>
              <a:t>.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Jak to się stało, że w lipcu 2019 osiągnęła oglądalność większą niż strona Królowej Elżbiety w miesiącu Jej śmierci?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Cholera wie</a:t>
            </a: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2">
      <a:dk1>
        <a:srgbClr val="000000"/>
      </a:dk1>
      <a:lt1>
        <a:sysClr val="window" lastClr="FFFFFF"/>
      </a:lt1>
      <a:dk2>
        <a:srgbClr val="0E2841"/>
      </a:dk2>
      <a:lt2>
        <a:srgbClr val="E8E8E8"/>
      </a:lt2>
      <a:accent1>
        <a:srgbClr val="049DFF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</TotalTime>
  <Words>934</Words>
  <Application>Microsoft Office PowerPoint</Application>
  <PresentationFormat>Panoramiczny</PresentationFormat>
  <Paragraphs>57</Paragraphs>
  <Slides>12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7" baseType="lpstr">
      <vt:lpstr>Aptos</vt:lpstr>
      <vt:lpstr>Arial</vt:lpstr>
      <vt:lpstr>Montserrat Medium</vt:lpstr>
      <vt:lpstr>Montserrat SemiBold</vt:lpstr>
      <vt:lpstr>Motyw pakietu Office</vt:lpstr>
      <vt:lpstr>Prezentacja programu PowerPoint</vt:lpstr>
      <vt:lpstr>Ludzie interesują się ludźmi</vt:lpstr>
      <vt:lpstr>Czego szukamy najczęściej</vt:lpstr>
      <vt:lpstr>Kiedy szukamy informacji</vt:lpstr>
      <vt:lpstr>Elżbieta II - wyszukiwanie</vt:lpstr>
      <vt:lpstr>Sukcesy Igi Świątek</vt:lpstr>
      <vt:lpstr>Freddie Mercury – film i rocznica</vt:lpstr>
      <vt:lpstr>Piłka nożna a znajomość geografii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18</cp:revision>
  <dcterms:created xsi:type="dcterms:W3CDTF">2026-09-20T19:16:26Z</dcterms:created>
  <dcterms:modified xsi:type="dcterms:W3CDTF">2026-09-25T09:03:25Z</dcterms:modified>
</cp:coreProperties>
</file>