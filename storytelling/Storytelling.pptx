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7" r:id="rId4"/>
    <p:sldId id="261" r:id="rId5"/>
    <p:sldId id="262" r:id="rId6"/>
    <p:sldId id="263" r:id="rId7"/>
    <p:sldId id="264" r:id="rId8"/>
    <p:sldId id="260" r:id="rId9"/>
    <p:sldId id="266" r:id="rId10"/>
    <p:sldId id="267" r:id="rId11"/>
    <p:sldId id="259" r:id="rId12"/>
    <p:sldId id="265" r:id="rId13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kcja domyślna" id="{E1507DD5-B280-4770-AC0C-A345241EDAA4}">
          <p14:sldIdLst>
            <p14:sldId id="256"/>
            <p14:sldId id="258"/>
            <p14:sldId id="257"/>
            <p14:sldId id="261"/>
            <p14:sldId id="262"/>
            <p14:sldId id="263"/>
            <p14:sldId id="264"/>
            <p14:sldId id="260"/>
            <p14:sldId id="266"/>
            <p14:sldId id="267"/>
            <p14:sldId id="259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2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AnalizaDanych\000_projekty\BI_NGO_Wikipedia\BI_NGO_Wikipedia\storytelling\Dane_do_pp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pl-PL" sz="1800" dirty="0"/>
              <a:t>Suma wyświetleń w latach 2018 – 2026 </a:t>
            </a:r>
            <a:br>
              <a:rPr lang="pl-PL" sz="1800" dirty="0"/>
            </a:br>
            <a:r>
              <a:rPr lang="pl-PL" sz="1800" dirty="0"/>
              <a:t>wg kategorii [mln][6]</a:t>
            </a:r>
            <a:endParaRPr lang="en-US" sz="18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530082714213458"/>
          <c:y val="0.24478882668966837"/>
          <c:w val="0.65362840086863538"/>
          <c:h val="0.6006614646810588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Arkusz1!$B$1</c:f>
              <c:strCache>
                <c:ptCount val="1"/>
                <c:pt idx="0">
                  <c:v>Suma elementów views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6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97B9-4781-8620-6CC20A140C86}"/>
              </c:ext>
            </c:extLst>
          </c:dPt>
          <c:cat>
            <c:strRef>
              <c:f>Arkusz1!$A$2:$A$8</c:f>
              <c:strCache>
                <c:ptCount val="7"/>
                <c:pt idx="0">
                  <c:v>Technika</c:v>
                </c:pt>
                <c:pt idx="1">
                  <c:v>Kultura i sztuka</c:v>
                </c:pt>
                <c:pt idx="2">
                  <c:v>Polska</c:v>
                </c:pt>
                <c:pt idx="3">
                  <c:v>Historia</c:v>
                </c:pt>
                <c:pt idx="4">
                  <c:v>Społeczeństwo</c:v>
                </c:pt>
                <c:pt idx="5">
                  <c:v>Geografia</c:v>
                </c:pt>
                <c:pt idx="6">
                  <c:v>Biografie</c:v>
                </c:pt>
              </c:strCache>
            </c:strRef>
          </c:cat>
          <c:val>
            <c:numRef>
              <c:f>Arkusz1!$B$2:$B$8</c:f>
              <c:numCache>
                <c:formatCode>General</c:formatCode>
                <c:ptCount val="7"/>
                <c:pt idx="0">
                  <c:v>4395312</c:v>
                </c:pt>
                <c:pt idx="1">
                  <c:v>10269740</c:v>
                </c:pt>
                <c:pt idx="2">
                  <c:v>19814745</c:v>
                </c:pt>
                <c:pt idx="3">
                  <c:v>25428753</c:v>
                </c:pt>
                <c:pt idx="4">
                  <c:v>33099833</c:v>
                </c:pt>
                <c:pt idx="5">
                  <c:v>70351979</c:v>
                </c:pt>
                <c:pt idx="6">
                  <c:v>128004067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51-4C40-909C-701ED36B4C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416327088"/>
        <c:axId val="942990160"/>
      </c:barChart>
      <c:catAx>
        <c:axId val="141632708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942990160"/>
        <c:crosses val="autoZero"/>
        <c:auto val="1"/>
        <c:lblAlgn val="ctr"/>
        <c:lblOffset val="100"/>
        <c:noMultiLvlLbl val="0"/>
      </c:catAx>
      <c:valAx>
        <c:axId val="942990160"/>
        <c:scaling>
          <c:orientation val="minMax"/>
        </c:scaling>
        <c:delete val="0"/>
        <c:axPos val="b"/>
        <c:numFmt formatCode="0" sourceLinked="0"/>
        <c:majorTickMark val="none"/>
        <c:minorTickMark val="none"/>
        <c:tickLblPos val="high"/>
        <c:spPr>
          <a:noFill/>
          <a:ln w="19050"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416327088"/>
        <c:crosses val="autoZero"/>
        <c:crossBetween val="between"/>
        <c:dispUnits>
          <c:builtInUnit val="millions"/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2"/>
    </a:solidFill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pl-P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pl-PL" sz="1800" dirty="0">
                <a:solidFill>
                  <a:schemeClr val="tx1"/>
                </a:solidFill>
              </a:rPr>
              <a:t>Suma wyświetleń w latach 2018 – 2026 [mln] [2]</a:t>
            </a:r>
            <a:endParaRPr lang="en-US" sz="1800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8141072314560384"/>
          <c:y val="0.23752681419249164"/>
          <c:w val="0.64010815248045794"/>
          <c:h val="0.7122665850145832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Arkusz1!$B$1</c:f>
              <c:strCache>
                <c:ptCount val="1"/>
                <c:pt idx="0">
                  <c:v>Wyświetlenia łączne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7093-46BE-9319-5B9CB374ED5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7093-46BE-9319-5B9CB374ED5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7093-46BE-9319-5B9CB374ED5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7093-46BE-9319-5B9CB374ED5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7093-46BE-9319-5B9CB374ED5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7093-46BE-9319-5B9CB374ED5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093-46BE-9319-5B9CB374ED5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A1CA-4071-B42E-24A59EF21E94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A1CA-4071-B42E-24A59EF21E94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A1CA-4071-B42E-24A59EF21E94}"/>
              </c:ext>
            </c:extLst>
          </c:dPt>
          <c:cat>
            <c:strRef>
              <c:f>Arkusz1!$A$2:$A$11</c:f>
              <c:strCache>
                <c:ptCount val="10"/>
                <c:pt idx="0">
                  <c:v>NATO</c:v>
                </c:pt>
                <c:pt idx="1">
                  <c:v>Ukraina</c:v>
                </c:pt>
                <c:pt idx="2">
                  <c:v>YouTube</c:v>
                </c:pt>
                <c:pt idx="3">
                  <c:v>Jan Paweł II</c:v>
                </c:pt>
                <c:pt idx="4">
                  <c:v>Facebook</c:v>
                </c:pt>
                <c:pt idx="5">
                  <c:v>Stany Zjednoczone</c:v>
                </c:pt>
                <c:pt idx="6">
                  <c:v>Warszawa</c:v>
                </c:pt>
                <c:pt idx="7">
                  <c:v>Robert Lewandowski</c:v>
                </c:pt>
                <c:pt idx="8">
                  <c:v>Elżbieta II</c:v>
                </c:pt>
                <c:pt idx="9">
                  <c:v>Polska</c:v>
                </c:pt>
              </c:strCache>
            </c:strRef>
          </c:cat>
          <c:val>
            <c:numRef>
              <c:f>Arkusz1!$B$2:$B$11</c:f>
              <c:numCache>
                <c:formatCode>General</c:formatCode>
                <c:ptCount val="10"/>
                <c:pt idx="0">
                  <c:v>7503348</c:v>
                </c:pt>
                <c:pt idx="1">
                  <c:v>8937209</c:v>
                </c:pt>
                <c:pt idx="2">
                  <c:v>9065523</c:v>
                </c:pt>
                <c:pt idx="3">
                  <c:v>10371717</c:v>
                </c:pt>
                <c:pt idx="4">
                  <c:v>10445296</c:v>
                </c:pt>
                <c:pt idx="5">
                  <c:v>10714236</c:v>
                </c:pt>
                <c:pt idx="6">
                  <c:v>11041651</c:v>
                </c:pt>
                <c:pt idx="7">
                  <c:v>11304169</c:v>
                </c:pt>
                <c:pt idx="8">
                  <c:v>14156616</c:v>
                </c:pt>
                <c:pt idx="9">
                  <c:v>24679130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93-46BE-9319-5B9CB374ED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154764064"/>
        <c:axId val="1813308464"/>
      </c:barChart>
      <c:catAx>
        <c:axId val="11547640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813308464"/>
        <c:crosses val="autoZero"/>
        <c:auto val="1"/>
        <c:lblAlgn val="ctr"/>
        <c:lblOffset val="100"/>
        <c:noMultiLvlLbl val="0"/>
      </c:catAx>
      <c:valAx>
        <c:axId val="1813308464"/>
        <c:scaling>
          <c:orientation val="minMax"/>
          <c:max val="25000000"/>
          <c:min val="0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high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154764064"/>
        <c:crosses val="autoZero"/>
        <c:crossBetween val="between"/>
        <c:dispUnits>
          <c:builtInUnit val="millions"/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2"/>
    </a:solidFill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pl-P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[Dane_do_ppt.xlsx]Historia zmian!Tabela przestawna1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>
                <a:solidFill>
                  <a:schemeClr val="tx1"/>
                </a:solidFill>
              </a:rPr>
              <a:t>Suma</a:t>
            </a:r>
            <a:r>
              <a:rPr lang="pl-PL" sz="1800" dirty="0">
                <a:solidFill>
                  <a:schemeClr val="tx1"/>
                </a:solidFill>
              </a:rPr>
              <a:t> wzrostów</a:t>
            </a:r>
            <a:r>
              <a:rPr lang="pl-PL" sz="1800" baseline="0" dirty="0">
                <a:solidFill>
                  <a:schemeClr val="tx1"/>
                </a:solidFill>
              </a:rPr>
              <a:t> odwiedzin stron wg kategorii przyczyn</a:t>
            </a:r>
            <a:r>
              <a:rPr lang="pl-PL" sz="1800" dirty="0">
                <a:solidFill>
                  <a:schemeClr val="tx1"/>
                </a:solidFill>
              </a:rPr>
              <a:t> zwiększonego</a:t>
            </a:r>
            <a:r>
              <a:rPr lang="pl-PL" sz="1800" baseline="0" dirty="0">
                <a:solidFill>
                  <a:schemeClr val="tx1"/>
                </a:solidFill>
              </a:rPr>
              <a:t> ruchu[mln] </a:t>
            </a:r>
            <a:r>
              <a:rPr lang="pl-PL" sz="1800" dirty="0">
                <a:solidFill>
                  <a:schemeClr val="tx1"/>
                </a:solidFill>
              </a:rPr>
              <a:t>[4]</a:t>
            </a:r>
            <a:endParaRPr lang="en-US" sz="1800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'Historia zmian'!$B$3</c:f>
              <c:strCache>
                <c:ptCount val="1"/>
                <c:pt idx="0">
                  <c:v>Suma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A067-45B7-A7C5-005738E5D216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067-45B7-A7C5-005738E5D216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A067-45B7-A7C5-005738E5D216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A067-45B7-A7C5-005738E5D216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A067-45B7-A7C5-005738E5D216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A067-45B7-A7C5-005738E5D216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067-45B7-A7C5-005738E5D216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A067-45B7-A7C5-005738E5D216}"/>
              </c:ext>
            </c:extLst>
          </c:dPt>
          <c:cat>
            <c:strRef>
              <c:f>'Historia zmian'!$A$4:$A$13</c:f>
              <c:strCache>
                <c:ptCount val="9"/>
                <c:pt idx="0">
                  <c:v>Święta i rocznice</c:v>
                </c:pt>
                <c:pt idx="1">
                  <c:v>Katastrofa / wypadek</c:v>
                </c:pt>
                <c:pt idx="2">
                  <c:v>Pandemia / zdrowie</c:v>
                </c:pt>
                <c:pt idx="3">
                  <c:v>Wydarzenia medialne i społeczne</c:v>
                </c:pt>
                <c:pt idx="4">
                  <c:v>Wojna i konflikt</c:v>
                </c:pt>
                <c:pt idx="5">
                  <c:v>Polityka i wybory</c:v>
                </c:pt>
                <c:pt idx="6">
                  <c:v>Kultura / film / media</c:v>
                </c:pt>
                <c:pt idx="7">
                  <c:v>Śmierć osoby</c:v>
                </c:pt>
                <c:pt idx="8">
                  <c:v>Sport</c:v>
                </c:pt>
              </c:strCache>
            </c:strRef>
          </c:cat>
          <c:val>
            <c:numRef>
              <c:f>'Historia zmian'!$B$4:$B$13</c:f>
              <c:numCache>
                <c:formatCode>General</c:formatCode>
                <c:ptCount val="9"/>
                <c:pt idx="0">
                  <c:v>2248793</c:v>
                </c:pt>
                <c:pt idx="1">
                  <c:v>3531994</c:v>
                </c:pt>
                <c:pt idx="2">
                  <c:v>3868868</c:v>
                </c:pt>
                <c:pt idx="3">
                  <c:v>10673271</c:v>
                </c:pt>
                <c:pt idx="4">
                  <c:v>13663255</c:v>
                </c:pt>
                <c:pt idx="5">
                  <c:v>14441969</c:v>
                </c:pt>
                <c:pt idx="6">
                  <c:v>16898015</c:v>
                </c:pt>
                <c:pt idx="7">
                  <c:v>20346071</c:v>
                </c:pt>
                <c:pt idx="8">
                  <c:v>21020972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67-45B7-A7C5-005738E5D2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287888656"/>
        <c:axId val="413498544"/>
      </c:barChart>
      <c:catAx>
        <c:axId val="2878886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413498544"/>
        <c:crosses val="autoZero"/>
        <c:auto val="1"/>
        <c:lblAlgn val="ctr"/>
        <c:lblOffset val="100"/>
        <c:noMultiLvlLbl val="0"/>
      </c:catAx>
      <c:valAx>
        <c:axId val="413498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high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287888656"/>
        <c:crosses val="autoZero"/>
        <c:crossBetween val="between"/>
        <c:dispUnits>
          <c:builtInUnit val="millions"/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2"/>
    </a:solidFill>
    <a:ln>
      <a:noFill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pl-PL" sz="1800" dirty="0">
                <a:solidFill>
                  <a:schemeClr val="tx1"/>
                </a:solidFill>
              </a:rPr>
              <a:t>Przebieg wyświetleń</a:t>
            </a:r>
            <a:r>
              <a:rPr lang="pl-PL" sz="1800" baseline="0" dirty="0">
                <a:solidFill>
                  <a:schemeClr val="tx1"/>
                </a:solidFill>
              </a:rPr>
              <a:t> strony </a:t>
            </a:r>
            <a:r>
              <a:rPr lang="en-US" sz="1800" dirty="0">
                <a:solidFill>
                  <a:schemeClr val="tx1"/>
                </a:solidFill>
              </a:rPr>
              <a:t>Elżbieta II</a:t>
            </a:r>
            <a:r>
              <a:rPr lang="pl-PL" sz="1800" dirty="0">
                <a:solidFill>
                  <a:schemeClr val="tx1"/>
                </a:solidFill>
              </a:rPr>
              <a:t> [mln][2][3]</a:t>
            </a:r>
            <a:endParaRPr lang="en-US" sz="1800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3603301286851403E-2"/>
          <c:y val="0.10213800904457435"/>
          <c:w val="0.94418872912625051"/>
          <c:h val="0.64714071855599353"/>
        </c:manualLayout>
      </c:layout>
      <c:lineChart>
        <c:grouping val="standard"/>
        <c:varyColors val="0"/>
        <c:ser>
          <c:idx val="0"/>
          <c:order val="0"/>
          <c:tx>
            <c:strRef>
              <c:f>Arkusz1!$B$1</c:f>
              <c:strCache>
                <c:ptCount val="1"/>
                <c:pt idx="0">
                  <c:v>Elżbieta II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4"/>
              <c:layout>
                <c:manualLayout>
                  <c:x val="-3.14716421046514E-2"/>
                  <c:y val="-0.18971176222118347"/>
                </c:manualLayout>
              </c:layout>
              <c:tx>
                <c:rich>
                  <a:bodyPr/>
                  <a:lstStyle/>
                  <a:p>
                    <a:r>
                      <a:rPr lang="pl-PL" dirty="0"/>
                      <a:t>Ślub</a:t>
                    </a:r>
                    <a:r>
                      <a:rPr lang="pl-PL" baseline="0" dirty="0"/>
                      <a:t> Księcia </a:t>
                    </a:r>
                    <a:r>
                      <a:rPr lang="pl-PL" baseline="0" dirty="0" err="1"/>
                      <a:t>Harrego</a:t>
                    </a:r>
                    <a:r>
                      <a:rPr lang="pl-PL" baseline="0" dirty="0"/>
                      <a:t> z </a:t>
                    </a:r>
                    <a:r>
                      <a:rPr lang="pl-PL" baseline="0" dirty="0" err="1"/>
                      <a:t>Meghan</a:t>
                    </a:r>
                    <a:r>
                      <a:rPr lang="pl-PL" baseline="0" dirty="0"/>
                      <a:t> </a:t>
                    </a:r>
                    <a:r>
                      <a:rPr lang="pl-PL" baseline="0" dirty="0" err="1"/>
                      <a:t>Markle</a:t>
                    </a:r>
                    <a:endParaRPr lang="pl-PL" dirty="0"/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6603-405E-B21C-BFF645A67AEA}"/>
                </c:ext>
              </c:extLst>
            </c:dLbl>
            <c:dLbl>
              <c:idx val="34"/>
              <c:layout>
                <c:manualLayout>
                  <c:x val="-0.2303467088836782"/>
                  <c:y val="-0.32396931702386716"/>
                </c:manualLayout>
              </c:layout>
              <c:tx>
                <c:rich>
                  <a:bodyPr rot="0" spcFirstLastPara="1" vertOverflow="clip" horzOverflow="clip" vert="horz" wrap="square" lIns="38100" tIns="19050" rIns="38100" bIns="19050" anchor="ctr" anchorCtr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1197" b="0" i="0" u="none" strike="noStrike" kern="1200" baseline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pl-PL" sz="1197" b="0" i="0" u="none" strike="noStrike" kern="1200" baseline="0" dirty="0">
                        <a:solidFill>
                          <a:schemeClr val="tx2"/>
                        </a:solidFill>
                      </a:rPr>
                      <a:t>Obchody 73 rocznicy ślubu z Księciem Filipem</a:t>
                    </a: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>
                        <a:solidFill>
                          <a:schemeClr val="tx2"/>
                        </a:solidFill>
                      </a:defRPr>
                    </a:pPr>
                    <a:endParaRPr lang="pl-PL" dirty="0">
                      <a:solidFill>
                        <a:schemeClr val="tx2"/>
                      </a:solidFill>
                    </a:endParaRPr>
                  </a:p>
                </c:rich>
              </c:tx>
              <c:spPr>
                <a:solidFill>
                  <a:prstClr val="white"/>
                </a:solidFill>
                <a:ln w="9525" cap="flat" cmpd="sng" algn="ctr">
                  <a:solidFill>
                    <a:srgbClr val="000000">
                      <a:lumMod val="25000"/>
                      <a:lumOff val="75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  <a:extLst>
                    <a:ext uri="{C807C97D-BFC1-408E-A445-0C87EB9F89A2}">
                      <ask:lineSketchStyleProps xmlns:ask="http://schemas.microsoft.com/office/drawing/2018/sketchyshapes" sd="0">
                        <a:custGeom>
                          <a:avLst/>
                          <a:gdLst/>
                          <a:ahLst/>
                          <a:cxnLst/>
                          <a:rect l="0" t="0" r="0" b="0"/>
                          <a:pathLst/>
                        </a:custGeom>
                        <ask:type/>
                      </ask:lineSketchStyleProps>
                    </a:ext>
                  </a:extLst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1197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l-PL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7-298A-42B4-BA2C-8AEEEEF9E6BE}"/>
                </c:ext>
              </c:extLst>
            </c:dLbl>
            <c:dLbl>
              <c:idx val="39"/>
              <c:layout>
                <c:manualLayout>
                  <c:x val="-4.3135758687979329E-2"/>
                  <c:y val="-0.2714337521010779"/>
                </c:manualLayout>
              </c:layout>
              <c:tx>
                <c:rich>
                  <a:bodyPr rot="0" spcFirstLastPara="1" vertOverflow="clip" horzOverflow="clip" vert="horz" wrap="square" lIns="38100" tIns="19050" rIns="38100" bIns="19050" anchor="ctr" anchorCtr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1197" b="0" i="0" u="none" strike="noStrike" kern="1200" baseline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1197" b="0" i="0" u="none" strike="noStrike" kern="1200" baseline="0" dirty="0" err="1">
                        <a:solidFill>
                          <a:schemeClr val="tx2"/>
                        </a:solidFill>
                      </a:rPr>
                      <a:t>Śmierć</a:t>
                    </a:r>
                    <a:r>
                      <a:rPr lang="en-US" sz="1197" b="0" i="0" u="none" strike="noStrike" kern="1200" baseline="0" dirty="0">
                        <a:solidFill>
                          <a:schemeClr val="tx2"/>
                        </a:solidFill>
                      </a:rPr>
                      <a:t> </a:t>
                    </a:r>
                    <a:r>
                      <a:rPr lang="en-US" sz="1197" b="0" i="0" u="none" strike="noStrike" kern="1200" baseline="0" dirty="0" err="1">
                        <a:solidFill>
                          <a:schemeClr val="tx2"/>
                        </a:solidFill>
                      </a:rPr>
                      <a:t>Księcia</a:t>
                    </a:r>
                    <a:r>
                      <a:rPr lang="en-US" sz="1197" b="0" i="0" u="none" strike="noStrike" kern="1200" baseline="0" dirty="0">
                        <a:solidFill>
                          <a:schemeClr val="tx2"/>
                        </a:solidFill>
                      </a:rPr>
                      <a:t> Filipa</a:t>
                    </a: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>
                        <a:solidFill>
                          <a:schemeClr val="tx2"/>
                        </a:solidFill>
                      </a:defRPr>
                    </a:pPr>
                    <a:endParaRPr lang="en-US" dirty="0">
                      <a:solidFill>
                        <a:schemeClr val="tx2"/>
                      </a:solidFill>
                    </a:endParaRPr>
                  </a:p>
                </c:rich>
              </c:tx>
              <c:spPr>
                <a:solidFill>
                  <a:prstClr val="white"/>
                </a:solidFill>
                <a:ln w="9525" cap="flat" cmpd="sng" algn="ctr">
                  <a:solidFill>
                    <a:srgbClr val="000000">
                      <a:lumMod val="25000"/>
                      <a:lumOff val="75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  <a:extLst>
                    <a:ext uri="{C807C97D-BFC1-408E-A445-0C87EB9F89A2}">
                      <ask:lineSketchStyleProps xmlns:ask="http://schemas.microsoft.com/office/drawing/2018/sketchyshapes" sd="0">
                        <a:custGeom>
                          <a:avLst/>
                          <a:gdLst/>
                          <a:ahLst/>
                          <a:cxnLst/>
                          <a:rect l="0" t="0" r="0" b="0"/>
                          <a:pathLst/>
                        </a:custGeom>
                        <ask:type/>
                      </ask:lineSketchStyleProps>
                    </a:ext>
                  </a:extLst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1197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l-PL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1-6603-405E-B21C-BFF645A67AEA}"/>
                </c:ext>
              </c:extLst>
            </c:dLbl>
            <c:dLbl>
              <c:idx val="56"/>
              <c:layout>
                <c:manualLayout>
                  <c:x val="1.0645526866962766E-2"/>
                  <c:y val="-2.3349139965684093E-2"/>
                </c:manualLayout>
              </c:layout>
              <c:tx>
                <c:rich>
                  <a:bodyPr/>
                  <a:lstStyle/>
                  <a:p>
                    <a:r>
                      <a:rPr lang="en-US" dirty="0" err="1"/>
                      <a:t>Śmierć</a:t>
                    </a:r>
                    <a:r>
                      <a:rPr lang="en-US" baseline="0" dirty="0"/>
                      <a:t> </a:t>
                    </a:r>
                    <a:r>
                      <a:rPr lang="en-US" baseline="0" dirty="0" err="1"/>
                      <a:t>Elżbiety</a:t>
                    </a:r>
                    <a:r>
                      <a:rPr lang="en-US" baseline="0" dirty="0"/>
                      <a:t> II</a:t>
                    </a:r>
                    <a:endParaRPr lang="en-US" dirty="0"/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603-405E-B21C-BFF645A67AEA}"/>
                </c:ext>
              </c:extLst>
            </c:dLbl>
            <c:spPr>
              <a:solidFill>
                <a:prstClr val="white"/>
              </a:solidFill>
              <a:ln>
                <a:solidFill>
                  <a:srgbClr val="000000">
                    <a:lumMod val="25000"/>
                    <a:lumOff val="75000"/>
                  </a:srgb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pl-PL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numRef>
              <c:f>Arkusz1!$A$2:$A$105</c:f>
              <c:numCache>
                <c:formatCode>m/d/yyyy</c:formatCode>
                <c:ptCount val="104"/>
                <c:pt idx="0">
                  <c:v>43101</c:v>
                </c:pt>
                <c:pt idx="1">
                  <c:v>43132</c:v>
                </c:pt>
                <c:pt idx="2">
                  <c:v>43160</c:v>
                </c:pt>
                <c:pt idx="3">
                  <c:v>43191</c:v>
                </c:pt>
                <c:pt idx="4">
                  <c:v>43221</c:v>
                </c:pt>
                <c:pt idx="5">
                  <c:v>43252</c:v>
                </c:pt>
                <c:pt idx="6">
                  <c:v>43282</c:v>
                </c:pt>
                <c:pt idx="7">
                  <c:v>43313</c:v>
                </c:pt>
                <c:pt idx="8">
                  <c:v>43344</c:v>
                </c:pt>
                <c:pt idx="9">
                  <c:v>43374</c:v>
                </c:pt>
                <c:pt idx="10">
                  <c:v>43405</c:v>
                </c:pt>
                <c:pt idx="11">
                  <c:v>43435</c:v>
                </c:pt>
                <c:pt idx="12">
                  <c:v>43466</c:v>
                </c:pt>
                <c:pt idx="13">
                  <c:v>43497</c:v>
                </c:pt>
                <c:pt idx="14">
                  <c:v>43525</c:v>
                </c:pt>
                <c:pt idx="15">
                  <c:v>43556</c:v>
                </c:pt>
                <c:pt idx="16">
                  <c:v>43586</c:v>
                </c:pt>
                <c:pt idx="17">
                  <c:v>43617</c:v>
                </c:pt>
                <c:pt idx="18">
                  <c:v>43647</c:v>
                </c:pt>
                <c:pt idx="19">
                  <c:v>43678</c:v>
                </c:pt>
                <c:pt idx="20">
                  <c:v>43709</c:v>
                </c:pt>
                <c:pt idx="21">
                  <c:v>43739</c:v>
                </c:pt>
                <c:pt idx="22">
                  <c:v>43770</c:v>
                </c:pt>
                <c:pt idx="23">
                  <c:v>43800</c:v>
                </c:pt>
                <c:pt idx="24">
                  <c:v>43831</c:v>
                </c:pt>
                <c:pt idx="25">
                  <c:v>43862</c:v>
                </c:pt>
                <c:pt idx="26">
                  <c:v>43891</c:v>
                </c:pt>
                <c:pt idx="27">
                  <c:v>43922</c:v>
                </c:pt>
                <c:pt idx="28">
                  <c:v>43952</c:v>
                </c:pt>
                <c:pt idx="29">
                  <c:v>43983</c:v>
                </c:pt>
                <c:pt idx="30">
                  <c:v>44013</c:v>
                </c:pt>
                <c:pt idx="31">
                  <c:v>44044</c:v>
                </c:pt>
                <c:pt idx="32">
                  <c:v>44075</c:v>
                </c:pt>
                <c:pt idx="33">
                  <c:v>44105</c:v>
                </c:pt>
                <c:pt idx="34">
                  <c:v>44136</c:v>
                </c:pt>
                <c:pt idx="35">
                  <c:v>44166</c:v>
                </c:pt>
                <c:pt idx="36">
                  <c:v>44197</c:v>
                </c:pt>
                <c:pt idx="37">
                  <c:v>44228</c:v>
                </c:pt>
                <c:pt idx="38">
                  <c:v>44256</c:v>
                </c:pt>
                <c:pt idx="39">
                  <c:v>44287</c:v>
                </c:pt>
                <c:pt idx="40">
                  <c:v>44317</c:v>
                </c:pt>
                <c:pt idx="41">
                  <c:v>44348</c:v>
                </c:pt>
                <c:pt idx="42">
                  <c:v>44378</c:v>
                </c:pt>
                <c:pt idx="43">
                  <c:v>44409</c:v>
                </c:pt>
                <c:pt idx="44">
                  <c:v>44440</c:v>
                </c:pt>
                <c:pt idx="45">
                  <c:v>44470</c:v>
                </c:pt>
                <c:pt idx="46">
                  <c:v>44501</c:v>
                </c:pt>
                <c:pt idx="47">
                  <c:v>44531</c:v>
                </c:pt>
                <c:pt idx="48">
                  <c:v>44562</c:v>
                </c:pt>
                <c:pt idx="49">
                  <c:v>44593</c:v>
                </c:pt>
                <c:pt idx="50">
                  <c:v>44621</c:v>
                </c:pt>
                <c:pt idx="51">
                  <c:v>44652</c:v>
                </c:pt>
                <c:pt idx="52">
                  <c:v>44682</c:v>
                </c:pt>
                <c:pt idx="53">
                  <c:v>44713</c:v>
                </c:pt>
                <c:pt idx="54">
                  <c:v>44743</c:v>
                </c:pt>
                <c:pt idx="55">
                  <c:v>44774</c:v>
                </c:pt>
                <c:pt idx="56">
                  <c:v>44805</c:v>
                </c:pt>
                <c:pt idx="57">
                  <c:v>44835</c:v>
                </c:pt>
                <c:pt idx="58">
                  <c:v>44866</c:v>
                </c:pt>
                <c:pt idx="59">
                  <c:v>44896</c:v>
                </c:pt>
                <c:pt idx="60">
                  <c:v>44927</c:v>
                </c:pt>
                <c:pt idx="61">
                  <c:v>44958</c:v>
                </c:pt>
                <c:pt idx="62">
                  <c:v>44986</c:v>
                </c:pt>
                <c:pt idx="63">
                  <c:v>45017</c:v>
                </c:pt>
                <c:pt idx="64">
                  <c:v>45047</c:v>
                </c:pt>
                <c:pt idx="65">
                  <c:v>45078</c:v>
                </c:pt>
                <c:pt idx="66">
                  <c:v>45108</c:v>
                </c:pt>
                <c:pt idx="67">
                  <c:v>45139</c:v>
                </c:pt>
                <c:pt idx="68">
                  <c:v>45170</c:v>
                </c:pt>
                <c:pt idx="69">
                  <c:v>45200</c:v>
                </c:pt>
                <c:pt idx="70">
                  <c:v>45231</c:v>
                </c:pt>
                <c:pt idx="71">
                  <c:v>45261</c:v>
                </c:pt>
                <c:pt idx="72">
                  <c:v>45292</c:v>
                </c:pt>
                <c:pt idx="73">
                  <c:v>45323</c:v>
                </c:pt>
                <c:pt idx="74">
                  <c:v>45352</c:v>
                </c:pt>
                <c:pt idx="75">
                  <c:v>45383</c:v>
                </c:pt>
                <c:pt idx="76">
                  <c:v>45413</c:v>
                </c:pt>
                <c:pt idx="77">
                  <c:v>45444</c:v>
                </c:pt>
                <c:pt idx="78">
                  <c:v>45474</c:v>
                </c:pt>
                <c:pt idx="79">
                  <c:v>45505</c:v>
                </c:pt>
                <c:pt idx="80">
                  <c:v>45536</c:v>
                </c:pt>
                <c:pt idx="81">
                  <c:v>45566</c:v>
                </c:pt>
                <c:pt idx="82">
                  <c:v>45597</c:v>
                </c:pt>
                <c:pt idx="83">
                  <c:v>45627</c:v>
                </c:pt>
                <c:pt idx="84">
                  <c:v>45658</c:v>
                </c:pt>
                <c:pt idx="85">
                  <c:v>45689</c:v>
                </c:pt>
                <c:pt idx="86">
                  <c:v>45717</c:v>
                </c:pt>
                <c:pt idx="87">
                  <c:v>45748</c:v>
                </c:pt>
                <c:pt idx="88">
                  <c:v>45778</c:v>
                </c:pt>
                <c:pt idx="89">
                  <c:v>45809</c:v>
                </c:pt>
                <c:pt idx="90">
                  <c:v>45839</c:v>
                </c:pt>
                <c:pt idx="91">
                  <c:v>45870</c:v>
                </c:pt>
                <c:pt idx="92">
                  <c:v>45901</c:v>
                </c:pt>
                <c:pt idx="93">
                  <c:v>45931</c:v>
                </c:pt>
                <c:pt idx="94">
                  <c:v>45962</c:v>
                </c:pt>
                <c:pt idx="95">
                  <c:v>45992</c:v>
                </c:pt>
                <c:pt idx="96">
                  <c:v>46023</c:v>
                </c:pt>
                <c:pt idx="97">
                  <c:v>46054</c:v>
                </c:pt>
                <c:pt idx="98">
                  <c:v>46082</c:v>
                </c:pt>
                <c:pt idx="99">
                  <c:v>46113</c:v>
                </c:pt>
                <c:pt idx="100">
                  <c:v>46143</c:v>
                </c:pt>
                <c:pt idx="101">
                  <c:v>46174</c:v>
                </c:pt>
                <c:pt idx="102">
                  <c:v>46204</c:v>
                </c:pt>
                <c:pt idx="103">
                  <c:v>46235</c:v>
                </c:pt>
              </c:numCache>
            </c:numRef>
          </c:cat>
          <c:val>
            <c:numRef>
              <c:f>Arkusz1!$B$2:$B$105</c:f>
              <c:numCache>
                <c:formatCode>General</c:formatCode>
                <c:ptCount val="104"/>
                <c:pt idx="0">
                  <c:v>144493</c:v>
                </c:pt>
                <c:pt idx="1">
                  <c:v>97617</c:v>
                </c:pt>
                <c:pt idx="2">
                  <c:v>86240</c:v>
                </c:pt>
                <c:pt idx="3">
                  <c:v>134475</c:v>
                </c:pt>
                <c:pt idx="4">
                  <c:v>375064</c:v>
                </c:pt>
                <c:pt idx="5">
                  <c:v>118184</c:v>
                </c:pt>
                <c:pt idx="6">
                  <c:v>99867</c:v>
                </c:pt>
                <c:pt idx="7">
                  <c:v>68493</c:v>
                </c:pt>
                <c:pt idx="8">
                  <c:v>60403</c:v>
                </c:pt>
                <c:pt idx="9">
                  <c:v>107675</c:v>
                </c:pt>
                <c:pt idx="10">
                  <c:v>86502</c:v>
                </c:pt>
                <c:pt idx="11">
                  <c:v>97699</c:v>
                </c:pt>
                <c:pt idx="12">
                  <c:v>156814</c:v>
                </c:pt>
                <c:pt idx="13">
                  <c:v>95459</c:v>
                </c:pt>
                <c:pt idx="14">
                  <c:v>90494</c:v>
                </c:pt>
                <c:pt idx="15">
                  <c:v>101154</c:v>
                </c:pt>
                <c:pt idx="16">
                  <c:v>140605</c:v>
                </c:pt>
                <c:pt idx="17">
                  <c:v>88963</c:v>
                </c:pt>
                <c:pt idx="18">
                  <c:v>73949</c:v>
                </c:pt>
                <c:pt idx="19">
                  <c:v>73525</c:v>
                </c:pt>
                <c:pt idx="20">
                  <c:v>58771</c:v>
                </c:pt>
                <c:pt idx="21">
                  <c:v>65568</c:v>
                </c:pt>
                <c:pt idx="22">
                  <c:v>199955</c:v>
                </c:pt>
                <c:pt idx="23">
                  <c:v>166970</c:v>
                </c:pt>
                <c:pt idx="24">
                  <c:v>198512</c:v>
                </c:pt>
                <c:pt idx="25">
                  <c:v>96712</c:v>
                </c:pt>
                <c:pt idx="26">
                  <c:v>131951</c:v>
                </c:pt>
                <c:pt idx="27">
                  <c:v>153187</c:v>
                </c:pt>
                <c:pt idx="28">
                  <c:v>85875</c:v>
                </c:pt>
                <c:pt idx="29">
                  <c:v>75402</c:v>
                </c:pt>
                <c:pt idx="30">
                  <c:v>59104</c:v>
                </c:pt>
                <c:pt idx="31">
                  <c:v>67302</c:v>
                </c:pt>
                <c:pt idx="32">
                  <c:v>67736</c:v>
                </c:pt>
                <c:pt idx="33">
                  <c:v>95625</c:v>
                </c:pt>
                <c:pt idx="34">
                  <c:v>631869</c:v>
                </c:pt>
                <c:pt idx="35">
                  <c:v>505906</c:v>
                </c:pt>
                <c:pt idx="36">
                  <c:v>323138</c:v>
                </c:pt>
                <c:pt idx="37">
                  <c:v>199731</c:v>
                </c:pt>
                <c:pt idx="38">
                  <c:v>330514</c:v>
                </c:pt>
                <c:pt idx="39">
                  <c:v>932081</c:v>
                </c:pt>
                <c:pt idx="40">
                  <c:v>118044</c:v>
                </c:pt>
                <c:pt idx="41">
                  <c:v>81910</c:v>
                </c:pt>
                <c:pt idx="42">
                  <c:v>82489</c:v>
                </c:pt>
                <c:pt idx="43">
                  <c:v>72238</c:v>
                </c:pt>
                <c:pt idx="44">
                  <c:v>75262</c:v>
                </c:pt>
                <c:pt idx="45">
                  <c:v>93208</c:v>
                </c:pt>
                <c:pt idx="46">
                  <c:v>107871</c:v>
                </c:pt>
                <c:pt idx="47">
                  <c:v>97380</c:v>
                </c:pt>
                <c:pt idx="48">
                  <c:v>108876</c:v>
                </c:pt>
                <c:pt idx="49">
                  <c:v>160475</c:v>
                </c:pt>
                <c:pt idx="50">
                  <c:v>71090</c:v>
                </c:pt>
                <c:pt idx="51">
                  <c:v>95350</c:v>
                </c:pt>
                <c:pt idx="52">
                  <c:v>81374</c:v>
                </c:pt>
                <c:pt idx="53">
                  <c:v>136118</c:v>
                </c:pt>
                <c:pt idx="54">
                  <c:v>64773</c:v>
                </c:pt>
                <c:pt idx="55">
                  <c:v>56130</c:v>
                </c:pt>
                <c:pt idx="56">
                  <c:v>2060640</c:v>
                </c:pt>
                <c:pt idx="57">
                  <c:v>115027</c:v>
                </c:pt>
                <c:pt idx="58">
                  <c:v>159108</c:v>
                </c:pt>
                <c:pt idx="59">
                  <c:v>89680</c:v>
                </c:pt>
                <c:pt idx="60">
                  <c:v>78603</c:v>
                </c:pt>
                <c:pt idx="61">
                  <c:v>46833</c:v>
                </c:pt>
                <c:pt idx="62">
                  <c:v>50690</c:v>
                </c:pt>
                <c:pt idx="63">
                  <c:v>54220</c:v>
                </c:pt>
                <c:pt idx="64">
                  <c:v>226682</c:v>
                </c:pt>
                <c:pt idx="65">
                  <c:v>31620</c:v>
                </c:pt>
                <c:pt idx="66">
                  <c:v>26717</c:v>
                </c:pt>
                <c:pt idx="67">
                  <c:v>30496</c:v>
                </c:pt>
                <c:pt idx="68">
                  <c:v>30704</c:v>
                </c:pt>
                <c:pt idx="69">
                  <c:v>26923</c:v>
                </c:pt>
                <c:pt idx="70">
                  <c:v>54409</c:v>
                </c:pt>
                <c:pt idx="71">
                  <c:v>99082</c:v>
                </c:pt>
                <c:pt idx="72">
                  <c:v>70150</c:v>
                </c:pt>
                <c:pt idx="73">
                  <c:v>52402</c:v>
                </c:pt>
                <c:pt idx="74">
                  <c:v>41690</c:v>
                </c:pt>
                <c:pt idx="75">
                  <c:v>33836</c:v>
                </c:pt>
                <c:pt idx="76">
                  <c:v>28177</c:v>
                </c:pt>
                <c:pt idx="77">
                  <c:v>26740</c:v>
                </c:pt>
                <c:pt idx="78">
                  <c:v>34836</c:v>
                </c:pt>
                <c:pt idx="79">
                  <c:v>26276</c:v>
                </c:pt>
                <c:pt idx="80">
                  <c:v>29725</c:v>
                </c:pt>
                <c:pt idx="81">
                  <c:v>27763</c:v>
                </c:pt>
                <c:pt idx="82">
                  <c:v>32114</c:v>
                </c:pt>
                <c:pt idx="83">
                  <c:v>30819</c:v>
                </c:pt>
                <c:pt idx="84">
                  <c:v>34989</c:v>
                </c:pt>
                <c:pt idx="85">
                  <c:v>31270</c:v>
                </c:pt>
                <c:pt idx="86">
                  <c:v>32749</c:v>
                </c:pt>
                <c:pt idx="87">
                  <c:v>29308</c:v>
                </c:pt>
                <c:pt idx="88">
                  <c:v>21985</c:v>
                </c:pt>
                <c:pt idx="89">
                  <c:v>17903</c:v>
                </c:pt>
                <c:pt idx="90">
                  <c:v>25998</c:v>
                </c:pt>
                <c:pt idx="91">
                  <c:v>26678</c:v>
                </c:pt>
                <c:pt idx="92">
                  <c:v>29825</c:v>
                </c:pt>
                <c:pt idx="93">
                  <c:v>28897</c:v>
                </c:pt>
                <c:pt idx="94">
                  <c:v>28915</c:v>
                </c:pt>
                <c:pt idx="95">
                  <c:v>27559</c:v>
                </c:pt>
                <c:pt idx="96">
                  <c:v>29673</c:v>
                </c:pt>
                <c:pt idx="97">
                  <c:v>41238</c:v>
                </c:pt>
                <c:pt idx="98">
                  <c:v>25981</c:v>
                </c:pt>
                <c:pt idx="99">
                  <c:v>29279</c:v>
                </c:pt>
                <c:pt idx="100">
                  <c:v>22758</c:v>
                </c:pt>
                <c:pt idx="101">
                  <c:v>20851</c:v>
                </c:pt>
                <c:pt idx="102">
                  <c:v>20094</c:v>
                </c:pt>
                <c:pt idx="103">
                  <c:v>26023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98A-42B4-BA2C-8AEEEEF9E6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62609072"/>
        <c:axId val="1473956560"/>
      </c:lineChart>
      <c:dateAx>
        <c:axId val="1462609072"/>
        <c:scaling>
          <c:orientation val="minMax"/>
        </c:scaling>
        <c:delete val="0"/>
        <c:axPos val="b"/>
        <c:numFmt formatCode="yyyy" sourceLinked="0"/>
        <c:majorTickMark val="in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473956560"/>
        <c:crosses val="autoZero"/>
        <c:auto val="1"/>
        <c:lblOffset val="100"/>
        <c:baseTimeUnit val="months"/>
        <c:majorUnit val="12"/>
        <c:majorTimeUnit val="months"/>
      </c:dateAx>
      <c:valAx>
        <c:axId val="14739565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462609072"/>
        <c:crosses val="autoZero"/>
        <c:crossBetween val="between"/>
        <c:dispUnits>
          <c:builtInUnit val="millions"/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2"/>
    </a:solidFill>
    <a:ln>
      <a:noFill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pl-PL" sz="1800" dirty="0">
                <a:solidFill>
                  <a:schemeClr val="tx1"/>
                </a:solidFill>
              </a:rPr>
              <a:t>Przebieg wyświetleń</a:t>
            </a:r>
            <a:r>
              <a:rPr lang="pl-PL" sz="1800" baseline="0" dirty="0">
                <a:solidFill>
                  <a:schemeClr val="tx1"/>
                </a:solidFill>
              </a:rPr>
              <a:t> strony Iga Świątek</a:t>
            </a:r>
            <a:r>
              <a:rPr lang="pl-PL" sz="1800" dirty="0">
                <a:solidFill>
                  <a:schemeClr val="tx1"/>
                </a:solidFill>
              </a:rPr>
              <a:t> [tys.][2]</a:t>
            </a:r>
            <a:endParaRPr lang="en-US" sz="1800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3603301286851403E-2"/>
          <c:y val="0.10213800904457435"/>
          <c:w val="0.94418872912625051"/>
          <c:h val="0.64714071855599353"/>
        </c:manualLayout>
      </c:layout>
      <c:lineChart>
        <c:grouping val="standard"/>
        <c:varyColors val="0"/>
        <c:ser>
          <c:idx val="0"/>
          <c:order val="0"/>
          <c:tx>
            <c:strRef>
              <c:f>Arkusz1!$B$1</c:f>
              <c:strCache>
                <c:ptCount val="1"/>
                <c:pt idx="0">
                  <c:v>Iga Świątek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Arkusz1!$A$2:$A$105</c:f>
              <c:numCache>
                <c:formatCode>m/d/yyyy</c:formatCode>
                <c:ptCount val="104"/>
                <c:pt idx="0">
                  <c:v>43101</c:v>
                </c:pt>
                <c:pt idx="1">
                  <c:v>43132</c:v>
                </c:pt>
                <c:pt idx="2">
                  <c:v>43160</c:v>
                </c:pt>
                <c:pt idx="3">
                  <c:v>43191</c:v>
                </c:pt>
                <c:pt idx="4">
                  <c:v>43221</c:v>
                </c:pt>
                <c:pt idx="5">
                  <c:v>43252</c:v>
                </c:pt>
                <c:pt idx="6">
                  <c:v>43282</c:v>
                </c:pt>
                <c:pt idx="7">
                  <c:v>43313</c:v>
                </c:pt>
                <c:pt idx="8">
                  <c:v>43344</c:v>
                </c:pt>
                <c:pt idx="9">
                  <c:v>43374</c:v>
                </c:pt>
                <c:pt idx="10">
                  <c:v>43405</c:v>
                </c:pt>
                <c:pt idx="11">
                  <c:v>43435</c:v>
                </c:pt>
                <c:pt idx="12">
                  <c:v>43466</c:v>
                </c:pt>
                <c:pt idx="13">
                  <c:v>43497</c:v>
                </c:pt>
                <c:pt idx="14">
                  <c:v>43525</c:v>
                </c:pt>
                <c:pt idx="15">
                  <c:v>43556</c:v>
                </c:pt>
                <c:pt idx="16">
                  <c:v>43586</c:v>
                </c:pt>
                <c:pt idx="17">
                  <c:v>43617</c:v>
                </c:pt>
                <c:pt idx="18">
                  <c:v>43647</c:v>
                </c:pt>
                <c:pt idx="19">
                  <c:v>43678</c:v>
                </c:pt>
                <c:pt idx="20">
                  <c:v>43709</c:v>
                </c:pt>
                <c:pt idx="21">
                  <c:v>43739</c:v>
                </c:pt>
                <c:pt idx="22">
                  <c:v>43770</c:v>
                </c:pt>
                <c:pt idx="23">
                  <c:v>43800</c:v>
                </c:pt>
                <c:pt idx="24">
                  <c:v>43831</c:v>
                </c:pt>
                <c:pt idx="25">
                  <c:v>43862</c:v>
                </c:pt>
                <c:pt idx="26">
                  <c:v>43891</c:v>
                </c:pt>
                <c:pt idx="27">
                  <c:v>43922</c:v>
                </c:pt>
                <c:pt idx="28">
                  <c:v>43952</c:v>
                </c:pt>
                <c:pt idx="29">
                  <c:v>43983</c:v>
                </c:pt>
                <c:pt idx="30">
                  <c:v>44013</c:v>
                </c:pt>
                <c:pt idx="31">
                  <c:v>44044</c:v>
                </c:pt>
                <c:pt idx="32">
                  <c:v>44075</c:v>
                </c:pt>
                <c:pt idx="33">
                  <c:v>44105</c:v>
                </c:pt>
                <c:pt idx="34">
                  <c:v>44136</c:v>
                </c:pt>
                <c:pt idx="35">
                  <c:v>44166</c:v>
                </c:pt>
                <c:pt idx="36">
                  <c:v>44197</c:v>
                </c:pt>
                <c:pt idx="37">
                  <c:v>44228</c:v>
                </c:pt>
                <c:pt idx="38">
                  <c:v>44256</c:v>
                </c:pt>
                <c:pt idx="39">
                  <c:v>44287</c:v>
                </c:pt>
                <c:pt idx="40">
                  <c:v>44317</c:v>
                </c:pt>
                <c:pt idx="41">
                  <c:v>44348</c:v>
                </c:pt>
                <c:pt idx="42">
                  <c:v>44378</c:v>
                </c:pt>
                <c:pt idx="43">
                  <c:v>44409</c:v>
                </c:pt>
                <c:pt idx="44">
                  <c:v>44440</c:v>
                </c:pt>
                <c:pt idx="45">
                  <c:v>44470</c:v>
                </c:pt>
                <c:pt idx="46">
                  <c:v>44501</c:v>
                </c:pt>
                <c:pt idx="47">
                  <c:v>44531</c:v>
                </c:pt>
                <c:pt idx="48">
                  <c:v>44562</c:v>
                </c:pt>
                <c:pt idx="49">
                  <c:v>44593</c:v>
                </c:pt>
                <c:pt idx="50">
                  <c:v>44621</c:v>
                </c:pt>
                <c:pt idx="51">
                  <c:v>44652</c:v>
                </c:pt>
                <c:pt idx="52">
                  <c:v>44682</c:v>
                </c:pt>
                <c:pt idx="53">
                  <c:v>44713</c:v>
                </c:pt>
                <c:pt idx="54">
                  <c:v>44743</c:v>
                </c:pt>
                <c:pt idx="55">
                  <c:v>44774</c:v>
                </c:pt>
                <c:pt idx="56">
                  <c:v>44805</c:v>
                </c:pt>
                <c:pt idx="57">
                  <c:v>44835</c:v>
                </c:pt>
                <c:pt idx="58">
                  <c:v>44866</c:v>
                </c:pt>
                <c:pt idx="59">
                  <c:v>44896</c:v>
                </c:pt>
                <c:pt idx="60">
                  <c:v>44927</c:v>
                </c:pt>
                <c:pt idx="61">
                  <c:v>44958</c:v>
                </c:pt>
                <c:pt idx="62">
                  <c:v>44986</c:v>
                </c:pt>
                <c:pt idx="63">
                  <c:v>45017</c:v>
                </c:pt>
                <c:pt idx="64">
                  <c:v>45047</c:v>
                </c:pt>
                <c:pt idx="65">
                  <c:v>45078</c:v>
                </c:pt>
                <c:pt idx="66">
                  <c:v>45108</c:v>
                </c:pt>
                <c:pt idx="67">
                  <c:v>45139</c:v>
                </c:pt>
                <c:pt idx="68">
                  <c:v>45170</c:v>
                </c:pt>
                <c:pt idx="69">
                  <c:v>45200</c:v>
                </c:pt>
                <c:pt idx="70">
                  <c:v>45231</c:v>
                </c:pt>
                <c:pt idx="71">
                  <c:v>45261</c:v>
                </c:pt>
                <c:pt idx="72">
                  <c:v>45292</c:v>
                </c:pt>
                <c:pt idx="73">
                  <c:v>45323</c:v>
                </c:pt>
                <c:pt idx="74">
                  <c:v>45352</c:v>
                </c:pt>
                <c:pt idx="75">
                  <c:v>45383</c:v>
                </c:pt>
                <c:pt idx="76">
                  <c:v>45413</c:v>
                </c:pt>
                <c:pt idx="77">
                  <c:v>45444</c:v>
                </c:pt>
                <c:pt idx="78">
                  <c:v>45474</c:v>
                </c:pt>
                <c:pt idx="79">
                  <c:v>45505</c:v>
                </c:pt>
                <c:pt idx="80">
                  <c:v>45536</c:v>
                </c:pt>
                <c:pt idx="81">
                  <c:v>45566</c:v>
                </c:pt>
                <c:pt idx="82">
                  <c:v>45597</c:v>
                </c:pt>
                <c:pt idx="83">
                  <c:v>45627</c:v>
                </c:pt>
                <c:pt idx="84">
                  <c:v>45658</c:v>
                </c:pt>
                <c:pt idx="85">
                  <c:v>45689</c:v>
                </c:pt>
                <c:pt idx="86">
                  <c:v>45717</c:v>
                </c:pt>
                <c:pt idx="87">
                  <c:v>45748</c:v>
                </c:pt>
                <c:pt idx="88">
                  <c:v>45778</c:v>
                </c:pt>
                <c:pt idx="89">
                  <c:v>45809</c:v>
                </c:pt>
                <c:pt idx="90">
                  <c:v>45839</c:v>
                </c:pt>
                <c:pt idx="91">
                  <c:v>45870</c:v>
                </c:pt>
                <c:pt idx="92">
                  <c:v>45901</c:v>
                </c:pt>
                <c:pt idx="93">
                  <c:v>45931</c:v>
                </c:pt>
                <c:pt idx="94">
                  <c:v>45962</c:v>
                </c:pt>
                <c:pt idx="95">
                  <c:v>45992</c:v>
                </c:pt>
                <c:pt idx="96">
                  <c:v>46023</c:v>
                </c:pt>
                <c:pt idx="97">
                  <c:v>46054</c:v>
                </c:pt>
                <c:pt idx="98">
                  <c:v>46082</c:v>
                </c:pt>
                <c:pt idx="99">
                  <c:v>46113</c:v>
                </c:pt>
                <c:pt idx="100">
                  <c:v>46143</c:v>
                </c:pt>
                <c:pt idx="101">
                  <c:v>46174</c:v>
                </c:pt>
                <c:pt idx="102">
                  <c:v>46204</c:v>
                </c:pt>
                <c:pt idx="103">
                  <c:v>46235</c:v>
                </c:pt>
              </c:numCache>
            </c:numRef>
          </c:cat>
          <c:val>
            <c:numRef>
              <c:f>Arkusz1!$B$2:$B$105</c:f>
              <c:numCache>
                <c:formatCode>General</c:formatCode>
                <c:ptCount val="104"/>
                <c:pt idx="0">
                  <c:v>653</c:v>
                </c:pt>
                <c:pt idx="1">
                  <c:v>1014</c:v>
                </c:pt>
                <c:pt idx="2">
                  <c:v>496</c:v>
                </c:pt>
                <c:pt idx="3">
                  <c:v>3007</c:v>
                </c:pt>
                <c:pt idx="4">
                  <c:v>3760</c:v>
                </c:pt>
                <c:pt idx="5">
                  <c:v>8328</c:v>
                </c:pt>
                <c:pt idx="6">
                  <c:v>36928</c:v>
                </c:pt>
                <c:pt idx="7">
                  <c:v>2477</c:v>
                </c:pt>
                <c:pt idx="8">
                  <c:v>6395</c:v>
                </c:pt>
                <c:pt idx="9">
                  <c:v>3673</c:v>
                </c:pt>
                <c:pt idx="10">
                  <c:v>2409</c:v>
                </c:pt>
                <c:pt idx="11">
                  <c:v>3302</c:v>
                </c:pt>
                <c:pt idx="12">
                  <c:v>16784</c:v>
                </c:pt>
                <c:pt idx="13">
                  <c:v>6414</c:v>
                </c:pt>
                <c:pt idx="14">
                  <c:v>2878</c:v>
                </c:pt>
                <c:pt idx="15">
                  <c:v>21265</c:v>
                </c:pt>
                <c:pt idx="16">
                  <c:v>10211</c:v>
                </c:pt>
                <c:pt idx="17">
                  <c:v>16548</c:v>
                </c:pt>
                <c:pt idx="18">
                  <c:v>5133</c:v>
                </c:pt>
                <c:pt idx="19">
                  <c:v>17307</c:v>
                </c:pt>
                <c:pt idx="20">
                  <c:v>2028</c:v>
                </c:pt>
                <c:pt idx="21">
                  <c:v>935</c:v>
                </c:pt>
                <c:pt idx="22">
                  <c:v>1242</c:v>
                </c:pt>
                <c:pt idx="23">
                  <c:v>874</c:v>
                </c:pt>
                <c:pt idx="24">
                  <c:v>14186</c:v>
                </c:pt>
                <c:pt idx="25">
                  <c:v>3070</c:v>
                </c:pt>
                <c:pt idx="26">
                  <c:v>893</c:v>
                </c:pt>
                <c:pt idx="27">
                  <c:v>1805</c:v>
                </c:pt>
                <c:pt idx="28">
                  <c:v>1251</c:v>
                </c:pt>
                <c:pt idx="29">
                  <c:v>1693</c:v>
                </c:pt>
                <c:pt idx="30">
                  <c:v>1202</c:v>
                </c:pt>
                <c:pt idx="31">
                  <c:v>2605</c:v>
                </c:pt>
                <c:pt idx="32">
                  <c:v>7774</c:v>
                </c:pt>
                <c:pt idx="33">
                  <c:v>572375</c:v>
                </c:pt>
                <c:pt idx="34">
                  <c:v>17233</c:v>
                </c:pt>
                <c:pt idx="35">
                  <c:v>11320</c:v>
                </c:pt>
                <c:pt idx="36">
                  <c:v>23791</c:v>
                </c:pt>
                <c:pt idx="37">
                  <c:v>67800</c:v>
                </c:pt>
                <c:pt idx="38">
                  <c:v>27164</c:v>
                </c:pt>
                <c:pt idx="39">
                  <c:v>15187</c:v>
                </c:pt>
                <c:pt idx="40">
                  <c:v>54552</c:v>
                </c:pt>
                <c:pt idx="41">
                  <c:v>75102</c:v>
                </c:pt>
                <c:pt idx="42">
                  <c:v>42576</c:v>
                </c:pt>
                <c:pt idx="43">
                  <c:v>7114</c:v>
                </c:pt>
                <c:pt idx="44">
                  <c:v>17297</c:v>
                </c:pt>
                <c:pt idx="45">
                  <c:v>7917</c:v>
                </c:pt>
                <c:pt idx="46">
                  <c:v>9354</c:v>
                </c:pt>
                <c:pt idx="47">
                  <c:v>6321</c:v>
                </c:pt>
                <c:pt idx="48">
                  <c:v>66418</c:v>
                </c:pt>
                <c:pt idx="49">
                  <c:v>21482</c:v>
                </c:pt>
                <c:pt idx="50">
                  <c:v>78025</c:v>
                </c:pt>
                <c:pt idx="51">
                  <c:v>120751</c:v>
                </c:pt>
                <c:pt idx="52">
                  <c:v>102025</c:v>
                </c:pt>
                <c:pt idx="53">
                  <c:v>251771</c:v>
                </c:pt>
                <c:pt idx="54">
                  <c:v>37087</c:v>
                </c:pt>
                <c:pt idx="55">
                  <c:v>15795</c:v>
                </c:pt>
                <c:pt idx="56">
                  <c:v>155521</c:v>
                </c:pt>
                <c:pt idx="57">
                  <c:v>38265</c:v>
                </c:pt>
                <c:pt idx="58">
                  <c:v>24337</c:v>
                </c:pt>
                <c:pt idx="59">
                  <c:v>14462</c:v>
                </c:pt>
                <c:pt idx="60">
                  <c:v>88435</c:v>
                </c:pt>
                <c:pt idx="61">
                  <c:v>51815</c:v>
                </c:pt>
                <c:pt idx="62">
                  <c:v>29360</c:v>
                </c:pt>
                <c:pt idx="63">
                  <c:v>36341</c:v>
                </c:pt>
                <c:pt idx="64">
                  <c:v>62509</c:v>
                </c:pt>
                <c:pt idx="65">
                  <c:v>270738</c:v>
                </c:pt>
                <c:pt idx="66">
                  <c:v>125497</c:v>
                </c:pt>
                <c:pt idx="67">
                  <c:v>49908</c:v>
                </c:pt>
                <c:pt idx="68">
                  <c:v>40639</c:v>
                </c:pt>
                <c:pt idx="69">
                  <c:v>32484</c:v>
                </c:pt>
                <c:pt idx="70">
                  <c:v>77202</c:v>
                </c:pt>
                <c:pt idx="71">
                  <c:v>20296</c:v>
                </c:pt>
                <c:pt idx="72">
                  <c:v>87152</c:v>
                </c:pt>
                <c:pt idx="73">
                  <c:v>58812</c:v>
                </c:pt>
                <c:pt idx="74">
                  <c:v>77396</c:v>
                </c:pt>
                <c:pt idx="75">
                  <c:v>48437</c:v>
                </c:pt>
                <c:pt idx="76">
                  <c:v>175038</c:v>
                </c:pt>
                <c:pt idx="77">
                  <c:v>240368</c:v>
                </c:pt>
                <c:pt idx="78">
                  <c:v>97073</c:v>
                </c:pt>
                <c:pt idx="79">
                  <c:v>118940</c:v>
                </c:pt>
                <c:pt idx="80">
                  <c:v>40517</c:v>
                </c:pt>
                <c:pt idx="81">
                  <c:v>23714</c:v>
                </c:pt>
                <c:pt idx="82">
                  <c:v>27422</c:v>
                </c:pt>
                <c:pt idx="83">
                  <c:v>15316</c:v>
                </c:pt>
                <c:pt idx="84">
                  <c:v>88222</c:v>
                </c:pt>
                <c:pt idx="85">
                  <c:v>28762</c:v>
                </c:pt>
                <c:pt idx="86">
                  <c:v>28445</c:v>
                </c:pt>
                <c:pt idx="87">
                  <c:v>17945</c:v>
                </c:pt>
                <c:pt idx="88">
                  <c:v>29504</c:v>
                </c:pt>
                <c:pt idx="89">
                  <c:v>59003</c:v>
                </c:pt>
                <c:pt idx="90">
                  <c:v>370899</c:v>
                </c:pt>
                <c:pt idx="91">
                  <c:v>88578</c:v>
                </c:pt>
                <c:pt idx="92">
                  <c:v>69044</c:v>
                </c:pt>
                <c:pt idx="93">
                  <c:v>22683</c:v>
                </c:pt>
                <c:pt idx="94">
                  <c:v>25858</c:v>
                </c:pt>
                <c:pt idx="95">
                  <c:v>14753</c:v>
                </c:pt>
                <c:pt idx="96">
                  <c:v>70226</c:v>
                </c:pt>
                <c:pt idx="97">
                  <c:v>27615</c:v>
                </c:pt>
                <c:pt idx="98">
                  <c:v>27910</c:v>
                </c:pt>
                <c:pt idx="99">
                  <c:v>21060</c:v>
                </c:pt>
                <c:pt idx="100">
                  <c:v>50230</c:v>
                </c:pt>
                <c:pt idx="101">
                  <c:v>139857</c:v>
                </c:pt>
                <c:pt idx="102">
                  <c:v>31837</c:v>
                </c:pt>
                <c:pt idx="103">
                  <c:v>48439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98A-42B4-BA2C-8AEEEEF9E6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62609072"/>
        <c:axId val="1473956560"/>
      </c:lineChart>
      <c:dateAx>
        <c:axId val="1462609072"/>
        <c:scaling>
          <c:orientation val="minMax"/>
        </c:scaling>
        <c:delete val="0"/>
        <c:axPos val="b"/>
        <c:numFmt formatCode="yyyy" sourceLinked="0"/>
        <c:majorTickMark val="in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473956560"/>
        <c:crosses val="autoZero"/>
        <c:auto val="1"/>
        <c:lblOffset val="100"/>
        <c:baseTimeUnit val="months"/>
        <c:majorUnit val="12"/>
        <c:majorTimeUnit val="months"/>
      </c:dateAx>
      <c:valAx>
        <c:axId val="14739565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462609072"/>
        <c:crosses val="autoZero"/>
        <c:crossBetween val="between"/>
        <c:dispUnits>
          <c:builtInUnit val="thousands"/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2"/>
    </a:solidFill>
    <a:ln>
      <a:noFill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pl-PL" sz="1800" dirty="0">
                <a:solidFill>
                  <a:schemeClr val="tx1"/>
                </a:solidFill>
              </a:rPr>
              <a:t>Przebieg wyświetleń</a:t>
            </a:r>
            <a:r>
              <a:rPr lang="pl-PL" sz="1800" baseline="0" dirty="0">
                <a:solidFill>
                  <a:schemeClr val="tx1"/>
                </a:solidFill>
              </a:rPr>
              <a:t> strony </a:t>
            </a:r>
            <a:r>
              <a:rPr lang="pl-PL" sz="1800" baseline="0" dirty="0" err="1">
                <a:solidFill>
                  <a:schemeClr val="tx1"/>
                </a:solidFill>
              </a:rPr>
              <a:t>Freddie</a:t>
            </a:r>
            <a:r>
              <a:rPr lang="pl-PL" sz="1800" baseline="0" dirty="0">
                <a:solidFill>
                  <a:schemeClr val="tx1"/>
                </a:solidFill>
              </a:rPr>
              <a:t> </a:t>
            </a:r>
            <a:r>
              <a:rPr lang="pl-PL" sz="1800" baseline="0" dirty="0" err="1">
                <a:solidFill>
                  <a:schemeClr val="tx1"/>
                </a:solidFill>
              </a:rPr>
              <a:t>Mercury</a:t>
            </a:r>
            <a:r>
              <a:rPr lang="pl-PL" sz="1800" baseline="0" dirty="0">
                <a:solidFill>
                  <a:schemeClr val="tx1"/>
                </a:solidFill>
              </a:rPr>
              <a:t> </a:t>
            </a:r>
            <a:r>
              <a:rPr lang="pl-PL" sz="1800" dirty="0">
                <a:solidFill>
                  <a:schemeClr val="tx1"/>
                </a:solidFill>
              </a:rPr>
              <a:t>[tys.][2]</a:t>
            </a:r>
            <a:endParaRPr lang="en-US" sz="1800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3603301286851403E-2"/>
          <c:y val="0.1663481439502057"/>
          <c:w val="0.94418872912625051"/>
          <c:h val="0.5829305836503621"/>
        </c:manualLayout>
      </c:layout>
      <c:lineChart>
        <c:grouping val="standard"/>
        <c:varyColors val="0"/>
        <c:ser>
          <c:idx val="0"/>
          <c:order val="0"/>
          <c:tx>
            <c:strRef>
              <c:f>Arkusz1!$B$1</c:f>
              <c:strCache>
                <c:ptCount val="1"/>
                <c:pt idx="0">
                  <c:v>Freddie Mercury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10"/>
              <c:layout>
                <c:manualLayout>
                  <c:x val="1.0645526866962735E-2"/>
                  <c:y val="7.8803347384183903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Premiera filmu Bohemian Rapsody</a:t>
                    </a: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D6FE-4D5B-A63F-93FE995277E8}"/>
                </c:ext>
              </c:extLst>
            </c:dLbl>
            <c:dLbl>
              <c:idx val="46"/>
              <c:layout>
                <c:manualLayout>
                  <c:x val="1.4194035822617088E-2"/>
                  <c:y val="-1.1674569982842059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30-ta </a:t>
                    </a:r>
                    <a:r>
                      <a:rPr lang="en-US" dirty="0" err="1"/>
                      <a:t>rocznica</a:t>
                    </a:r>
                    <a:r>
                      <a:rPr lang="en-US" baseline="0" dirty="0"/>
                      <a:t> </a:t>
                    </a:r>
                    <a:r>
                      <a:rPr lang="en-US" baseline="0" dirty="0" err="1"/>
                      <a:t>śmierci</a:t>
                    </a:r>
                    <a:endParaRPr lang="en-US" dirty="0"/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6FE-4D5B-A63F-93FE995277E8}"/>
                </c:ext>
              </c:extLst>
            </c:dLbl>
            <c:spPr>
              <a:solidFill>
                <a:prstClr val="white"/>
              </a:solidFill>
              <a:ln>
                <a:solidFill>
                  <a:srgbClr val="000000">
                    <a:lumMod val="25000"/>
                    <a:lumOff val="75000"/>
                  </a:srgb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pl-PL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numRef>
              <c:f>Arkusz1!$A$2:$A$105</c:f>
              <c:numCache>
                <c:formatCode>m/d/yyyy</c:formatCode>
                <c:ptCount val="104"/>
                <c:pt idx="0">
                  <c:v>43101</c:v>
                </c:pt>
                <c:pt idx="1">
                  <c:v>43132</c:v>
                </c:pt>
                <c:pt idx="2">
                  <c:v>43160</c:v>
                </c:pt>
                <c:pt idx="3">
                  <c:v>43191</c:v>
                </c:pt>
                <c:pt idx="4">
                  <c:v>43221</c:v>
                </c:pt>
                <c:pt idx="5">
                  <c:v>43252</c:v>
                </c:pt>
                <c:pt idx="6">
                  <c:v>43282</c:v>
                </c:pt>
                <c:pt idx="7">
                  <c:v>43313</c:v>
                </c:pt>
                <c:pt idx="8">
                  <c:v>43344</c:v>
                </c:pt>
                <c:pt idx="9">
                  <c:v>43374</c:v>
                </c:pt>
                <c:pt idx="10">
                  <c:v>43405</c:v>
                </c:pt>
                <c:pt idx="11">
                  <c:v>43435</c:v>
                </c:pt>
                <c:pt idx="12">
                  <c:v>43466</c:v>
                </c:pt>
                <c:pt idx="13">
                  <c:v>43497</c:v>
                </c:pt>
                <c:pt idx="14">
                  <c:v>43525</c:v>
                </c:pt>
                <c:pt idx="15">
                  <c:v>43556</c:v>
                </c:pt>
                <c:pt idx="16">
                  <c:v>43586</c:v>
                </c:pt>
                <c:pt idx="17">
                  <c:v>43617</c:v>
                </c:pt>
                <c:pt idx="18">
                  <c:v>43647</c:v>
                </c:pt>
                <c:pt idx="19">
                  <c:v>43678</c:v>
                </c:pt>
                <c:pt idx="20">
                  <c:v>43709</c:v>
                </c:pt>
                <c:pt idx="21">
                  <c:v>43739</c:v>
                </c:pt>
                <c:pt idx="22">
                  <c:v>43770</c:v>
                </c:pt>
                <c:pt idx="23">
                  <c:v>43800</c:v>
                </c:pt>
                <c:pt idx="24">
                  <c:v>43831</c:v>
                </c:pt>
                <c:pt idx="25">
                  <c:v>43862</c:v>
                </c:pt>
                <c:pt idx="26">
                  <c:v>43891</c:v>
                </c:pt>
                <c:pt idx="27">
                  <c:v>43922</c:v>
                </c:pt>
                <c:pt idx="28">
                  <c:v>43952</c:v>
                </c:pt>
                <c:pt idx="29">
                  <c:v>43983</c:v>
                </c:pt>
                <c:pt idx="30">
                  <c:v>44013</c:v>
                </c:pt>
                <c:pt idx="31">
                  <c:v>44044</c:v>
                </c:pt>
                <c:pt idx="32">
                  <c:v>44075</c:v>
                </c:pt>
                <c:pt idx="33">
                  <c:v>44105</c:v>
                </c:pt>
                <c:pt idx="34">
                  <c:v>44136</c:v>
                </c:pt>
                <c:pt idx="35">
                  <c:v>44166</c:v>
                </c:pt>
                <c:pt idx="36">
                  <c:v>44197</c:v>
                </c:pt>
                <c:pt idx="37">
                  <c:v>44228</c:v>
                </c:pt>
                <c:pt idx="38">
                  <c:v>44256</c:v>
                </c:pt>
                <c:pt idx="39">
                  <c:v>44287</c:v>
                </c:pt>
                <c:pt idx="40">
                  <c:v>44317</c:v>
                </c:pt>
                <c:pt idx="41">
                  <c:v>44348</c:v>
                </c:pt>
                <c:pt idx="42">
                  <c:v>44378</c:v>
                </c:pt>
                <c:pt idx="43">
                  <c:v>44409</c:v>
                </c:pt>
                <c:pt idx="44">
                  <c:v>44440</c:v>
                </c:pt>
                <c:pt idx="45">
                  <c:v>44470</c:v>
                </c:pt>
                <c:pt idx="46">
                  <c:v>44501</c:v>
                </c:pt>
                <c:pt idx="47">
                  <c:v>44531</c:v>
                </c:pt>
                <c:pt idx="48">
                  <c:v>44562</c:v>
                </c:pt>
                <c:pt idx="49">
                  <c:v>44593</c:v>
                </c:pt>
                <c:pt idx="50">
                  <c:v>44621</c:v>
                </c:pt>
                <c:pt idx="51">
                  <c:v>44652</c:v>
                </c:pt>
                <c:pt idx="52">
                  <c:v>44682</c:v>
                </c:pt>
                <c:pt idx="53">
                  <c:v>44713</c:v>
                </c:pt>
                <c:pt idx="54">
                  <c:v>44743</c:v>
                </c:pt>
                <c:pt idx="55">
                  <c:v>44774</c:v>
                </c:pt>
                <c:pt idx="56">
                  <c:v>44805</c:v>
                </c:pt>
                <c:pt idx="57">
                  <c:v>44835</c:v>
                </c:pt>
                <c:pt idx="58">
                  <c:v>44866</c:v>
                </c:pt>
                <c:pt idx="59">
                  <c:v>44896</c:v>
                </c:pt>
                <c:pt idx="60">
                  <c:v>44927</c:v>
                </c:pt>
                <c:pt idx="61">
                  <c:v>44958</c:v>
                </c:pt>
                <c:pt idx="62">
                  <c:v>44986</c:v>
                </c:pt>
                <c:pt idx="63">
                  <c:v>45017</c:v>
                </c:pt>
                <c:pt idx="64">
                  <c:v>45047</c:v>
                </c:pt>
                <c:pt idx="65">
                  <c:v>45078</c:v>
                </c:pt>
                <c:pt idx="66">
                  <c:v>45108</c:v>
                </c:pt>
                <c:pt idx="67">
                  <c:v>45139</c:v>
                </c:pt>
                <c:pt idx="68">
                  <c:v>45170</c:v>
                </c:pt>
                <c:pt idx="69">
                  <c:v>45200</c:v>
                </c:pt>
                <c:pt idx="70">
                  <c:v>45231</c:v>
                </c:pt>
                <c:pt idx="71">
                  <c:v>45261</c:v>
                </c:pt>
                <c:pt idx="72">
                  <c:v>45292</c:v>
                </c:pt>
                <c:pt idx="73">
                  <c:v>45323</c:v>
                </c:pt>
                <c:pt idx="74">
                  <c:v>45352</c:v>
                </c:pt>
                <c:pt idx="75">
                  <c:v>45383</c:v>
                </c:pt>
                <c:pt idx="76">
                  <c:v>45413</c:v>
                </c:pt>
                <c:pt idx="77">
                  <c:v>45444</c:v>
                </c:pt>
                <c:pt idx="78">
                  <c:v>45474</c:v>
                </c:pt>
                <c:pt idx="79">
                  <c:v>45505</c:v>
                </c:pt>
                <c:pt idx="80">
                  <c:v>45536</c:v>
                </c:pt>
                <c:pt idx="81">
                  <c:v>45566</c:v>
                </c:pt>
                <c:pt idx="82">
                  <c:v>45597</c:v>
                </c:pt>
                <c:pt idx="83">
                  <c:v>45627</c:v>
                </c:pt>
                <c:pt idx="84">
                  <c:v>45658</c:v>
                </c:pt>
                <c:pt idx="85">
                  <c:v>45689</c:v>
                </c:pt>
                <c:pt idx="86">
                  <c:v>45717</c:v>
                </c:pt>
                <c:pt idx="87">
                  <c:v>45748</c:v>
                </c:pt>
                <c:pt idx="88">
                  <c:v>45778</c:v>
                </c:pt>
                <c:pt idx="89">
                  <c:v>45809</c:v>
                </c:pt>
                <c:pt idx="90">
                  <c:v>45839</c:v>
                </c:pt>
                <c:pt idx="91">
                  <c:v>45870</c:v>
                </c:pt>
                <c:pt idx="92">
                  <c:v>45901</c:v>
                </c:pt>
                <c:pt idx="93">
                  <c:v>45931</c:v>
                </c:pt>
                <c:pt idx="94">
                  <c:v>45962</c:v>
                </c:pt>
                <c:pt idx="95">
                  <c:v>45992</c:v>
                </c:pt>
                <c:pt idx="96">
                  <c:v>46023</c:v>
                </c:pt>
                <c:pt idx="97">
                  <c:v>46054</c:v>
                </c:pt>
                <c:pt idx="98">
                  <c:v>46082</c:v>
                </c:pt>
                <c:pt idx="99">
                  <c:v>46113</c:v>
                </c:pt>
                <c:pt idx="100">
                  <c:v>46143</c:v>
                </c:pt>
                <c:pt idx="101">
                  <c:v>46174</c:v>
                </c:pt>
                <c:pt idx="102">
                  <c:v>46204</c:v>
                </c:pt>
                <c:pt idx="103">
                  <c:v>46235</c:v>
                </c:pt>
              </c:numCache>
            </c:numRef>
          </c:cat>
          <c:val>
            <c:numRef>
              <c:f>Arkusz1!$B$2:$B$105</c:f>
              <c:numCache>
                <c:formatCode>General</c:formatCode>
                <c:ptCount val="104"/>
                <c:pt idx="0">
                  <c:v>32919</c:v>
                </c:pt>
                <c:pt idx="1">
                  <c:v>25397</c:v>
                </c:pt>
                <c:pt idx="2">
                  <c:v>28423</c:v>
                </c:pt>
                <c:pt idx="3">
                  <c:v>30273</c:v>
                </c:pt>
                <c:pt idx="4">
                  <c:v>37553</c:v>
                </c:pt>
                <c:pt idx="5">
                  <c:v>25038</c:v>
                </c:pt>
                <c:pt idx="6">
                  <c:v>44352</c:v>
                </c:pt>
                <c:pt idx="7">
                  <c:v>30343</c:v>
                </c:pt>
                <c:pt idx="8">
                  <c:v>37061</c:v>
                </c:pt>
                <c:pt idx="9">
                  <c:v>78271</c:v>
                </c:pt>
                <c:pt idx="10">
                  <c:v>449113</c:v>
                </c:pt>
                <c:pt idx="11">
                  <c:v>211198</c:v>
                </c:pt>
                <c:pt idx="12">
                  <c:v>194916</c:v>
                </c:pt>
                <c:pt idx="13">
                  <c:v>214954</c:v>
                </c:pt>
                <c:pt idx="14">
                  <c:v>165365</c:v>
                </c:pt>
                <c:pt idx="15">
                  <c:v>75085</c:v>
                </c:pt>
                <c:pt idx="16">
                  <c:v>58533</c:v>
                </c:pt>
                <c:pt idx="17">
                  <c:v>50277</c:v>
                </c:pt>
                <c:pt idx="18">
                  <c:v>52872</c:v>
                </c:pt>
                <c:pt idx="19">
                  <c:v>45240</c:v>
                </c:pt>
                <c:pt idx="20">
                  <c:v>131260</c:v>
                </c:pt>
                <c:pt idx="21">
                  <c:v>85430</c:v>
                </c:pt>
                <c:pt idx="22">
                  <c:v>87686</c:v>
                </c:pt>
                <c:pt idx="23">
                  <c:v>67782</c:v>
                </c:pt>
                <c:pt idx="24">
                  <c:v>52818</c:v>
                </c:pt>
                <c:pt idx="25">
                  <c:v>44863</c:v>
                </c:pt>
                <c:pt idx="26">
                  <c:v>51769</c:v>
                </c:pt>
                <c:pt idx="27">
                  <c:v>50207</c:v>
                </c:pt>
                <c:pt idx="28">
                  <c:v>43144</c:v>
                </c:pt>
                <c:pt idx="29">
                  <c:v>37022</c:v>
                </c:pt>
                <c:pt idx="30">
                  <c:v>30423</c:v>
                </c:pt>
                <c:pt idx="31">
                  <c:v>32078</c:v>
                </c:pt>
                <c:pt idx="32">
                  <c:v>36980</c:v>
                </c:pt>
                <c:pt idx="33">
                  <c:v>33182</c:v>
                </c:pt>
                <c:pt idx="34">
                  <c:v>48119</c:v>
                </c:pt>
                <c:pt idx="35">
                  <c:v>44213</c:v>
                </c:pt>
                <c:pt idx="36">
                  <c:v>51776</c:v>
                </c:pt>
                <c:pt idx="37">
                  <c:v>34205</c:v>
                </c:pt>
                <c:pt idx="38">
                  <c:v>39312</c:v>
                </c:pt>
                <c:pt idx="39">
                  <c:v>37064</c:v>
                </c:pt>
                <c:pt idx="40">
                  <c:v>40983</c:v>
                </c:pt>
                <c:pt idx="41">
                  <c:v>28222</c:v>
                </c:pt>
                <c:pt idx="42">
                  <c:v>28539</c:v>
                </c:pt>
                <c:pt idx="43">
                  <c:v>29883</c:v>
                </c:pt>
                <c:pt idx="44">
                  <c:v>149854</c:v>
                </c:pt>
                <c:pt idx="45">
                  <c:v>93633</c:v>
                </c:pt>
                <c:pt idx="46">
                  <c:v>267298</c:v>
                </c:pt>
                <c:pt idx="47">
                  <c:v>95078</c:v>
                </c:pt>
                <c:pt idx="48">
                  <c:v>89223</c:v>
                </c:pt>
                <c:pt idx="49">
                  <c:v>44844</c:v>
                </c:pt>
                <c:pt idx="50">
                  <c:v>25220</c:v>
                </c:pt>
                <c:pt idx="51">
                  <c:v>30878</c:v>
                </c:pt>
                <c:pt idx="52">
                  <c:v>85157</c:v>
                </c:pt>
                <c:pt idx="53">
                  <c:v>33930</c:v>
                </c:pt>
                <c:pt idx="54">
                  <c:v>40443</c:v>
                </c:pt>
                <c:pt idx="55">
                  <c:v>24178</c:v>
                </c:pt>
                <c:pt idx="56">
                  <c:v>23694</c:v>
                </c:pt>
                <c:pt idx="57">
                  <c:v>24345</c:v>
                </c:pt>
                <c:pt idx="58">
                  <c:v>31850</c:v>
                </c:pt>
                <c:pt idx="59">
                  <c:v>23008</c:v>
                </c:pt>
                <c:pt idx="60">
                  <c:v>47372</c:v>
                </c:pt>
                <c:pt idx="61">
                  <c:v>25496</c:v>
                </c:pt>
                <c:pt idx="62">
                  <c:v>29122</c:v>
                </c:pt>
                <c:pt idx="63">
                  <c:v>29761</c:v>
                </c:pt>
                <c:pt idx="64">
                  <c:v>100721</c:v>
                </c:pt>
                <c:pt idx="65">
                  <c:v>26820</c:v>
                </c:pt>
                <c:pt idx="66">
                  <c:v>36048</c:v>
                </c:pt>
                <c:pt idx="67">
                  <c:v>34590</c:v>
                </c:pt>
                <c:pt idx="68">
                  <c:v>41269</c:v>
                </c:pt>
                <c:pt idx="69">
                  <c:v>25151</c:v>
                </c:pt>
                <c:pt idx="70">
                  <c:v>73888</c:v>
                </c:pt>
                <c:pt idx="71">
                  <c:v>36627</c:v>
                </c:pt>
                <c:pt idx="72">
                  <c:v>39646</c:v>
                </c:pt>
                <c:pt idx="73">
                  <c:v>22182</c:v>
                </c:pt>
                <c:pt idx="74">
                  <c:v>23681</c:v>
                </c:pt>
                <c:pt idx="75">
                  <c:v>77313</c:v>
                </c:pt>
                <c:pt idx="76">
                  <c:v>22061</c:v>
                </c:pt>
                <c:pt idx="77">
                  <c:v>19112</c:v>
                </c:pt>
                <c:pt idx="78">
                  <c:v>16485</c:v>
                </c:pt>
                <c:pt idx="79">
                  <c:v>18593</c:v>
                </c:pt>
                <c:pt idx="80">
                  <c:v>22637</c:v>
                </c:pt>
                <c:pt idx="81">
                  <c:v>19053</c:v>
                </c:pt>
                <c:pt idx="82">
                  <c:v>26886</c:v>
                </c:pt>
                <c:pt idx="83">
                  <c:v>23867</c:v>
                </c:pt>
                <c:pt idx="84">
                  <c:v>23190</c:v>
                </c:pt>
                <c:pt idx="85">
                  <c:v>28138</c:v>
                </c:pt>
                <c:pt idx="86">
                  <c:v>60700</c:v>
                </c:pt>
                <c:pt idx="87">
                  <c:v>19013</c:v>
                </c:pt>
                <c:pt idx="88">
                  <c:v>14599</c:v>
                </c:pt>
                <c:pt idx="89">
                  <c:v>15262</c:v>
                </c:pt>
                <c:pt idx="90">
                  <c:v>18648</c:v>
                </c:pt>
                <c:pt idx="91">
                  <c:v>16869</c:v>
                </c:pt>
                <c:pt idx="92">
                  <c:v>22743</c:v>
                </c:pt>
                <c:pt idx="93">
                  <c:v>22633</c:v>
                </c:pt>
                <c:pt idx="94">
                  <c:v>22206</c:v>
                </c:pt>
                <c:pt idx="95">
                  <c:v>22621</c:v>
                </c:pt>
                <c:pt idx="96">
                  <c:v>19715</c:v>
                </c:pt>
                <c:pt idx="97">
                  <c:v>13823</c:v>
                </c:pt>
                <c:pt idx="98">
                  <c:v>44827</c:v>
                </c:pt>
                <c:pt idx="99">
                  <c:v>14635</c:v>
                </c:pt>
                <c:pt idx="100">
                  <c:v>20408</c:v>
                </c:pt>
                <c:pt idx="101">
                  <c:v>18121</c:v>
                </c:pt>
                <c:pt idx="102">
                  <c:v>14827</c:v>
                </c:pt>
                <c:pt idx="103">
                  <c:v>20686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98A-42B4-BA2C-8AEEEEF9E6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62609072"/>
        <c:axId val="1473956560"/>
      </c:lineChart>
      <c:dateAx>
        <c:axId val="1462609072"/>
        <c:scaling>
          <c:orientation val="minMax"/>
        </c:scaling>
        <c:delete val="0"/>
        <c:axPos val="b"/>
        <c:numFmt formatCode="yyyy" sourceLinked="0"/>
        <c:majorTickMark val="in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473956560"/>
        <c:crosses val="autoZero"/>
        <c:auto val="1"/>
        <c:lblOffset val="100"/>
        <c:baseTimeUnit val="months"/>
        <c:majorUnit val="12"/>
        <c:majorTimeUnit val="months"/>
      </c:dateAx>
      <c:valAx>
        <c:axId val="14739565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462609072"/>
        <c:crosses val="autoZero"/>
        <c:crossBetween val="between"/>
        <c:dispUnits>
          <c:builtInUnit val="thousands"/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2"/>
    </a:solidFill>
    <a:ln>
      <a:noFill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pl-PL" sz="1800" dirty="0">
                <a:solidFill>
                  <a:schemeClr val="tx1"/>
                </a:solidFill>
              </a:rPr>
              <a:t>Przebieg wyświetleń</a:t>
            </a:r>
            <a:r>
              <a:rPr lang="pl-PL" sz="1800" baseline="0" dirty="0">
                <a:solidFill>
                  <a:schemeClr val="tx1"/>
                </a:solidFill>
              </a:rPr>
              <a:t> stron </a:t>
            </a:r>
            <a:r>
              <a:rPr lang="pl-PL" sz="1800" dirty="0">
                <a:solidFill>
                  <a:schemeClr val="tx1"/>
                </a:solidFill>
              </a:rPr>
              <a:t>Republika Zielonego Przylądka oraz Curaçao [tys.][2]</a:t>
            </a:r>
            <a:endParaRPr lang="en-US" sz="1800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3603301286851403E-2"/>
          <c:y val="0.16926678644591617"/>
          <c:w val="0.94418872912625051"/>
          <c:h val="0.58001194115465171"/>
        </c:manualLayout>
      </c:layout>
      <c:lineChart>
        <c:grouping val="standard"/>
        <c:varyColors val="0"/>
        <c:ser>
          <c:idx val="0"/>
          <c:order val="0"/>
          <c:tx>
            <c:strRef>
              <c:f>Arkusz1!$B$1</c:f>
              <c:strCache>
                <c:ptCount val="1"/>
                <c:pt idx="0">
                  <c:v>Republika Zielonego Przylądka</c:v>
                </c:pt>
              </c:strCache>
            </c:strRef>
          </c:tx>
          <c:spPr>
            <a:ln w="25400" cap="rnd">
              <a:solidFill>
                <a:schemeClr val="accent4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Arkusz1!$A$2:$A$105</c:f>
              <c:numCache>
                <c:formatCode>m/d/yyyy</c:formatCode>
                <c:ptCount val="104"/>
                <c:pt idx="0">
                  <c:v>43101</c:v>
                </c:pt>
                <c:pt idx="1">
                  <c:v>43132</c:v>
                </c:pt>
                <c:pt idx="2">
                  <c:v>43160</c:v>
                </c:pt>
                <c:pt idx="3">
                  <c:v>43191</c:v>
                </c:pt>
                <c:pt idx="4">
                  <c:v>43221</c:v>
                </c:pt>
                <c:pt idx="5">
                  <c:v>43252</c:v>
                </c:pt>
                <c:pt idx="6">
                  <c:v>43282</c:v>
                </c:pt>
                <c:pt idx="7">
                  <c:v>43313</c:v>
                </c:pt>
                <c:pt idx="8">
                  <c:v>43344</c:v>
                </c:pt>
                <c:pt idx="9">
                  <c:v>43374</c:v>
                </c:pt>
                <c:pt idx="10">
                  <c:v>43405</c:v>
                </c:pt>
                <c:pt idx="11">
                  <c:v>43435</c:v>
                </c:pt>
                <c:pt idx="12">
                  <c:v>43466</c:v>
                </c:pt>
                <c:pt idx="13">
                  <c:v>43497</c:v>
                </c:pt>
                <c:pt idx="14">
                  <c:v>43525</c:v>
                </c:pt>
                <c:pt idx="15">
                  <c:v>43556</c:v>
                </c:pt>
                <c:pt idx="16">
                  <c:v>43586</c:v>
                </c:pt>
                <c:pt idx="17">
                  <c:v>43617</c:v>
                </c:pt>
                <c:pt idx="18">
                  <c:v>43647</c:v>
                </c:pt>
                <c:pt idx="19">
                  <c:v>43678</c:v>
                </c:pt>
                <c:pt idx="20">
                  <c:v>43709</c:v>
                </c:pt>
                <c:pt idx="21">
                  <c:v>43739</c:v>
                </c:pt>
                <c:pt idx="22">
                  <c:v>43770</c:v>
                </c:pt>
                <c:pt idx="23">
                  <c:v>43800</c:v>
                </c:pt>
                <c:pt idx="24">
                  <c:v>43831</c:v>
                </c:pt>
                <c:pt idx="25">
                  <c:v>43862</c:v>
                </c:pt>
                <c:pt idx="26">
                  <c:v>43891</c:v>
                </c:pt>
                <c:pt idx="27">
                  <c:v>43922</c:v>
                </c:pt>
                <c:pt idx="28">
                  <c:v>43952</c:v>
                </c:pt>
                <c:pt idx="29">
                  <c:v>43983</c:v>
                </c:pt>
                <c:pt idx="30">
                  <c:v>44013</c:v>
                </c:pt>
                <c:pt idx="31">
                  <c:v>44044</c:v>
                </c:pt>
                <c:pt idx="32">
                  <c:v>44075</c:v>
                </c:pt>
                <c:pt idx="33">
                  <c:v>44105</c:v>
                </c:pt>
                <c:pt idx="34">
                  <c:v>44136</c:v>
                </c:pt>
                <c:pt idx="35">
                  <c:v>44166</c:v>
                </c:pt>
                <c:pt idx="36">
                  <c:v>44197</c:v>
                </c:pt>
                <c:pt idx="37">
                  <c:v>44228</c:v>
                </c:pt>
                <c:pt idx="38">
                  <c:v>44256</c:v>
                </c:pt>
                <c:pt idx="39">
                  <c:v>44287</c:v>
                </c:pt>
                <c:pt idx="40">
                  <c:v>44317</c:v>
                </c:pt>
                <c:pt idx="41">
                  <c:v>44348</c:v>
                </c:pt>
                <c:pt idx="42">
                  <c:v>44378</c:v>
                </c:pt>
                <c:pt idx="43">
                  <c:v>44409</c:v>
                </c:pt>
                <c:pt idx="44">
                  <c:v>44440</c:v>
                </c:pt>
                <c:pt idx="45">
                  <c:v>44470</c:v>
                </c:pt>
                <c:pt idx="46">
                  <c:v>44501</c:v>
                </c:pt>
                <c:pt idx="47">
                  <c:v>44531</c:v>
                </c:pt>
                <c:pt idx="48">
                  <c:v>44562</c:v>
                </c:pt>
                <c:pt idx="49">
                  <c:v>44593</c:v>
                </c:pt>
                <c:pt idx="50">
                  <c:v>44621</c:v>
                </c:pt>
                <c:pt idx="51">
                  <c:v>44652</c:v>
                </c:pt>
                <c:pt idx="52">
                  <c:v>44682</c:v>
                </c:pt>
                <c:pt idx="53">
                  <c:v>44713</c:v>
                </c:pt>
                <c:pt idx="54">
                  <c:v>44743</c:v>
                </c:pt>
                <c:pt idx="55">
                  <c:v>44774</c:v>
                </c:pt>
                <c:pt idx="56">
                  <c:v>44805</c:v>
                </c:pt>
                <c:pt idx="57">
                  <c:v>44835</c:v>
                </c:pt>
                <c:pt idx="58">
                  <c:v>44866</c:v>
                </c:pt>
                <c:pt idx="59">
                  <c:v>44896</c:v>
                </c:pt>
                <c:pt idx="60">
                  <c:v>44927</c:v>
                </c:pt>
                <c:pt idx="61">
                  <c:v>44958</c:v>
                </c:pt>
                <c:pt idx="62">
                  <c:v>44986</c:v>
                </c:pt>
                <c:pt idx="63">
                  <c:v>45017</c:v>
                </c:pt>
                <c:pt idx="64">
                  <c:v>45047</c:v>
                </c:pt>
                <c:pt idx="65">
                  <c:v>45078</c:v>
                </c:pt>
                <c:pt idx="66">
                  <c:v>45108</c:v>
                </c:pt>
                <c:pt idx="67">
                  <c:v>45139</c:v>
                </c:pt>
                <c:pt idx="68">
                  <c:v>45170</c:v>
                </c:pt>
                <c:pt idx="69">
                  <c:v>45200</c:v>
                </c:pt>
                <c:pt idx="70">
                  <c:v>45231</c:v>
                </c:pt>
                <c:pt idx="71">
                  <c:v>45261</c:v>
                </c:pt>
                <c:pt idx="72">
                  <c:v>45292</c:v>
                </c:pt>
                <c:pt idx="73">
                  <c:v>45323</c:v>
                </c:pt>
                <c:pt idx="74">
                  <c:v>45352</c:v>
                </c:pt>
                <c:pt idx="75">
                  <c:v>45383</c:v>
                </c:pt>
                <c:pt idx="76">
                  <c:v>45413</c:v>
                </c:pt>
                <c:pt idx="77">
                  <c:v>45444</c:v>
                </c:pt>
                <c:pt idx="78">
                  <c:v>45474</c:v>
                </c:pt>
                <c:pt idx="79">
                  <c:v>45505</c:v>
                </c:pt>
                <c:pt idx="80">
                  <c:v>45536</c:v>
                </c:pt>
                <c:pt idx="81">
                  <c:v>45566</c:v>
                </c:pt>
                <c:pt idx="82">
                  <c:v>45597</c:v>
                </c:pt>
                <c:pt idx="83">
                  <c:v>45627</c:v>
                </c:pt>
                <c:pt idx="84">
                  <c:v>45658</c:v>
                </c:pt>
                <c:pt idx="85">
                  <c:v>45689</c:v>
                </c:pt>
                <c:pt idx="86">
                  <c:v>45717</c:v>
                </c:pt>
                <c:pt idx="87">
                  <c:v>45748</c:v>
                </c:pt>
                <c:pt idx="88">
                  <c:v>45778</c:v>
                </c:pt>
                <c:pt idx="89">
                  <c:v>45809</c:v>
                </c:pt>
                <c:pt idx="90">
                  <c:v>45839</c:v>
                </c:pt>
                <c:pt idx="91">
                  <c:v>45870</c:v>
                </c:pt>
                <c:pt idx="92">
                  <c:v>45901</c:v>
                </c:pt>
                <c:pt idx="93">
                  <c:v>45931</c:v>
                </c:pt>
                <c:pt idx="94">
                  <c:v>45962</c:v>
                </c:pt>
                <c:pt idx="95">
                  <c:v>45992</c:v>
                </c:pt>
                <c:pt idx="96">
                  <c:v>46023</c:v>
                </c:pt>
                <c:pt idx="97">
                  <c:v>46054</c:v>
                </c:pt>
                <c:pt idx="98">
                  <c:v>46082</c:v>
                </c:pt>
                <c:pt idx="99">
                  <c:v>46113</c:v>
                </c:pt>
                <c:pt idx="100">
                  <c:v>46143</c:v>
                </c:pt>
                <c:pt idx="101">
                  <c:v>46174</c:v>
                </c:pt>
                <c:pt idx="102">
                  <c:v>46204</c:v>
                </c:pt>
                <c:pt idx="103">
                  <c:v>46235</c:v>
                </c:pt>
              </c:numCache>
            </c:numRef>
          </c:cat>
          <c:val>
            <c:numRef>
              <c:f>Arkusz1!$B$2:$B$105</c:f>
              <c:numCache>
                <c:formatCode>General</c:formatCode>
                <c:ptCount val="104"/>
                <c:pt idx="0">
                  <c:v>22551</c:v>
                </c:pt>
                <c:pt idx="1">
                  <c:v>20088</c:v>
                </c:pt>
                <c:pt idx="2">
                  <c:v>18648</c:v>
                </c:pt>
                <c:pt idx="3">
                  <c:v>15304</c:v>
                </c:pt>
                <c:pt idx="4">
                  <c:v>16017</c:v>
                </c:pt>
                <c:pt idx="5">
                  <c:v>20793</c:v>
                </c:pt>
                <c:pt idx="6">
                  <c:v>24073</c:v>
                </c:pt>
                <c:pt idx="7">
                  <c:v>20587</c:v>
                </c:pt>
                <c:pt idx="8">
                  <c:v>21821</c:v>
                </c:pt>
                <c:pt idx="9">
                  <c:v>20866</c:v>
                </c:pt>
                <c:pt idx="10">
                  <c:v>20681</c:v>
                </c:pt>
                <c:pt idx="11">
                  <c:v>20276</c:v>
                </c:pt>
                <c:pt idx="12">
                  <c:v>22216</c:v>
                </c:pt>
                <c:pt idx="13">
                  <c:v>20603</c:v>
                </c:pt>
                <c:pt idx="14">
                  <c:v>19292</c:v>
                </c:pt>
                <c:pt idx="15">
                  <c:v>11804</c:v>
                </c:pt>
                <c:pt idx="16">
                  <c:v>12443</c:v>
                </c:pt>
                <c:pt idx="17">
                  <c:v>15614</c:v>
                </c:pt>
                <c:pt idx="18">
                  <c:v>18295</c:v>
                </c:pt>
                <c:pt idx="19">
                  <c:v>34271</c:v>
                </c:pt>
                <c:pt idx="20">
                  <c:v>32728</c:v>
                </c:pt>
                <c:pt idx="21">
                  <c:v>16496</c:v>
                </c:pt>
                <c:pt idx="22">
                  <c:v>15918</c:v>
                </c:pt>
                <c:pt idx="23">
                  <c:v>14647</c:v>
                </c:pt>
                <c:pt idx="24">
                  <c:v>18428</c:v>
                </c:pt>
                <c:pt idx="25">
                  <c:v>13301</c:v>
                </c:pt>
                <c:pt idx="26">
                  <c:v>10989</c:v>
                </c:pt>
                <c:pt idx="27">
                  <c:v>7888</c:v>
                </c:pt>
                <c:pt idx="28">
                  <c:v>7726</c:v>
                </c:pt>
                <c:pt idx="29">
                  <c:v>5652</c:v>
                </c:pt>
                <c:pt idx="30">
                  <c:v>7029</c:v>
                </c:pt>
                <c:pt idx="31">
                  <c:v>6579</c:v>
                </c:pt>
                <c:pt idx="32">
                  <c:v>6880</c:v>
                </c:pt>
                <c:pt idx="33">
                  <c:v>6468</c:v>
                </c:pt>
                <c:pt idx="34">
                  <c:v>7657</c:v>
                </c:pt>
                <c:pt idx="35">
                  <c:v>8879</c:v>
                </c:pt>
                <c:pt idx="36">
                  <c:v>14813</c:v>
                </c:pt>
                <c:pt idx="37">
                  <c:v>10721</c:v>
                </c:pt>
                <c:pt idx="38">
                  <c:v>15336</c:v>
                </c:pt>
                <c:pt idx="39">
                  <c:v>15873</c:v>
                </c:pt>
                <c:pt idx="40">
                  <c:v>13452</c:v>
                </c:pt>
                <c:pt idx="41">
                  <c:v>18018</c:v>
                </c:pt>
                <c:pt idx="42">
                  <c:v>18029</c:v>
                </c:pt>
                <c:pt idx="43">
                  <c:v>17484</c:v>
                </c:pt>
                <c:pt idx="44">
                  <c:v>18591</c:v>
                </c:pt>
                <c:pt idx="45">
                  <c:v>20359</c:v>
                </c:pt>
                <c:pt idx="46">
                  <c:v>17381</c:v>
                </c:pt>
                <c:pt idx="47">
                  <c:v>14139</c:v>
                </c:pt>
                <c:pt idx="48">
                  <c:v>21102</c:v>
                </c:pt>
                <c:pt idx="49">
                  <c:v>13575</c:v>
                </c:pt>
                <c:pt idx="50">
                  <c:v>16139</c:v>
                </c:pt>
                <c:pt idx="51">
                  <c:v>12940</c:v>
                </c:pt>
                <c:pt idx="52">
                  <c:v>12287</c:v>
                </c:pt>
                <c:pt idx="53">
                  <c:v>11969</c:v>
                </c:pt>
                <c:pt idx="54">
                  <c:v>15070</c:v>
                </c:pt>
                <c:pt idx="55">
                  <c:v>14212</c:v>
                </c:pt>
                <c:pt idx="56">
                  <c:v>12952</c:v>
                </c:pt>
                <c:pt idx="57">
                  <c:v>13750</c:v>
                </c:pt>
                <c:pt idx="58">
                  <c:v>15068</c:v>
                </c:pt>
                <c:pt idx="59">
                  <c:v>16377</c:v>
                </c:pt>
                <c:pt idx="60">
                  <c:v>20988</c:v>
                </c:pt>
                <c:pt idx="61">
                  <c:v>16314</c:v>
                </c:pt>
                <c:pt idx="62">
                  <c:v>16029</c:v>
                </c:pt>
                <c:pt idx="63">
                  <c:v>15490</c:v>
                </c:pt>
                <c:pt idx="64">
                  <c:v>16950</c:v>
                </c:pt>
                <c:pt idx="65">
                  <c:v>16184</c:v>
                </c:pt>
                <c:pt idx="66">
                  <c:v>16749</c:v>
                </c:pt>
                <c:pt idx="67">
                  <c:v>19702</c:v>
                </c:pt>
                <c:pt idx="68">
                  <c:v>18341</c:v>
                </c:pt>
                <c:pt idx="69">
                  <c:v>20925</c:v>
                </c:pt>
                <c:pt idx="70">
                  <c:v>22426</c:v>
                </c:pt>
                <c:pt idx="71">
                  <c:v>24749</c:v>
                </c:pt>
                <c:pt idx="72">
                  <c:v>36474</c:v>
                </c:pt>
                <c:pt idx="73">
                  <c:v>26349</c:v>
                </c:pt>
                <c:pt idx="74">
                  <c:v>23087</c:v>
                </c:pt>
                <c:pt idx="75">
                  <c:v>19485</c:v>
                </c:pt>
                <c:pt idx="76">
                  <c:v>18349</c:v>
                </c:pt>
                <c:pt idx="77">
                  <c:v>15729</c:v>
                </c:pt>
                <c:pt idx="78">
                  <c:v>20903</c:v>
                </c:pt>
                <c:pt idx="79">
                  <c:v>18287</c:v>
                </c:pt>
                <c:pt idx="80">
                  <c:v>19081</c:v>
                </c:pt>
                <c:pt idx="81">
                  <c:v>20806</c:v>
                </c:pt>
                <c:pt idx="82">
                  <c:v>23368</c:v>
                </c:pt>
                <c:pt idx="83">
                  <c:v>24771</c:v>
                </c:pt>
                <c:pt idx="84">
                  <c:v>29250</c:v>
                </c:pt>
                <c:pt idx="85">
                  <c:v>24407</c:v>
                </c:pt>
                <c:pt idx="86">
                  <c:v>26287</c:v>
                </c:pt>
                <c:pt idx="87">
                  <c:v>18755</c:v>
                </c:pt>
                <c:pt idx="88">
                  <c:v>17160</c:v>
                </c:pt>
                <c:pt idx="89">
                  <c:v>18956</c:v>
                </c:pt>
                <c:pt idx="90">
                  <c:v>22533</c:v>
                </c:pt>
                <c:pt idx="91">
                  <c:v>26900</c:v>
                </c:pt>
                <c:pt idx="92">
                  <c:v>31540</c:v>
                </c:pt>
                <c:pt idx="93">
                  <c:v>42687</c:v>
                </c:pt>
                <c:pt idx="94">
                  <c:v>27507</c:v>
                </c:pt>
                <c:pt idx="95">
                  <c:v>25250</c:v>
                </c:pt>
                <c:pt idx="96">
                  <c:v>28459</c:v>
                </c:pt>
                <c:pt idx="97">
                  <c:v>23050</c:v>
                </c:pt>
                <c:pt idx="98">
                  <c:v>23760</c:v>
                </c:pt>
                <c:pt idx="99">
                  <c:v>21524</c:v>
                </c:pt>
                <c:pt idx="100">
                  <c:v>24934</c:v>
                </c:pt>
                <c:pt idx="101">
                  <c:v>338510</c:v>
                </c:pt>
                <c:pt idx="102">
                  <c:v>176331</c:v>
                </c:pt>
                <c:pt idx="103">
                  <c:v>19500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98A-42B4-BA2C-8AEEEEF9E6BE}"/>
            </c:ext>
          </c:extLst>
        </c:ser>
        <c:ser>
          <c:idx val="1"/>
          <c:order val="1"/>
          <c:tx>
            <c:strRef>
              <c:f>Arkusz1!$C$1</c:f>
              <c:strCache>
                <c:ptCount val="1"/>
                <c:pt idx="0">
                  <c:v>Curaçao</c:v>
                </c:pt>
              </c:strCache>
            </c:strRef>
          </c:tx>
          <c:spPr>
            <a:ln w="254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Arkusz1!$A$2:$A$105</c:f>
              <c:numCache>
                <c:formatCode>m/d/yyyy</c:formatCode>
                <c:ptCount val="104"/>
                <c:pt idx="0">
                  <c:v>43101</c:v>
                </c:pt>
                <c:pt idx="1">
                  <c:v>43132</c:v>
                </c:pt>
                <c:pt idx="2">
                  <c:v>43160</c:v>
                </c:pt>
                <c:pt idx="3">
                  <c:v>43191</c:v>
                </c:pt>
                <c:pt idx="4">
                  <c:v>43221</c:v>
                </c:pt>
                <c:pt idx="5">
                  <c:v>43252</c:v>
                </c:pt>
                <c:pt idx="6">
                  <c:v>43282</c:v>
                </c:pt>
                <c:pt idx="7">
                  <c:v>43313</c:v>
                </c:pt>
                <c:pt idx="8">
                  <c:v>43344</c:v>
                </c:pt>
                <c:pt idx="9">
                  <c:v>43374</c:v>
                </c:pt>
                <c:pt idx="10">
                  <c:v>43405</c:v>
                </c:pt>
                <c:pt idx="11">
                  <c:v>43435</c:v>
                </c:pt>
                <c:pt idx="12">
                  <c:v>43466</c:v>
                </c:pt>
                <c:pt idx="13">
                  <c:v>43497</c:v>
                </c:pt>
                <c:pt idx="14">
                  <c:v>43525</c:v>
                </c:pt>
                <c:pt idx="15">
                  <c:v>43556</c:v>
                </c:pt>
                <c:pt idx="16">
                  <c:v>43586</c:v>
                </c:pt>
                <c:pt idx="17">
                  <c:v>43617</c:v>
                </c:pt>
                <c:pt idx="18">
                  <c:v>43647</c:v>
                </c:pt>
                <c:pt idx="19">
                  <c:v>43678</c:v>
                </c:pt>
                <c:pt idx="20">
                  <c:v>43709</c:v>
                </c:pt>
                <c:pt idx="21">
                  <c:v>43739</c:v>
                </c:pt>
                <c:pt idx="22">
                  <c:v>43770</c:v>
                </c:pt>
                <c:pt idx="23">
                  <c:v>43800</c:v>
                </c:pt>
                <c:pt idx="24">
                  <c:v>43831</c:v>
                </c:pt>
                <c:pt idx="25">
                  <c:v>43862</c:v>
                </c:pt>
                <c:pt idx="26">
                  <c:v>43891</c:v>
                </c:pt>
                <c:pt idx="27">
                  <c:v>43922</c:v>
                </c:pt>
                <c:pt idx="28">
                  <c:v>43952</c:v>
                </c:pt>
                <c:pt idx="29">
                  <c:v>43983</c:v>
                </c:pt>
                <c:pt idx="30">
                  <c:v>44013</c:v>
                </c:pt>
                <c:pt idx="31">
                  <c:v>44044</c:v>
                </c:pt>
                <c:pt idx="32">
                  <c:v>44075</c:v>
                </c:pt>
                <c:pt idx="33">
                  <c:v>44105</c:v>
                </c:pt>
                <c:pt idx="34">
                  <c:v>44136</c:v>
                </c:pt>
                <c:pt idx="35">
                  <c:v>44166</c:v>
                </c:pt>
                <c:pt idx="36">
                  <c:v>44197</c:v>
                </c:pt>
                <c:pt idx="37">
                  <c:v>44228</c:v>
                </c:pt>
                <c:pt idx="38">
                  <c:v>44256</c:v>
                </c:pt>
                <c:pt idx="39">
                  <c:v>44287</c:v>
                </c:pt>
                <c:pt idx="40">
                  <c:v>44317</c:v>
                </c:pt>
                <c:pt idx="41">
                  <c:v>44348</c:v>
                </c:pt>
                <c:pt idx="42">
                  <c:v>44378</c:v>
                </c:pt>
                <c:pt idx="43">
                  <c:v>44409</c:v>
                </c:pt>
                <c:pt idx="44">
                  <c:v>44440</c:v>
                </c:pt>
                <c:pt idx="45">
                  <c:v>44470</c:v>
                </c:pt>
                <c:pt idx="46">
                  <c:v>44501</c:v>
                </c:pt>
                <c:pt idx="47">
                  <c:v>44531</c:v>
                </c:pt>
                <c:pt idx="48">
                  <c:v>44562</c:v>
                </c:pt>
                <c:pt idx="49">
                  <c:v>44593</c:v>
                </c:pt>
                <c:pt idx="50">
                  <c:v>44621</c:v>
                </c:pt>
                <c:pt idx="51">
                  <c:v>44652</c:v>
                </c:pt>
                <c:pt idx="52">
                  <c:v>44682</c:v>
                </c:pt>
                <c:pt idx="53">
                  <c:v>44713</c:v>
                </c:pt>
                <c:pt idx="54">
                  <c:v>44743</c:v>
                </c:pt>
                <c:pt idx="55">
                  <c:v>44774</c:v>
                </c:pt>
                <c:pt idx="56">
                  <c:v>44805</c:v>
                </c:pt>
                <c:pt idx="57">
                  <c:v>44835</c:v>
                </c:pt>
                <c:pt idx="58">
                  <c:v>44866</c:v>
                </c:pt>
                <c:pt idx="59">
                  <c:v>44896</c:v>
                </c:pt>
                <c:pt idx="60">
                  <c:v>44927</c:v>
                </c:pt>
                <c:pt idx="61">
                  <c:v>44958</c:v>
                </c:pt>
                <c:pt idx="62">
                  <c:v>44986</c:v>
                </c:pt>
                <c:pt idx="63">
                  <c:v>45017</c:v>
                </c:pt>
                <c:pt idx="64">
                  <c:v>45047</c:v>
                </c:pt>
                <c:pt idx="65">
                  <c:v>45078</c:v>
                </c:pt>
                <c:pt idx="66">
                  <c:v>45108</c:v>
                </c:pt>
                <c:pt idx="67">
                  <c:v>45139</c:v>
                </c:pt>
                <c:pt idx="68">
                  <c:v>45170</c:v>
                </c:pt>
                <c:pt idx="69">
                  <c:v>45200</c:v>
                </c:pt>
                <c:pt idx="70">
                  <c:v>45231</c:v>
                </c:pt>
                <c:pt idx="71">
                  <c:v>45261</c:v>
                </c:pt>
                <c:pt idx="72">
                  <c:v>45292</c:v>
                </c:pt>
                <c:pt idx="73">
                  <c:v>45323</c:v>
                </c:pt>
                <c:pt idx="74">
                  <c:v>45352</c:v>
                </c:pt>
                <c:pt idx="75">
                  <c:v>45383</c:v>
                </c:pt>
                <c:pt idx="76">
                  <c:v>45413</c:v>
                </c:pt>
                <c:pt idx="77">
                  <c:v>45444</c:v>
                </c:pt>
                <c:pt idx="78">
                  <c:v>45474</c:v>
                </c:pt>
                <c:pt idx="79">
                  <c:v>45505</c:v>
                </c:pt>
                <c:pt idx="80">
                  <c:v>45536</c:v>
                </c:pt>
                <c:pt idx="81">
                  <c:v>45566</c:v>
                </c:pt>
                <c:pt idx="82">
                  <c:v>45597</c:v>
                </c:pt>
                <c:pt idx="83">
                  <c:v>45627</c:v>
                </c:pt>
                <c:pt idx="84">
                  <c:v>45658</c:v>
                </c:pt>
                <c:pt idx="85">
                  <c:v>45689</c:v>
                </c:pt>
                <c:pt idx="86">
                  <c:v>45717</c:v>
                </c:pt>
                <c:pt idx="87">
                  <c:v>45748</c:v>
                </c:pt>
                <c:pt idx="88">
                  <c:v>45778</c:v>
                </c:pt>
                <c:pt idx="89">
                  <c:v>45809</c:v>
                </c:pt>
                <c:pt idx="90">
                  <c:v>45839</c:v>
                </c:pt>
                <c:pt idx="91">
                  <c:v>45870</c:v>
                </c:pt>
                <c:pt idx="92">
                  <c:v>45901</c:v>
                </c:pt>
                <c:pt idx="93">
                  <c:v>45931</c:v>
                </c:pt>
                <c:pt idx="94">
                  <c:v>45962</c:v>
                </c:pt>
                <c:pt idx="95">
                  <c:v>45992</c:v>
                </c:pt>
                <c:pt idx="96">
                  <c:v>46023</c:v>
                </c:pt>
                <c:pt idx="97">
                  <c:v>46054</c:v>
                </c:pt>
                <c:pt idx="98">
                  <c:v>46082</c:v>
                </c:pt>
                <c:pt idx="99">
                  <c:v>46113</c:v>
                </c:pt>
                <c:pt idx="100">
                  <c:v>46143</c:v>
                </c:pt>
                <c:pt idx="101">
                  <c:v>46174</c:v>
                </c:pt>
                <c:pt idx="102">
                  <c:v>46204</c:v>
                </c:pt>
                <c:pt idx="103">
                  <c:v>46235</c:v>
                </c:pt>
              </c:numCache>
            </c:numRef>
          </c:cat>
          <c:val>
            <c:numRef>
              <c:f>Arkusz1!$C$2:$C$105</c:f>
              <c:numCache>
                <c:formatCode>General</c:formatCode>
                <c:ptCount val="104"/>
                <c:pt idx="0">
                  <c:v>4960</c:v>
                </c:pt>
                <c:pt idx="1">
                  <c:v>4015</c:v>
                </c:pt>
                <c:pt idx="2">
                  <c:v>6474</c:v>
                </c:pt>
                <c:pt idx="3">
                  <c:v>4131</c:v>
                </c:pt>
                <c:pt idx="4">
                  <c:v>4209</c:v>
                </c:pt>
                <c:pt idx="5">
                  <c:v>4919</c:v>
                </c:pt>
                <c:pt idx="6">
                  <c:v>5130</c:v>
                </c:pt>
                <c:pt idx="7">
                  <c:v>5424</c:v>
                </c:pt>
                <c:pt idx="8">
                  <c:v>4967</c:v>
                </c:pt>
                <c:pt idx="9">
                  <c:v>4789</c:v>
                </c:pt>
                <c:pt idx="10">
                  <c:v>5160</c:v>
                </c:pt>
                <c:pt idx="11">
                  <c:v>5804</c:v>
                </c:pt>
                <c:pt idx="12">
                  <c:v>6412</c:v>
                </c:pt>
                <c:pt idx="13">
                  <c:v>5483</c:v>
                </c:pt>
                <c:pt idx="14">
                  <c:v>5347</c:v>
                </c:pt>
                <c:pt idx="15">
                  <c:v>3877</c:v>
                </c:pt>
                <c:pt idx="16">
                  <c:v>4447</c:v>
                </c:pt>
                <c:pt idx="17">
                  <c:v>7604</c:v>
                </c:pt>
                <c:pt idx="18">
                  <c:v>5939</c:v>
                </c:pt>
                <c:pt idx="19">
                  <c:v>5042</c:v>
                </c:pt>
                <c:pt idx="20">
                  <c:v>6801</c:v>
                </c:pt>
                <c:pt idx="21">
                  <c:v>6864</c:v>
                </c:pt>
                <c:pt idx="22">
                  <c:v>5952</c:v>
                </c:pt>
                <c:pt idx="23">
                  <c:v>5743</c:v>
                </c:pt>
                <c:pt idx="24">
                  <c:v>11412</c:v>
                </c:pt>
                <c:pt idx="25">
                  <c:v>5938</c:v>
                </c:pt>
                <c:pt idx="26">
                  <c:v>6179</c:v>
                </c:pt>
                <c:pt idx="27">
                  <c:v>7535</c:v>
                </c:pt>
                <c:pt idx="28">
                  <c:v>4814</c:v>
                </c:pt>
                <c:pt idx="29">
                  <c:v>4120</c:v>
                </c:pt>
                <c:pt idx="30">
                  <c:v>4437</c:v>
                </c:pt>
                <c:pt idx="31">
                  <c:v>4986</c:v>
                </c:pt>
                <c:pt idx="32">
                  <c:v>5141</c:v>
                </c:pt>
                <c:pt idx="33">
                  <c:v>5343</c:v>
                </c:pt>
                <c:pt idx="34">
                  <c:v>5062</c:v>
                </c:pt>
                <c:pt idx="35">
                  <c:v>5273</c:v>
                </c:pt>
                <c:pt idx="36">
                  <c:v>5441</c:v>
                </c:pt>
                <c:pt idx="37">
                  <c:v>4138</c:v>
                </c:pt>
                <c:pt idx="38">
                  <c:v>6732</c:v>
                </c:pt>
                <c:pt idx="39">
                  <c:v>7821</c:v>
                </c:pt>
                <c:pt idx="40">
                  <c:v>6303</c:v>
                </c:pt>
                <c:pt idx="41">
                  <c:v>7504</c:v>
                </c:pt>
                <c:pt idx="42">
                  <c:v>6409</c:v>
                </c:pt>
                <c:pt idx="43">
                  <c:v>5988</c:v>
                </c:pt>
                <c:pt idx="44">
                  <c:v>5574</c:v>
                </c:pt>
                <c:pt idx="45">
                  <c:v>6041</c:v>
                </c:pt>
                <c:pt idx="46">
                  <c:v>5295</c:v>
                </c:pt>
                <c:pt idx="47">
                  <c:v>5387</c:v>
                </c:pt>
                <c:pt idx="48">
                  <c:v>5831</c:v>
                </c:pt>
                <c:pt idx="49">
                  <c:v>4844</c:v>
                </c:pt>
                <c:pt idx="50">
                  <c:v>5654</c:v>
                </c:pt>
                <c:pt idx="51">
                  <c:v>5115</c:v>
                </c:pt>
                <c:pt idx="52">
                  <c:v>4868</c:v>
                </c:pt>
                <c:pt idx="53">
                  <c:v>6929</c:v>
                </c:pt>
                <c:pt idx="54">
                  <c:v>6460</c:v>
                </c:pt>
                <c:pt idx="55">
                  <c:v>5523</c:v>
                </c:pt>
                <c:pt idx="56">
                  <c:v>5545</c:v>
                </c:pt>
                <c:pt idx="57">
                  <c:v>4835</c:v>
                </c:pt>
                <c:pt idx="58">
                  <c:v>6508</c:v>
                </c:pt>
                <c:pt idx="59">
                  <c:v>6668</c:v>
                </c:pt>
                <c:pt idx="60">
                  <c:v>6183</c:v>
                </c:pt>
                <c:pt idx="61">
                  <c:v>6594</c:v>
                </c:pt>
                <c:pt idx="62">
                  <c:v>10725</c:v>
                </c:pt>
                <c:pt idx="63">
                  <c:v>5583</c:v>
                </c:pt>
                <c:pt idx="64">
                  <c:v>5670</c:v>
                </c:pt>
                <c:pt idx="65">
                  <c:v>5919</c:v>
                </c:pt>
                <c:pt idx="66">
                  <c:v>7305</c:v>
                </c:pt>
                <c:pt idx="67">
                  <c:v>6385</c:v>
                </c:pt>
                <c:pt idx="68">
                  <c:v>5432</c:v>
                </c:pt>
                <c:pt idx="69">
                  <c:v>5156</c:v>
                </c:pt>
                <c:pt idx="70">
                  <c:v>5927</c:v>
                </c:pt>
                <c:pt idx="71">
                  <c:v>6007</c:v>
                </c:pt>
                <c:pt idx="72">
                  <c:v>6957</c:v>
                </c:pt>
                <c:pt idx="73">
                  <c:v>5917</c:v>
                </c:pt>
                <c:pt idx="74">
                  <c:v>5922</c:v>
                </c:pt>
                <c:pt idx="75">
                  <c:v>5516</c:v>
                </c:pt>
                <c:pt idx="76">
                  <c:v>4974</c:v>
                </c:pt>
                <c:pt idx="77">
                  <c:v>5967</c:v>
                </c:pt>
                <c:pt idx="78">
                  <c:v>9441</c:v>
                </c:pt>
                <c:pt idx="79">
                  <c:v>6516</c:v>
                </c:pt>
                <c:pt idx="80">
                  <c:v>4786</c:v>
                </c:pt>
                <c:pt idx="81">
                  <c:v>4976</c:v>
                </c:pt>
                <c:pt idx="82">
                  <c:v>5073</c:v>
                </c:pt>
                <c:pt idx="83">
                  <c:v>7020</c:v>
                </c:pt>
                <c:pt idx="84">
                  <c:v>7384</c:v>
                </c:pt>
                <c:pt idx="85">
                  <c:v>5723</c:v>
                </c:pt>
                <c:pt idx="86">
                  <c:v>5627</c:v>
                </c:pt>
                <c:pt idx="87">
                  <c:v>5559</c:v>
                </c:pt>
                <c:pt idx="88">
                  <c:v>3798</c:v>
                </c:pt>
                <c:pt idx="89">
                  <c:v>8780</c:v>
                </c:pt>
                <c:pt idx="90">
                  <c:v>7324</c:v>
                </c:pt>
                <c:pt idx="91">
                  <c:v>6670</c:v>
                </c:pt>
                <c:pt idx="92">
                  <c:v>6034</c:v>
                </c:pt>
                <c:pt idx="93">
                  <c:v>13600</c:v>
                </c:pt>
                <c:pt idx="94">
                  <c:v>53420</c:v>
                </c:pt>
                <c:pt idx="95">
                  <c:v>20560</c:v>
                </c:pt>
                <c:pt idx="96">
                  <c:v>10172</c:v>
                </c:pt>
                <c:pt idx="97">
                  <c:v>7314</c:v>
                </c:pt>
                <c:pt idx="98">
                  <c:v>11119</c:v>
                </c:pt>
                <c:pt idx="99">
                  <c:v>18778</c:v>
                </c:pt>
                <c:pt idx="100">
                  <c:v>19030</c:v>
                </c:pt>
                <c:pt idx="101">
                  <c:v>703315</c:v>
                </c:pt>
                <c:pt idx="102">
                  <c:v>24281</c:v>
                </c:pt>
                <c:pt idx="103">
                  <c:v>6829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298A-42B4-BA2C-8AEEEEF9E6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62609072"/>
        <c:axId val="1473956560"/>
      </c:lineChart>
      <c:dateAx>
        <c:axId val="1462609072"/>
        <c:scaling>
          <c:orientation val="minMax"/>
        </c:scaling>
        <c:delete val="0"/>
        <c:axPos val="b"/>
        <c:numFmt formatCode="yyyy" sourceLinked="0"/>
        <c:majorTickMark val="in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473956560"/>
        <c:crosses val="autoZero"/>
        <c:auto val="1"/>
        <c:lblOffset val="100"/>
        <c:baseTimeUnit val="months"/>
        <c:majorUnit val="12"/>
        <c:majorTimeUnit val="months"/>
      </c:dateAx>
      <c:valAx>
        <c:axId val="14739565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462609072"/>
        <c:crosses val="autoZero"/>
        <c:crossBetween val="between"/>
        <c:dispUnits>
          <c:builtInUnit val="thousands"/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2"/>
    </a:solidFill>
    <a:ln>
      <a:noFill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pl-PL" sz="1800" dirty="0">
                <a:solidFill>
                  <a:schemeClr val="tx1"/>
                </a:solidFill>
              </a:rPr>
              <a:t>Przebieg wyświetleń</a:t>
            </a:r>
            <a:r>
              <a:rPr lang="pl-PL" sz="1800" baseline="0" dirty="0">
                <a:solidFill>
                  <a:schemeClr val="tx1"/>
                </a:solidFill>
              </a:rPr>
              <a:t> strony Przedłużanie życia </a:t>
            </a:r>
            <a:r>
              <a:rPr lang="pl-PL" sz="1800" dirty="0">
                <a:solidFill>
                  <a:schemeClr val="tx1"/>
                </a:solidFill>
              </a:rPr>
              <a:t>[mln][2]</a:t>
            </a:r>
            <a:endParaRPr lang="en-US" sz="1800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3603301286851403E-2"/>
          <c:y val="0.1663481439502057"/>
          <c:w val="0.94418872912625051"/>
          <c:h val="0.5829305836503621"/>
        </c:manualLayout>
      </c:layout>
      <c:lineChart>
        <c:grouping val="standard"/>
        <c:varyColors val="0"/>
        <c:ser>
          <c:idx val="0"/>
          <c:order val="0"/>
          <c:tx>
            <c:strRef>
              <c:f>Arkusz1!$B$1</c:f>
              <c:strCache>
                <c:ptCount val="1"/>
                <c:pt idx="0">
                  <c:v>Przedłużanie życia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Arkusz1!$A$2:$A$105</c:f>
              <c:numCache>
                <c:formatCode>m/d/yyyy</c:formatCode>
                <c:ptCount val="104"/>
                <c:pt idx="0">
                  <c:v>43101</c:v>
                </c:pt>
                <c:pt idx="1">
                  <c:v>43132</c:v>
                </c:pt>
                <c:pt idx="2">
                  <c:v>43160</c:v>
                </c:pt>
                <c:pt idx="3">
                  <c:v>43191</c:v>
                </c:pt>
                <c:pt idx="4">
                  <c:v>43221</c:v>
                </c:pt>
                <c:pt idx="5">
                  <c:v>43252</c:v>
                </c:pt>
                <c:pt idx="6">
                  <c:v>43282</c:v>
                </c:pt>
                <c:pt idx="7">
                  <c:v>43313</c:v>
                </c:pt>
                <c:pt idx="8">
                  <c:v>43344</c:v>
                </c:pt>
                <c:pt idx="9">
                  <c:v>43374</c:v>
                </c:pt>
                <c:pt idx="10">
                  <c:v>43405</c:v>
                </c:pt>
                <c:pt idx="11">
                  <c:v>43435</c:v>
                </c:pt>
                <c:pt idx="12">
                  <c:v>43466</c:v>
                </c:pt>
                <c:pt idx="13">
                  <c:v>43497</c:v>
                </c:pt>
                <c:pt idx="14">
                  <c:v>43525</c:v>
                </c:pt>
                <c:pt idx="15">
                  <c:v>43556</c:v>
                </c:pt>
                <c:pt idx="16">
                  <c:v>43586</c:v>
                </c:pt>
                <c:pt idx="17">
                  <c:v>43617</c:v>
                </c:pt>
                <c:pt idx="18">
                  <c:v>43647</c:v>
                </c:pt>
                <c:pt idx="19">
                  <c:v>43678</c:v>
                </c:pt>
                <c:pt idx="20">
                  <c:v>43709</c:v>
                </c:pt>
                <c:pt idx="21">
                  <c:v>43739</c:v>
                </c:pt>
                <c:pt idx="22">
                  <c:v>43770</c:v>
                </c:pt>
                <c:pt idx="23">
                  <c:v>43800</c:v>
                </c:pt>
                <c:pt idx="24">
                  <c:v>43831</c:v>
                </c:pt>
                <c:pt idx="25">
                  <c:v>43862</c:v>
                </c:pt>
                <c:pt idx="26">
                  <c:v>43891</c:v>
                </c:pt>
                <c:pt idx="27">
                  <c:v>43922</c:v>
                </c:pt>
                <c:pt idx="28">
                  <c:v>43952</c:v>
                </c:pt>
                <c:pt idx="29">
                  <c:v>43983</c:v>
                </c:pt>
                <c:pt idx="30">
                  <c:v>44013</c:v>
                </c:pt>
                <c:pt idx="31">
                  <c:v>44044</c:v>
                </c:pt>
                <c:pt idx="32">
                  <c:v>44075</c:v>
                </c:pt>
                <c:pt idx="33">
                  <c:v>44105</c:v>
                </c:pt>
                <c:pt idx="34">
                  <c:v>44136</c:v>
                </c:pt>
                <c:pt idx="35">
                  <c:v>44166</c:v>
                </c:pt>
                <c:pt idx="36">
                  <c:v>44197</c:v>
                </c:pt>
                <c:pt idx="37">
                  <c:v>44228</c:v>
                </c:pt>
                <c:pt idx="38">
                  <c:v>44256</c:v>
                </c:pt>
                <c:pt idx="39">
                  <c:v>44287</c:v>
                </c:pt>
                <c:pt idx="40">
                  <c:v>44317</c:v>
                </c:pt>
                <c:pt idx="41">
                  <c:v>44348</c:v>
                </c:pt>
                <c:pt idx="42">
                  <c:v>44378</c:v>
                </c:pt>
                <c:pt idx="43">
                  <c:v>44409</c:v>
                </c:pt>
                <c:pt idx="44">
                  <c:v>44440</c:v>
                </c:pt>
                <c:pt idx="45">
                  <c:v>44470</c:v>
                </c:pt>
                <c:pt idx="46">
                  <c:v>44501</c:v>
                </c:pt>
                <c:pt idx="47">
                  <c:v>44531</c:v>
                </c:pt>
                <c:pt idx="48">
                  <c:v>44562</c:v>
                </c:pt>
                <c:pt idx="49">
                  <c:v>44593</c:v>
                </c:pt>
                <c:pt idx="50">
                  <c:v>44621</c:v>
                </c:pt>
                <c:pt idx="51">
                  <c:v>44652</c:v>
                </c:pt>
                <c:pt idx="52">
                  <c:v>44682</c:v>
                </c:pt>
                <c:pt idx="53">
                  <c:v>44713</c:v>
                </c:pt>
                <c:pt idx="54">
                  <c:v>44743</c:v>
                </c:pt>
                <c:pt idx="55">
                  <c:v>44774</c:v>
                </c:pt>
                <c:pt idx="56">
                  <c:v>44805</c:v>
                </c:pt>
                <c:pt idx="57">
                  <c:v>44835</c:v>
                </c:pt>
                <c:pt idx="58">
                  <c:v>44866</c:v>
                </c:pt>
                <c:pt idx="59">
                  <c:v>44896</c:v>
                </c:pt>
                <c:pt idx="60">
                  <c:v>44927</c:v>
                </c:pt>
                <c:pt idx="61">
                  <c:v>44958</c:v>
                </c:pt>
                <c:pt idx="62">
                  <c:v>44986</c:v>
                </c:pt>
                <c:pt idx="63">
                  <c:v>45017</c:v>
                </c:pt>
                <c:pt idx="64">
                  <c:v>45047</c:v>
                </c:pt>
                <c:pt idx="65">
                  <c:v>45078</c:v>
                </c:pt>
                <c:pt idx="66">
                  <c:v>45108</c:v>
                </c:pt>
                <c:pt idx="67">
                  <c:v>45139</c:v>
                </c:pt>
                <c:pt idx="68">
                  <c:v>45170</c:v>
                </c:pt>
                <c:pt idx="69">
                  <c:v>45200</c:v>
                </c:pt>
                <c:pt idx="70">
                  <c:v>45231</c:v>
                </c:pt>
                <c:pt idx="71">
                  <c:v>45261</c:v>
                </c:pt>
                <c:pt idx="72">
                  <c:v>45292</c:v>
                </c:pt>
                <c:pt idx="73">
                  <c:v>45323</c:v>
                </c:pt>
                <c:pt idx="74">
                  <c:v>45352</c:v>
                </c:pt>
                <c:pt idx="75">
                  <c:v>45383</c:v>
                </c:pt>
                <c:pt idx="76">
                  <c:v>45413</c:v>
                </c:pt>
                <c:pt idx="77">
                  <c:v>45444</c:v>
                </c:pt>
                <c:pt idx="78">
                  <c:v>45474</c:v>
                </c:pt>
                <c:pt idx="79">
                  <c:v>45505</c:v>
                </c:pt>
                <c:pt idx="80">
                  <c:v>45536</c:v>
                </c:pt>
                <c:pt idx="81">
                  <c:v>45566</c:v>
                </c:pt>
                <c:pt idx="82">
                  <c:v>45597</c:v>
                </c:pt>
                <c:pt idx="83">
                  <c:v>45627</c:v>
                </c:pt>
                <c:pt idx="84">
                  <c:v>45658</c:v>
                </c:pt>
                <c:pt idx="85">
                  <c:v>45689</c:v>
                </c:pt>
                <c:pt idx="86">
                  <c:v>45717</c:v>
                </c:pt>
                <c:pt idx="87">
                  <c:v>45748</c:v>
                </c:pt>
                <c:pt idx="88">
                  <c:v>45778</c:v>
                </c:pt>
                <c:pt idx="89">
                  <c:v>45809</c:v>
                </c:pt>
                <c:pt idx="90">
                  <c:v>45839</c:v>
                </c:pt>
                <c:pt idx="91">
                  <c:v>45870</c:v>
                </c:pt>
                <c:pt idx="92">
                  <c:v>45901</c:v>
                </c:pt>
                <c:pt idx="93">
                  <c:v>45931</c:v>
                </c:pt>
                <c:pt idx="94">
                  <c:v>45962</c:v>
                </c:pt>
                <c:pt idx="95">
                  <c:v>45992</c:v>
                </c:pt>
                <c:pt idx="96">
                  <c:v>46023</c:v>
                </c:pt>
                <c:pt idx="97">
                  <c:v>46054</c:v>
                </c:pt>
                <c:pt idx="98">
                  <c:v>46082</c:v>
                </c:pt>
                <c:pt idx="99">
                  <c:v>46113</c:v>
                </c:pt>
                <c:pt idx="100">
                  <c:v>46143</c:v>
                </c:pt>
                <c:pt idx="101">
                  <c:v>46174</c:v>
                </c:pt>
                <c:pt idx="102">
                  <c:v>46204</c:v>
                </c:pt>
                <c:pt idx="103">
                  <c:v>46235</c:v>
                </c:pt>
              </c:numCache>
            </c:numRef>
          </c:cat>
          <c:val>
            <c:numRef>
              <c:f>Arkusz1!$B$2:$B$105</c:f>
              <c:numCache>
                <c:formatCode>General</c:formatCode>
                <c:ptCount val="104"/>
                <c:pt idx="0">
                  <c:v>769</c:v>
                </c:pt>
                <c:pt idx="1">
                  <c:v>447</c:v>
                </c:pt>
                <c:pt idx="2">
                  <c:v>621</c:v>
                </c:pt>
                <c:pt idx="3">
                  <c:v>624</c:v>
                </c:pt>
                <c:pt idx="4">
                  <c:v>503</c:v>
                </c:pt>
                <c:pt idx="5">
                  <c:v>512</c:v>
                </c:pt>
                <c:pt idx="6">
                  <c:v>507</c:v>
                </c:pt>
                <c:pt idx="7">
                  <c:v>469</c:v>
                </c:pt>
                <c:pt idx="8">
                  <c:v>505</c:v>
                </c:pt>
                <c:pt idx="9">
                  <c:v>532</c:v>
                </c:pt>
                <c:pt idx="10">
                  <c:v>666</c:v>
                </c:pt>
                <c:pt idx="11">
                  <c:v>612</c:v>
                </c:pt>
                <c:pt idx="12">
                  <c:v>585</c:v>
                </c:pt>
                <c:pt idx="13">
                  <c:v>502</c:v>
                </c:pt>
                <c:pt idx="14">
                  <c:v>513</c:v>
                </c:pt>
                <c:pt idx="15">
                  <c:v>423</c:v>
                </c:pt>
                <c:pt idx="16">
                  <c:v>491</c:v>
                </c:pt>
                <c:pt idx="17">
                  <c:v>280830</c:v>
                </c:pt>
                <c:pt idx="18">
                  <c:v>2518501</c:v>
                </c:pt>
                <c:pt idx="19">
                  <c:v>569</c:v>
                </c:pt>
                <c:pt idx="20">
                  <c:v>380</c:v>
                </c:pt>
                <c:pt idx="21">
                  <c:v>758</c:v>
                </c:pt>
                <c:pt idx="22">
                  <c:v>464</c:v>
                </c:pt>
                <c:pt idx="23">
                  <c:v>404</c:v>
                </c:pt>
                <c:pt idx="24">
                  <c:v>589</c:v>
                </c:pt>
                <c:pt idx="25">
                  <c:v>455</c:v>
                </c:pt>
                <c:pt idx="26">
                  <c:v>444</c:v>
                </c:pt>
                <c:pt idx="27">
                  <c:v>535</c:v>
                </c:pt>
                <c:pt idx="28">
                  <c:v>600</c:v>
                </c:pt>
                <c:pt idx="29">
                  <c:v>427</c:v>
                </c:pt>
                <c:pt idx="30">
                  <c:v>368</c:v>
                </c:pt>
                <c:pt idx="31">
                  <c:v>331</c:v>
                </c:pt>
                <c:pt idx="32">
                  <c:v>400</c:v>
                </c:pt>
                <c:pt idx="33">
                  <c:v>483</c:v>
                </c:pt>
                <c:pt idx="34">
                  <c:v>526</c:v>
                </c:pt>
                <c:pt idx="35">
                  <c:v>536</c:v>
                </c:pt>
                <c:pt idx="36">
                  <c:v>605</c:v>
                </c:pt>
                <c:pt idx="37">
                  <c:v>523</c:v>
                </c:pt>
                <c:pt idx="38">
                  <c:v>635</c:v>
                </c:pt>
                <c:pt idx="39">
                  <c:v>610</c:v>
                </c:pt>
                <c:pt idx="40">
                  <c:v>556</c:v>
                </c:pt>
                <c:pt idx="41">
                  <c:v>530</c:v>
                </c:pt>
                <c:pt idx="42">
                  <c:v>455</c:v>
                </c:pt>
                <c:pt idx="43">
                  <c:v>375</c:v>
                </c:pt>
                <c:pt idx="44">
                  <c:v>416</c:v>
                </c:pt>
                <c:pt idx="45">
                  <c:v>532</c:v>
                </c:pt>
                <c:pt idx="46">
                  <c:v>542</c:v>
                </c:pt>
                <c:pt idx="47">
                  <c:v>553</c:v>
                </c:pt>
                <c:pt idx="48">
                  <c:v>583</c:v>
                </c:pt>
                <c:pt idx="49">
                  <c:v>403</c:v>
                </c:pt>
                <c:pt idx="50">
                  <c:v>419</c:v>
                </c:pt>
                <c:pt idx="51">
                  <c:v>366</c:v>
                </c:pt>
                <c:pt idx="52">
                  <c:v>334</c:v>
                </c:pt>
                <c:pt idx="53">
                  <c:v>283</c:v>
                </c:pt>
                <c:pt idx="54">
                  <c:v>299</c:v>
                </c:pt>
                <c:pt idx="55">
                  <c:v>310</c:v>
                </c:pt>
                <c:pt idx="56">
                  <c:v>284</c:v>
                </c:pt>
                <c:pt idx="57">
                  <c:v>364</c:v>
                </c:pt>
                <c:pt idx="58">
                  <c:v>377</c:v>
                </c:pt>
                <c:pt idx="59">
                  <c:v>325</c:v>
                </c:pt>
                <c:pt idx="60">
                  <c:v>419</c:v>
                </c:pt>
                <c:pt idx="61">
                  <c:v>298</c:v>
                </c:pt>
                <c:pt idx="62">
                  <c:v>391</c:v>
                </c:pt>
                <c:pt idx="63">
                  <c:v>352</c:v>
                </c:pt>
                <c:pt idx="64">
                  <c:v>405</c:v>
                </c:pt>
                <c:pt idx="65">
                  <c:v>346</c:v>
                </c:pt>
                <c:pt idx="66">
                  <c:v>319</c:v>
                </c:pt>
                <c:pt idx="67">
                  <c:v>346</c:v>
                </c:pt>
                <c:pt idx="68">
                  <c:v>283</c:v>
                </c:pt>
                <c:pt idx="69">
                  <c:v>260</c:v>
                </c:pt>
                <c:pt idx="70">
                  <c:v>270</c:v>
                </c:pt>
                <c:pt idx="71">
                  <c:v>223</c:v>
                </c:pt>
                <c:pt idx="72">
                  <c:v>288</c:v>
                </c:pt>
                <c:pt idx="73">
                  <c:v>247</c:v>
                </c:pt>
                <c:pt idx="74">
                  <c:v>237</c:v>
                </c:pt>
                <c:pt idx="75">
                  <c:v>267</c:v>
                </c:pt>
                <c:pt idx="76">
                  <c:v>236</c:v>
                </c:pt>
                <c:pt idx="77">
                  <c:v>220</c:v>
                </c:pt>
                <c:pt idx="78">
                  <c:v>183</c:v>
                </c:pt>
                <c:pt idx="79">
                  <c:v>237</c:v>
                </c:pt>
                <c:pt idx="80">
                  <c:v>220</c:v>
                </c:pt>
                <c:pt idx="81">
                  <c:v>240</c:v>
                </c:pt>
                <c:pt idx="82">
                  <c:v>265</c:v>
                </c:pt>
                <c:pt idx="83">
                  <c:v>202</c:v>
                </c:pt>
                <c:pt idx="84">
                  <c:v>217</c:v>
                </c:pt>
                <c:pt idx="85">
                  <c:v>162</c:v>
                </c:pt>
                <c:pt idx="86">
                  <c:v>207</c:v>
                </c:pt>
                <c:pt idx="87">
                  <c:v>169</c:v>
                </c:pt>
                <c:pt idx="88">
                  <c:v>158</c:v>
                </c:pt>
                <c:pt idx="89">
                  <c:v>150</c:v>
                </c:pt>
                <c:pt idx="90">
                  <c:v>144</c:v>
                </c:pt>
                <c:pt idx="91">
                  <c:v>134</c:v>
                </c:pt>
                <c:pt idx="92">
                  <c:v>106</c:v>
                </c:pt>
                <c:pt idx="93">
                  <c:v>120</c:v>
                </c:pt>
                <c:pt idx="94">
                  <c:v>144</c:v>
                </c:pt>
                <c:pt idx="95">
                  <c:v>167</c:v>
                </c:pt>
                <c:pt idx="96">
                  <c:v>133</c:v>
                </c:pt>
                <c:pt idx="97">
                  <c:v>96</c:v>
                </c:pt>
                <c:pt idx="98">
                  <c:v>135</c:v>
                </c:pt>
                <c:pt idx="99">
                  <c:v>101</c:v>
                </c:pt>
                <c:pt idx="100">
                  <c:v>104</c:v>
                </c:pt>
                <c:pt idx="101">
                  <c:v>101</c:v>
                </c:pt>
                <c:pt idx="102">
                  <c:v>97</c:v>
                </c:pt>
                <c:pt idx="103">
                  <c:v>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98A-42B4-BA2C-8AEEEEF9E6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62609072"/>
        <c:axId val="1473956560"/>
      </c:lineChart>
      <c:dateAx>
        <c:axId val="1462609072"/>
        <c:scaling>
          <c:orientation val="minMax"/>
        </c:scaling>
        <c:delete val="0"/>
        <c:axPos val="b"/>
        <c:numFmt formatCode="yyyy" sourceLinked="0"/>
        <c:majorTickMark val="in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473956560"/>
        <c:crosses val="autoZero"/>
        <c:auto val="1"/>
        <c:lblOffset val="100"/>
        <c:baseTimeUnit val="months"/>
        <c:majorUnit val="12"/>
        <c:majorTimeUnit val="months"/>
      </c:dateAx>
      <c:valAx>
        <c:axId val="14739565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462609072"/>
        <c:crosses val="autoZero"/>
        <c:crossBetween val="between"/>
        <c:dispUnits>
          <c:builtInUnit val="millions"/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2"/>
    </a:solidFill>
    <a:ln>
      <a:noFill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935C60-06B4-43D2-8FB6-7E8AA44FCC6B}" type="datetimeFigureOut">
              <a:rPr lang="pl-PL" smtClean="0"/>
              <a:t>25.09.2026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95FADB-00C8-4FB2-BB50-76DE30578D9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03346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sz="1200" dirty="0"/>
              <a:t> Dostępne są dane dotyczące wyświetleń od 2008 r, natomiast dane od 2016 roku zawierają podział na ludzi i boty. W latach 2016-17 odnotowano incydenty wzmożonego ruchu botów zaklasyfikowanych jako użytkownicy, dlatego zdecydowałem się pokazać ostatnie 8 lat.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95FADB-00C8-4FB2-BB50-76DE30578D93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08392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C9D3066-3F9E-7507-A82F-F90BCB3F5A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53957D5-0BDA-51DF-583D-5C9B92F110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CBFD57A-F1C5-E83D-6994-616151519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EE27-536F-479E-B304-98213E6B58CC}" type="datetimeFigureOut">
              <a:rPr lang="pl-PL" smtClean="0"/>
              <a:t>25.09.2026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7029B45-B938-BC91-DEA6-31988BDB0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D9C2CB1-9F34-7292-9FAC-D1522A4CB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42363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74624C3-F21A-D57C-4779-71E4C7A0F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96DF078-20D2-95CF-5E14-A94DDEECB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6982C61-7CAE-31F3-18B7-2DFB504BB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EE27-536F-479E-B304-98213E6B58CC}" type="datetimeFigureOut">
              <a:rPr lang="pl-PL" smtClean="0"/>
              <a:t>25.09.2026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FAC59E4-A4C2-4C9E-C116-F32B86275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8231EC9-AF99-43AE-4BF9-EFDF0851A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80086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1EC914C-3EFF-FC05-C5D4-D338B73FB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9140809-F34E-A8C6-5D6F-B06FBB879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1597F03-AA90-1517-F4C5-10CD3432E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EE27-536F-479E-B304-98213E6B58CC}" type="datetimeFigureOut">
              <a:rPr lang="pl-PL" smtClean="0"/>
              <a:t>25.09.2026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4E40038-BB1E-5A52-F407-D8C946C70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AFEE438-352C-D242-180C-924AF8610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24399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AE03817-2A93-FED3-FBDB-244CF85F2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F3A88ED-75BC-0121-376D-5A3156FDF0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25CDAD63-6655-BE50-0BF2-C7E9BCC77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612F97F-AC7D-1CC2-FECC-A8AB38175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EE27-536F-479E-B304-98213E6B58CC}" type="datetimeFigureOut">
              <a:rPr lang="pl-PL" smtClean="0"/>
              <a:t>25.09.2026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0B73069-7046-BFD7-42A1-A34F11A74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6DA65674-A0E6-87F0-365A-A5E3BFC7C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24074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9313B9C-F8AD-859F-E1EB-A05D47D94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1C5EE98-2342-9422-2E20-B66E54842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B17E98A2-CF8A-3D91-D593-FE5EA52B8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1C9D4037-DEF4-C410-AB67-0DF9860BD2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63ED75DF-E629-FAE6-57CB-6219471300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56EEE76A-F576-EE75-073C-0395AF0F6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EE27-536F-479E-B304-98213E6B58CC}" type="datetimeFigureOut">
              <a:rPr lang="pl-PL" smtClean="0"/>
              <a:t>25.09.2026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5CBA82FD-645F-7F4C-B01D-090973348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81617355-7BF2-428A-3BCE-95BABBB9C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98646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809FE18-0AE9-7353-49BF-A33AB1E63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E894EE45-BE5D-2EC2-871B-F380B772A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EE27-536F-479E-B304-98213E6B58CC}" type="datetimeFigureOut">
              <a:rPr lang="pl-PL" smtClean="0"/>
              <a:t>25.09.2026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5D5EF9C5-CB98-6ACD-ED22-B016DB1C9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790C3667-2BEB-9CC1-6881-1E0B3F115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35974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FD3E4AFA-9D77-ECD2-3537-12712237D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EE27-536F-479E-B304-98213E6B58CC}" type="datetimeFigureOut">
              <a:rPr lang="pl-PL" smtClean="0"/>
              <a:t>25.09.2026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125A8279-982E-2DEB-48C4-31346B241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A1C08BCF-AC92-55DE-F2F0-11494317E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26010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DAC369-5338-3B1B-F146-2A8E6A938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5DD4C74-DF6C-153A-26B1-74788DEE7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1DD88DD2-39C9-E478-21A7-750DEB6C27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92B2F165-82F3-8DF9-B941-12FB976A9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EE27-536F-479E-B304-98213E6B58CC}" type="datetimeFigureOut">
              <a:rPr lang="pl-PL" smtClean="0"/>
              <a:t>25.09.2026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75428AA0-D2A3-75DF-BC05-640CF235B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900F070-C41B-84CF-22B3-B7B938329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46526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9F58B93-0757-98BD-CF28-F4085C4CB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DBD4A296-459A-9B19-E7F6-5B64707F0B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B3BF1E3F-4369-7633-ABF3-9DCC5DAB9C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0C1FD90B-6427-6B84-8D86-4065C195F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EE27-536F-479E-B304-98213E6B58CC}" type="datetimeFigureOut">
              <a:rPr lang="pl-PL" smtClean="0"/>
              <a:t>25.09.2026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CB3725F-0963-468C-3496-C6507191B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CCAD953-3D47-9575-BB09-2DCFA3A83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49175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74882DE-D6C2-ADAA-5CC4-9C86E558E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8F2EAB83-76D1-C014-BDE4-459C3BEA27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4F553C6-CE96-31E2-9D0B-87F080421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EE27-536F-479E-B304-98213E6B58CC}" type="datetimeFigureOut">
              <a:rPr lang="pl-PL" smtClean="0"/>
              <a:t>25.09.2026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E984E3A-F428-9721-57D4-4DA6A60FA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B3202D7-522C-85FA-AF9E-E3EECD96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95716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C432D806-DFEC-1939-C6F7-E41DAFDFBA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ED926729-E8F8-36B4-561D-2BCAA84B76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8D9FD4A-C811-CC77-4EAE-26EF19E68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EE27-536F-479E-B304-98213E6B58CC}" type="datetimeFigureOut">
              <a:rPr lang="pl-PL" smtClean="0"/>
              <a:t>25.09.2026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BF210D4-8811-A5CC-BFF8-ABF352F91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B9B824F-4746-C760-83D5-28C515466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43279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70AEF985-C006-A2C8-FE5C-9336877CF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dirty="0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76A447A2-73DA-7AFC-6B1A-DA7A5A62E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7F7173B-C4EA-8C34-A7C1-AA1F082E1C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5FEE27-536F-479E-B304-98213E6B58CC}" type="datetimeFigureOut">
              <a:rPr lang="pl-PL" smtClean="0"/>
              <a:t>25.09.2026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C21AE16-4107-19CD-FC61-FC35B7E57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7F53CDD-E309-7B6A-BF3C-C65B27CDF4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D5C528-8E18-4212-8660-D147A651E159}" type="slidenum">
              <a:rPr lang="pl-PL" smtClean="0"/>
              <a:t>‹#›</a:t>
            </a:fld>
            <a:endParaRPr lang="pl-PL"/>
          </a:p>
        </p:txBody>
      </p:sp>
      <p:pic>
        <p:nvPicPr>
          <p:cNvPr id="8" name="Grafika 7">
            <a:extLst>
              <a:ext uri="{FF2B5EF4-FFF2-40B4-BE49-F238E27FC236}">
                <a16:creationId xmlns:a16="http://schemas.microsoft.com/office/drawing/2014/main" id="{1C49296C-602D-8351-3C9D-7E5AD221257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836612" y="6249479"/>
            <a:ext cx="517187" cy="47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269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l.wikipedia.org/wiki/El%C5%BCbieta_II" TargetMode="External"/><Relationship Id="rId2" Type="http://schemas.openxmlformats.org/officeDocument/2006/relationships/hyperlink" Target="https://pageviews.wmcloud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sa/4.0" TargetMode="External"/><Relationship Id="rId4" Type="http://schemas.openxmlformats.org/officeDocument/2006/relationships/hyperlink" Target="https://pl.wikipedia.org/wiki/Wikipedia:Liczba_artyku%C5%82%C3%B3w_w_polskoj%C4%99zycznej_Wikipedii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ymbol zastępczy zawartości 4">
            <a:extLst>
              <a:ext uri="{FF2B5EF4-FFF2-40B4-BE49-F238E27FC236}">
                <a16:creationId xmlns:a16="http://schemas.microsoft.com/office/drawing/2014/main" id="{2A08C688-2254-4D63-9CD5-1A55F8ECF1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2058821"/>
            <a:ext cx="5181600" cy="21199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l-PL" sz="7200" dirty="0">
                <a:latin typeface="Montserrat SemiBold" pitchFamily="2" charset="-18"/>
              </a:rPr>
              <a:t>1,7 mln</a:t>
            </a:r>
          </a:p>
          <a:p>
            <a:pPr marL="0" indent="0" algn="ctr">
              <a:buNone/>
            </a:pPr>
            <a:r>
              <a:rPr lang="pl-PL" sz="1600" dirty="0">
                <a:solidFill>
                  <a:schemeClr val="tx2"/>
                </a:solidFill>
              </a:rPr>
              <a:t>Liczba artykułów w polskiej Wikipedii [7]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31EC44DC-1882-24AB-7621-D4D8384142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2058821"/>
            <a:ext cx="5181600" cy="21199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l-PL" sz="7200" dirty="0">
                <a:latin typeface="Montserrat SemiBold" pitchFamily="2" charset="-18"/>
              </a:rPr>
              <a:t>27 mld</a:t>
            </a:r>
          </a:p>
          <a:p>
            <a:pPr marL="0" indent="0" algn="ctr">
              <a:buNone/>
            </a:pPr>
            <a:r>
              <a:rPr lang="pl-PL" sz="1600" dirty="0">
                <a:solidFill>
                  <a:schemeClr val="tx2"/>
                </a:solidFill>
              </a:rPr>
              <a:t>Suma wyświetleń przez użytkowników </a:t>
            </a:r>
            <a:br>
              <a:rPr lang="pl-PL" sz="1600" dirty="0">
                <a:solidFill>
                  <a:schemeClr val="tx2"/>
                </a:solidFill>
              </a:rPr>
            </a:br>
            <a:r>
              <a:rPr lang="pl-PL" sz="1600" dirty="0">
                <a:solidFill>
                  <a:schemeClr val="tx2"/>
                </a:solidFill>
              </a:rPr>
              <a:t>w ostatnich 8 latach[1]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BB49EA53-37D8-077D-998A-E3927B7AAE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692" y="458158"/>
            <a:ext cx="7976616" cy="1217315"/>
          </a:xfrm>
          <a:prstGeom prst="rect">
            <a:avLst/>
          </a:prstGeom>
        </p:spPr>
      </p:pic>
      <p:sp>
        <p:nvSpPr>
          <p:cNvPr id="9" name="Symbol zastępczy zawartości 4">
            <a:extLst>
              <a:ext uri="{FF2B5EF4-FFF2-40B4-BE49-F238E27FC236}">
                <a16:creationId xmlns:a16="http://schemas.microsoft.com/office/drawing/2014/main" id="{CE723375-0C54-A455-129B-05381629C29E}"/>
              </a:ext>
            </a:extLst>
          </p:cNvPr>
          <p:cNvSpPr txBox="1">
            <a:spLocks/>
          </p:cNvSpPr>
          <p:nvPr/>
        </p:nvSpPr>
        <p:spPr>
          <a:xfrm>
            <a:off x="838200" y="4320563"/>
            <a:ext cx="10515600" cy="9372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pl-PL" sz="2400" dirty="0"/>
              <a:t>Przez ostatnie 25 lat zadaliśmy miliardy pytań w polskiej Wikipedii. Sprawdźmy, czego dotyczą, kiedy się pojawiają i dlaczego.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AC538181-EDAA-9D86-BC1B-79F880235718}"/>
              </a:ext>
            </a:extLst>
          </p:cNvPr>
          <p:cNvSpPr txBox="1"/>
          <p:nvPr/>
        </p:nvSpPr>
        <p:spPr>
          <a:xfrm>
            <a:off x="838200" y="6251110"/>
            <a:ext cx="94261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200" dirty="0">
                <a:solidFill>
                  <a:schemeClr val="tx2"/>
                </a:solidFill>
              </a:rPr>
              <a:t> Dane o wyświetleniach przedstawiono dla lat 2018-2025 ze względu na jakość danych historycznych.</a:t>
            </a:r>
          </a:p>
        </p:txBody>
      </p:sp>
    </p:spTree>
    <p:extLst>
      <p:ext uri="{BB962C8B-B14F-4D97-AF65-F5344CB8AC3E}">
        <p14:creationId xmlns:p14="http://schemas.microsoft.com/office/powerpoint/2010/main" val="231039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1B94377-C155-CDFE-9C2B-B07543175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Ludzie interesują się ludźmi</a:t>
            </a:r>
          </a:p>
        </p:txBody>
      </p:sp>
      <p:graphicFrame>
        <p:nvGraphicFramePr>
          <p:cNvPr id="6" name="Symbol zastępczy zawartości 5">
            <a:extLst>
              <a:ext uri="{FF2B5EF4-FFF2-40B4-BE49-F238E27FC236}">
                <a16:creationId xmlns:a16="http://schemas.microsoft.com/office/drawing/2014/main" id="{C11DD809-F3DD-AF53-5429-39F7AACFF9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2225371"/>
              </p:ext>
            </p:extLst>
          </p:nvPr>
        </p:nvGraphicFramePr>
        <p:xfrm>
          <a:off x="838199" y="1825624"/>
          <a:ext cx="7070387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pole tekstowe 7">
            <a:extLst>
              <a:ext uri="{FF2B5EF4-FFF2-40B4-BE49-F238E27FC236}">
                <a16:creationId xmlns:a16="http://schemas.microsoft.com/office/drawing/2014/main" id="{7E87780E-5B20-ACFA-6A11-7A79835FD890}"/>
              </a:ext>
            </a:extLst>
          </p:cNvPr>
          <p:cNvSpPr txBox="1"/>
          <p:nvPr/>
        </p:nvSpPr>
        <p:spPr>
          <a:xfrm>
            <a:off x="953894" y="6215876"/>
            <a:ext cx="94261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200" dirty="0">
                <a:solidFill>
                  <a:schemeClr val="tx2"/>
                </a:solidFill>
              </a:rPr>
              <a:t>Kategoryzacja w oparciu o model językowy, który przypisał jedną z głównych kategorii Wikipedii do top 100 artykułów.</a:t>
            </a:r>
          </a:p>
        </p:txBody>
      </p:sp>
      <p:sp>
        <p:nvSpPr>
          <p:cNvPr id="9" name="Symbol zastępczy zawartości 4">
            <a:extLst>
              <a:ext uri="{FF2B5EF4-FFF2-40B4-BE49-F238E27FC236}">
                <a16:creationId xmlns:a16="http://schemas.microsoft.com/office/drawing/2014/main" id="{8FF34AFB-BB03-C486-2D94-7FC87E580460}"/>
              </a:ext>
            </a:extLst>
          </p:cNvPr>
          <p:cNvSpPr txBox="1">
            <a:spLocks/>
          </p:cNvSpPr>
          <p:nvPr/>
        </p:nvSpPr>
        <p:spPr>
          <a:xfrm>
            <a:off x="7896426" y="1825623"/>
            <a:ext cx="3453319" cy="4008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pl-PL" sz="1800" dirty="0">
                <a:solidFill>
                  <a:schemeClr val="tx2"/>
                </a:solidFill>
              </a:rPr>
              <a:t>Choć Wikipedia zawiera informacje o niemal każdym aspekcie świata, najbardziej interesują nas inni ludzie. Biografie wyraźnie dominują nad wszystkimi pozostałymi kategoriami, zostawiając daleko w tyle historię, geografię czy kulturę.</a:t>
            </a:r>
          </a:p>
        </p:txBody>
      </p:sp>
    </p:spTree>
    <p:extLst>
      <p:ext uri="{BB962C8B-B14F-4D97-AF65-F5344CB8AC3E}">
        <p14:creationId xmlns:p14="http://schemas.microsoft.com/office/powerpoint/2010/main" val="4105226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zawartości 4">
            <a:extLst>
              <a:ext uri="{FF2B5EF4-FFF2-40B4-BE49-F238E27FC236}">
                <a16:creationId xmlns:a16="http://schemas.microsoft.com/office/drawing/2014/main" id="{6DBC4545-96B9-73B4-24E4-8DE4515B03DA}"/>
              </a:ext>
            </a:extLst>
          </p:cNvPr>
          <p:cNvSpPr txBox="1">
            <a:spLocks/>
          </p:cNvSpPr>
          <p:nvPr/>
        </p:nvSpPr>
        <p:spPr>
          <a:xfrm>
            <a:off x="838200" y="5214026"/>
            <a:ext cx="7070386" cy="9629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pl-PL" sz="1600" dirty="0">
                <a:solidFill>
                  <a:schemeClr val="tx2"/>
                </a:solidFill>
              </a:rPr>
              <a:t>Wśród najpopularniejszych artykułów trudno znaleźć przypadkowe tematy. Dotyczą osób, państw lub wydarzeń, które regularnie pojawiają się w przestrzeni publicznej. [8]</a:t>
            </a:r>
          </a:p>
        </p:txBody>
      </p:sp>
      <p:sp>
        <p:nvSpPr>
          <p:cNvPr id="9" name="Tytuł 8">
            <a:extLst>
              <a:ext uri="{FF2B5EF4-FFF2-40B4-BE49-F238E27FC236}">
                <a16:creationId xmlns:a16="http://schemas.microsoft.com/office/drawing/2014/main" id="{C0DEE201-5A1F-4DAA-DD16-738368DEE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Czego szukamy najczęściej</a:t>
            </a:r>
          </a:p>
        </p:txBody>
      </p:sp>
      <p:graphicFrame>
        <p:nvGraphicFramePr>
          <p:cNvPr id="18" name="Symbol zastępczy zawartości 17">
            <a:extLst>
              <a:ext uri="{FF2B5EF4-FFF2-40B4-BE49-F238E27FC236}">
                <a16:creationId xmlns:a16="http://schemas.microsoft.com/office/drawing/2014/main" id="{1CED35B4-95D4-37AD-597F-EADF4B8D92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2161523"/>
              </p:ext>
            </p:extLst>
          </p:nvPr>
        </p:nvGraphicFramePr>
        <p:xfrm>
          <a:off x="838198" y="1820767"/>
          <a:ext cx="7070388" cy="33932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2" name="Obraz 1" descr="Ilustracja">
            <a:extLst>
              <a:ext uri="{FF2B5EF4-FFF2-40B4-BE49-F238E27FC236}">
                <a16:creationId xmlns:a16="http://schemas.microsoft.com/office/drawing/2014/main" id="{442588CC-D45D-0187-38D5-7C1E4AE77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6877" y="4200906"/>
            <a:ext cx="2194547" cy="1457179"/>
          </a:xfrm>
          <a:prstGeom prst="rect">
            <a:avLst/>
          </a:prstGeom>
        </p:spPr>
      </p:pic>
      <p:pic>
        <p:nvPicPr>
          <p:cNvPr id="21" name="Obraz 20" descr="Ilustracja">
            <a:extLst>
              <a:ext uri="{FF2B5EF4-FFF2-40B4-BE49-F238E27FC236}">
                <a16:creationId xmlns:a16="http://schemas.microsoft.com/office/drawing/2014/main" id="{2AA5B949-D598-B0A1-AE1D-03766D2755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8206" y="2984053"/>
            <a:ext cx="1397343" cy="1861261"/>
          </a:xfrm>
          <a:prstGeom prst="rect">
            <a:avLst/>
          </a:prstGeom>
        </p:spPr>
      </p:pic>
      <p:pic>
        <p:nvPicPr>
          <p:cNvPr id="19" name="Obraz 18" descr="Mapa opisywanego kraju">
            <a:extLst>
              <a:ext uri="{FF2B5EF4-FFF2-40B4-BE49-F238E27FC236}">
                <a16:creationId xmlns:a16="http://schemas.microsoft.com/office/drawing/2014/main" id="{619B8E3E-16F0-0004-5A2C-28B6697D9C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4003" y="1820768"/>
            <a:ext cx="1729796" cy="1861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220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Wykres 6">
            <a:extLst>
              <a:ext uri="{FF2B5EF4-FFF2-40B4-BE49-F238E27FC236}">
                <a16:creationId xmlns:a16="http://schemas.microsoft.com/office/drawing/2014/main" id="{F6814C3D-6579-8325-76B9-9092EF1007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6285554"/>
              </p:ext>
            </p:extLst>
          </p:nvPr>
        </p:nvGraphicFramePr>
        <p:xfrm>
          <a:off x="838197" y="1825625"/>
          <a:ext cx="7070387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ytuł 1">
            <a:extLst>
              <a:ext uri="{FF2B5EF4-FFF2-40B4-BE49-F238E27FC236}">
                <a16:creationId xmlns:a16="http://schemas.microsoft.com/office/drawing/2014/main" id="{E9460EE4-EA64-CC2B-6927-2112E5725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Kiedy szukamy informacji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6408B14C-EEE3-F15A-BE30-968444DB9FBB}"/>
              </a:ext>
            </a:extLst>
          </p:cNvPr>
          <p:cNvSpPr txBox="1"/>
          <p:nvPr/>
        </p:nvSpPr>
        <p:spPr>
          <a:xfrm>
            <a:off x="7908583" y="1825625"/>
            <a:ext cx="3445216" cy="1815882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tx2"/>
                </a:solidFill>
              </a:rPr>
              <a:t>Zwiększenie ruchu na stronach Wikipedii powodują wydarzenia wywołujące różne emocje. Są to zarówno tragedie – śmierć, wojna czy katastrofa, oraz pozytywne jak sukcesy sportowe.</a:t>
            </a: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B1DB5434-4B8C-EEA6-8442-37AEBEBCCCC8}"/>
              </a:ext>
            </a:extLst>
          </p:cNvPr>
          <p:cNvSpPr txBox="1"/>
          <p:nvPr/>
        </p:nvSpPr>
        <p:spPr>
          <a:xfrm>
            <a:off x="7908583" y="4001294"/>
            <a:ext cx="3445215" cy="1323439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tx2"/>
                </a:solidFill>
              </a:rPr>
              <a:t>Na wzrost wyświetleń wpływają również szeroko komentowane doniesienia medialne oraz nowe produkcje popkultury.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FF2E79AD-B041-5ADB-B7D6-BE50C8AFBB59}"/>
              </a:ext>
            </a:extLst>
          </p:cNvPr>
          <p:cNvSpPr txBox="1"/>
          <p:nvPr/>
        </p:nvSpPr>
        <p:spPr>
          <a:xfrm>
            <a:off x="7908583" y="5592188"/>
            <a:ext cx="3445215" cy="584775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tx2"/>
                </a:solidFill>
              </a:rPr>
              <a:t>Za każdą kategorią kryją się konkretne historie.</a:t>
            </a:r>
          </a:p>
        </p:txBody>
      </p:sp>
    </p:spTree>
    <p:extLst>
      <p:ext uri="{BB962C8B-B14F-4D97-AF65-F5344CB8AC3E}">
        <p14:creationId xmlns:p14="http://schemas.microsoft.com/office/powerpoint/2010/main" val="3735999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55D46-B436-0687-F0BE-76004710B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Symbol zastępczy zawartości 5">
            <a:extLst>
              <a:ext uri="{FF2B5EF4-FFF2-40B4-BE49-F238E27FC236}">
                <a16:creationId xmlns:a16="http://schemas.microsoft.com/office/drawing/2014/main" id="{AEDA1524-37FE-05DD-A0C6-B5A1DD4D50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8574776"/>
              </p:ext>
            </p:extLst>
          </p:nvPr>
        </p:nvGraphicFramePr>
        <p:xfrm>
          <a:off x="838200" y="1825625"/>
          <a:ext cx="7062279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ytuł 1">
            <a:extLst>
              <a:ext uri="{FF2B5EF4-FFF2-40B4-BE49-F238E27FC236}">
                <a16:creationId xmlns:a16="http://schemas.microsoft.com/office/drawing/2014/main" id="{7A1D4BB3-9918-D94B-07CC-A46844FEA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Elżbieta II – śmierć i wesele</a:t>
            </a:r>
          </a:p>
        </p:txBody>
      </p:sp>
      <p:sp>
        <p:nvSpPr>
          <p:cNvPr id="8" name="Symbol zastępczy zawartości 4">
            <a:extLst>
              <a:ext uri="{FF2B5EF4-FFF2-40B4-BE49-F238E27FC236}">
                <a16:creationId xmlns:a16="http://schemas.microsoft.com/office/drawing/2014/main" id="{3CD9D0DB-9DFC-5821-4BF0-47CA446729DD}"/>
              </a:ext>
            </a:extLst>
          </p:cNvPr>
          <p:cNvSpPr txBox="1">
            <a:spLocks/>
          </p:cNvSpPr>
          <p:nvPr/>
        </p:nvSpPr>
        <p:spPr>
          <a:xfrm>
            <a:off x="7908583" y="1825625"/>
            <a:ext cx="3453319" cy="4008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pl-PL" sz="1800" dirty="0">
                <a:solidFill>
                  <a:schemeClr val="tx2"/>
                </a:solidFill>
              </a:rPr>
              <a:t>Największe zainteresowanie stroną Elżbiety II wynika z Jej śmierci oraz śmierci Jej męża – Księcia Filipa. Mniejsze, acz znaczące skoki w ruchu generowane są przez tematy medialne, jak obchody rocznicy ślubu czy ślub Księcia Harry’ego z </a:t>
            </a:r>
            <a:r>
              <a:rPr lang="pl-PL" sz="1800" dirty="0" err="1">
                <a:solidFill>
                  <a:schemeClr val="tx2"/>
                </a:solidFill>
              </a:rPr>
              <a:t>Meghan</a:t>
            </a:r>
            <a:r>
              <a:rPr lang="pl-PL" sz="1800" dirty="0">
                <a:solidFill>
                  <a:schemeClr val="tx2"/>
                </a:solidFill>
              </a:rPr>
              <a:t> </a:t>
            </a:r>
            <a:r>
              <a:rPr lang="pl-PL" sz="1800" dirty="0" err="1">
                <a:solidFill>
                  <a:schemeClr val="tx2"/>
                </a:solidFill>
              </a:rPr>
              <a:t>Markle</a:t>
            </a:r>
            <a:r>
              <a:rPr lang="pl-PL" sz="1800" dirty="0">
                <a:solidFill>
                  <a:schemeClr val="tx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1833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64312-CD02-FC4C-F8DD-7C079AED7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Symbol zastępczy zawartości 5">
            <a:extLst>
              <a:ext uri="{FF2B5EF4-FFF2-40B4-BE49-F238E27FC236}">
                <a16:creationId xmlns:a16="http://schemas.microsoft.com/office/drawing/2014/main" id="{09D98903-2D8C-F765-284D-96F1B8D81E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1423173"/>
              </p:ext>
            </p:extLst>
          </p:nvPr>
        </p:nvGraphicFramePr>
        <p:xfrm>
          <a:off x="838199" y="1825625"/>
          <a:ext cx="7070383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ytuł 1">
            <a:extLst>
              <a:ext uri="{FF2B5EF4-FFF2-40B4-BE49-F238E27FC236}">
                <a16:creationId xmlns:a16="http://schemas.microsoft.com/office/drawing/2014/main" id="{2884AD0D-7CD0-3713-508A-FC0699E95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dirty="0"/>
              <a:t>Sukcesy Igi Świątek</a:t>
            </a:r>
          </a:p>
        </p:txBody>
      </p:sp>
      <p:sp>
        <p:nvSpPr>
          <p:cNvPr id="8" name="Symbol zastępczy zawartości 4">
            <a:extLst>
              <a:ext uri="{FF2B5EF4-FFF2-40B4-BE49-F238E27FC236}">
                <a16:creationId xmlns:a16="http://schemas.microsoft.com/office/drawing/2014/main" id="{9B69F184-3F92-17F2-114A-2CE5AD94E7BB}"/>
              </a:ext>
            </a:extLst>
          </p:cNvPr>
          <p:cNvSpPr txBox="1">
            <a:spLocks/>
          </p:cNvSpPr>
          <p:nvPr/>
        </p:nvSpPr>
        <p:spPr>
          <a:xfrm>
            <a:off x="7904531" y="1825625"/>
            <a:ext cx="345331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pl-PL" sz="1800" dirty="0">
                <a:solidFill>
                  <a:schemeClr val="tx2"/>
                </a:solidFill>
              </a:rPr>
              <a:t>Pięć największych szczytów wyświetleń strony Igi Świątek pochodzi </a:t>
            </a:r>
            <a:br>
              <a:rPr lang="pl-PL" sz="1800" dirty="0">
                <a:solidFill>
                  <a:schemeClr val="tx2"/>
                </a:solidFill>
              </a:rPr>
            </a:br>
            <a:r>
              <a:rPr lang="pl-PL" sz="1800" dirty="0">
                <a:solidFill>
                  <a:schemeClr val="tx2"/>
                </a:solidFill>
              </a:rPr>
              <a:t>z wygranych turniejów wielkoszlemowych – czterech Rolanda Garrosa </a:t>
            </a:r>
            <a:br>
              <a:rPr lang="pl-PL" sz="1800" dirty="0">
                <a:solidFill>
                  <a:schemeClr val="tx2"/>
                </a:solidFill>
              </a:rPr>
            </a:br>
            <a:r>
              <a:rPr lang="pl-PL" sz="1800" dirty="0">
                <a:solidFill>
                  <a:schemeClr val="tx2"/>
                </a:solidFill>
              </a:rPr>
              <a:t>i Wimbledonu. Ani spadek </a:t>
            </a:r>
            <a:br>
              <a:rPr lang="pl-PL" sz="1800" dirty="0">
                <a:solidFill>
                  <a:schemeClr val="tx2"/>
                </a:solidFill>
              </a:rPr>
            </a:br>
            <a:r>
              <a:rPr lang="pl-PL" sz="1800" dirty="0">
                <a:solidFill>
                  <a:schemeClr val="tx2"/>
                </a:solidFill>
              </a:rPr>
              <a:t>z pierwszego miejsca klasyfikacji WTA, ani pozytywny wynik kontroli antydopingowej nie spowodowały takiego zainteresowania, jak spektakularne wygrane.</a:t>
            </a:r>
          </a:p>
        </p:txBody>
      </p:sp>
    </p:spTree>
    <p:extLst>
      <p:ext uri="{BB962C8B-B14F-4D97-AF65-F5344CB8AC3E}">
        <p14:creationId xmlns:p14="http://schemas.microsoft.com/office/powerpoint/2010/main" val="899832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8FECD-C453-A5D0-4CEB-90324FAE3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Symbol zastępczy zawartości 5">
            <a:extLst>
              <a:ext uri="{FF2B5EF4-FFF2-40B4-BE49-F238E27FC236}">
                <a16:creationId xmlns:a16="http://schemas.microsoft.com/office/drawing/2014/main" id="{FA18856F-AC8A-DDEF-2221-BFA52CE49F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7503008"/>
              </p:ext>
            </p:extLst>
          </p:nvPr>
        </p:nvGraphicFramePr>
        <p:xfrm>
          <a:off x="838199" y="1825625"/>
          <a:ext cx="7062279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ytuł 1">
            <a:extLst>
              <a:ext uri="{FF2B5EF4-FFF2-40B4-BE49-F238E27FC236}">
                <a16:creationId xmlns:a16="http://schemas.microsoft.com/office/drawing/2014/main" id="{FE77D155-CF86-1E32-3C60-1EA6CD509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96080" cy="1325563"/>
          </a:xfrm>
        </p:spPr>
        <p:txBody>
          <a:bodyPr>
            <a:normAutofit/>
          </a:bodyPr>
          <a:lstStyle/>
          <a:p>
            <a:r>
              <a:rPr lang="pl-PL" dirty="0"/>
              <a:t>Drugie życie </a:t>
            </a:r>
            <a:r>
              <a:rPr lang="pl-PL" dirty="0" err="1"/>
              <a:t>Freddiego</a:t>
            </a:r>
            <a:r>
              <a:rPr lang="pl-PL" dirty="0"/>
              <a:t> </a:t>
            </a:r>
            <a:r>
              <a:rPr lang="pl-PL" dirty="0" err="1"/>
              <a:t>Mercury’ego</a:t>
            </a:r>
            <a:endParaRPr lang="pl-PL" dirty="0"/>
          </a:p>
        </p:txBody>
      </p:sp>
      <p:sp>
        <p:nvSpPr>
          <p:cNvPr id="8" name="Symbol zastępczy zawartości 4">
            <a:extLst>
              <a:ext uri="{FF2B5EF4-FFF2-40B4-BE49-F238E27FC236}">
                <a16:creationId xmlns:a16="http://schemas.microsoft.com/office/drawing/2014/main" id="{44FA4A5A-2D15-6902-72CC-6462164612AC}"/>
              </a:ext>
            </a:extLst>
          </p:cNvPr>
          <p:cNvSpPr txBox="1">
            <a:spLocks/>
          </p:cNvSpPr>
          <p:nvPr/>
        </p:nvSpPr>
        <p:spPr>
          <a:xfrm>
            <a:off x="7900478" y="1825625"/>
            <a:ext cx="3453319" cy="4008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pl-PL" sz="1800" dirty="0">
                <a:solidFill>
                  <a:schemeClr val="tx2"/>
                </a:solidFill>
              </a:rPr>
              <a:t>Historia </a:t>
            </a:r>
            <a:r>
              <a:rPr lang="pl-PL" sz="1800" dirty="0" err="1">
                <a:solidFill>
                  <a:schemeClr val="tx2"/>
                </a:solidFill>
              </a:rPr>
              <a:t>Freddiego</a:t>
            </a:r>
            <a:r>
              <a:rPr lang="pl-PL" sz="1800" dirty="0">
                <a:solidFill>
                  <a:schemeClr val="tx2"/>
                </a:solidFill>
              </a:rPr>
              <a:t> </a:t>
            </a:r>
            <a:r>
              <a:rPr lang="pl-PL" sz="1800" dirty="0" err="1">
                <a:solidFill>
                  <a:schemeClr val="tx2"/>
                </a:solidFill>
              </a:rPr>
              <a:t>Mercury'ego</a:t>
            </a:r>
            <a:r>
              <a:rPr lang="pl-PL" sz="1800" dirty="0">
                <a:solidFill>
                  <a:schemeClr val="tx2"/>
                </a:solidFill>
              </a:rPr>
              <a:t> pokazuje, </a:t>
            </a:r>
            <a:br>
              <a:rPr lang="pl-PL" sz="1800" dirty="0">
                <a:solidFill>
                  <a:schemeClr val="tx2"/>
                </a:solidFill>
              </a:rPr>
            </a:br>
            <a:r>
              <a:rPr lang="pl-PL" sz="1800" dirty="0">
                <a:solidFill>
                  <a:schemeClr val="tx2"/>
                </a:solidFill>
              </a:rPr>
              <a:t>że media potrafią nadać drugie życie znanym postaciom. Premierze filmu i okrągłej rocznicy śmierci towarzyszył wyraźny wzrost zainteresowania jego biografią.</a:t>
            </a:r>
          </a:p>
        </p:txBody>
      </p:sp>
    </p:spTree>
    <p:extLst>
      <p:ext uri="{BB962C8B-B14F-4D97-AF65-F5344CB8AC3E}">
        <p14:creationId xmlns:p14="http://schemas.microsoft.com/office/powerpoint/2010/main" val="1523644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Symbol zastępczy zawartości 5">
            <a:extLst>
              <a:ext uri="{FF2B5EF4-FFF2-40B4-BE49-F238E27FC236}">
                <a16:creationId xmlns:a16="http://schemas.microsoft.com/office/drawing/2014/main" id="{4B65AB7F-448F-7A38-A170-C9008F7743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5595041"/>
              </p:ext>
            </p:extLst>
          </p:nvPr>
        </p:nvGraphicFramePr>
        <p:xfrm>
          <a:off x="838199" y="1825625"/>
          <a:ext cx="7070383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ytuł 1">
            <a:extLst>
              <a:ext uri="{FF2B5EF4-FFF2-40B4-BE49-F238E27FC236}">
                <a16:creationId xmlns:a16="http://schemas.microsoft.com/office/drawing/2014/main" id="{DB22C4A2-1B90-4E31-AB1C-E2D45B1E1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dirty="0"/>
              <a:t>Piłka nożna a znajomość geografii</a:t>
            </a:r>
          </a:p>
        </p:txBody>
      </p:sp>
      <p:sp>
        <p:nvSpPr>
          <p:cNvPr id="8" name="Symbol zastępczy zawartości 4">
            <a:extLst>
              <a:ext uri="{FF2B5EF4-FFF2-40B4-BE49-F238E27FC236}">
                <a16:creationId xmlns:a16="http://schemas.microsoft.com/office/drawing/2014/main" id="{2FF7C437-CEDE-316F-788D-277332313050}"/>
              </a:ext>
            </a:extLst>
          </p:cNvPr>
          <p:cNvSpPr txBox="1">
            <a:spLocks/>
          </p:cNvSpPr>
          <p:nvPr/>
        </p:nvSpPr>
        <p:spPr>
          <a:xfrm>
            <a:off x="7904531" y="1825625"/>
            <a:ext cx="3453319" cy="4008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pl-PL" sz="1800" dirty="0">
                <a:solidFill>
                  <a:schemeClr val="tx2"/>
                </a:solidFill>
              </a:rPr>
              <a:t>Duże imprezy sportowe sprawiają również, że chcemy lepiej poznać państwa, o których na co dzień wiemy niewiele. Sporo osób odkryło Curaçao i Republika Zielonego Przylądka dzięki ich pierwszemu udziałowi </a:t>
            </a:r>
            <a:br>
              <a:rPr lang="pl-PL" sz="1800" dirty="0">
                <a:solidFill>
                  <a:schemeClr val="tx2"/>
                </a:solidFill>
              </a:rPr>
            </a:br>
            <a:r>
              <a:rPr lang="pl-PL" sz="1800" dirty="0">
                <a:solidFill>
                  <a:schemeClr val="tx2"/>
                </a:solidFill>
              </a:rPr>
              <a:t>w Mistrzostwach Świata </a:t>
            </a:r>
            <a:br>
              <a:rPr lang="pl-PL" sz="1800" dirty="0">
                <a:solidFill>
                  <a:schemeClr val="tx2"/>
                </a:solidFill>
              </a:rPr>
            </a:br>
            <a:r>
              <a:rPr lang="pl-PL" sz="1800" dirty="0">
                <a:solidFill>
                  <a:schemeClr val="tx2"/>
                </a:solidFill>
              </a:rPr>
              <a:t>w Piłce Nożnej.</a:t>
            </a:r>
          </a:p>
        </p:txBody>
      </p:sp>
    </p:spTree>
    <p:extLst>
      <p:ext uri="{BB962C8B-B14F-4D97-AF65-F5344CB8AC3E}">
        <p14:creationId xmlns:p14="http://schemas.microsoft.com/office/powerpoint/2010/main" val="408702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B06FA26-7517-0D14-088B-3B6593165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Dlaczego otwieramy Wikipedię?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F912FD5-44F1-B5A4-DB1C-68AEC4C7D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>
                <a:solidFill>
                  <a:schemeClr val="tx2"/>
                </a:solidFill>
              </a:rPr>
              <a:t>Analiza powyższych przykładów pokazuje, że Wikipedia nie jest tylko encyklopedią. </a:t>
            </a:r>
          </a:p>
          <a:p>
            <a:pPr marL="0" indent="0">
              <a:buNone/>
            </a:pPr>
            <a:r>
              <a:rPr lang="pl-PL" dirty="0">
                <a:solidFill>
                  <a:schemeClr val="tx2"/>
                </a:solidFill>
              </a:rPr>
              <a:t>Jest miejscem do którego udajemy się, by zrozumieć świat wokół nas. By zgłębić wydarzenia wywołujące smutek, strach, ciekawość czy ekscytację.</a:t>
            </a:r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r>
              <a:rPr lang="pl-PL" b="1" dirty="0"/>
              <a:t>Wikipedia odpowiada na nasze emocje. Od 25 lat.</a:t>
            </a:r>
          </a:p>
        </p:txBody>
      </p:sp>
    </p:spTree>
    <p:extLst>
      <p:ext uri="{BB962C8B-B14F-4D97-AF65-F5344CB8AC3E}">
        <p14:creationId xmlns:p14="http://schemas.microsoft.com/office/powerpoint/2010/main" val="1392380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7687F5BB-8301-DFD8-9EDB-3655C22572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794" y="2572213"/>
            <a:ext cx="11228412" cy="171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017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2661581-DBC8-41B7-1C77-09DC67F23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Źródła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A153441-6F99-2CEC-8830-0CF93CCCA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l-PL" sz="1400" dirty="0">
                <a:latin typeface="Aptos" panose="020B0004020202020204" pitchFamily="34" charset="0"/>
              </a:rPr>
              <a:t>[1] </a:t>
            </a:r>
            <a:r>
              <a:rPr lang="pl-PL" sz="1400" dirty="0" err="1">
                <a:latin typeface="Aptos" panose="020B0004020202020204" pitchFamily="34" charset="0"/>
              </a:rPr>
              <a:t>Wikistats</a:t>
            </a:r>
            <a:r>
              <a:rPr lang="pl-PL" sz="1400" dirty="0">
                <a:latin typeface="Aptos" panose="020B0004020202020204" pitchFamily="34" charset="0"/>
              </a:rPr>
              <a:t> 2 / </a:t>
            </a:r>
            <a:r>
              <a:rPr lang="pl-PL" sz="1400" dirty="0" err="1">
                <a:latin typeface="Aptos" panose="020B0004020202020204" pitchFamily="34" charset="0"/>
              </a:rPr>
              <a:t>Wikimedia</a:t>
            </a:r>
            <a:r>
              <a:rPr lang="pl-PL" sz="1400" dirty="0">
                <a:latin typeface="Aptos" panose="020B0004020202020204" pitchFamily="34" charset="0"/>
              </a:rPr>
              <a:t> Analytics API (AQS) | CC0 1.0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l-PL" sz="1400" dirty="0">
                <a:latin typeface="Aptos" panose="020B0004020202020204" pitchFamily="34" charset="0"/>
              </a:rPr>
              <a:t>[2] </a:t>
            </a:r>
            <a:r>
              <a:rPr lang="pl-PL" sz="1400" dirty="0">
                <a:latin typeface="Aptos" panose="020B0004020202020204" pitchFamily="34" charset="0"/>
                <a:hlinkClick r:id="rId2"/>
              </a:rPr>
              <a:t>https://pageviews.wmcloud.org/</a:t>
            </a:r>
            <a:r>
              <a:rPr lang="pl-PL" sz="1400" dirty="0">
                <a:latin typeface="Aptos" panose="020B0004020202020204" pitchFamily="34" charset="0"/>
              </a:rPr>
              <a:t>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l-PL" sz="1400" dirty="0">
                <a:latin typeface="Aptos" panose="020B0004020202020204" pitchFamily="34" charset="0"/>
              </a:rPr>
              <a:t>[3] </a:t>
            </a:r>
            <a:r>
              <a:rPr lang="pl-PL" sz="1400" dirty="0">
                <a:latin typeface="Aptos" panose="020B0004020202020204" pitchFamily="34" charset="0"/>
                <a:hlinkClick r:id="rId3"/>
              </a:rPr>
              <a:t>https://pl.wikipedia.org/wiki/El%C5%BCbieta_II</a:t>
            </a:r>
            <a:r>
              <a:rPr lang="pl-PL" sz="1400" dirty="0">
                <a:latin typeface="Aptos" panose="020B0004020202020204" pitchFamily="34" charset="0"/>
              </a:rPr>
              <a:t> – data pobrania 24.09.2026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l-PL" sz="1400" dirty="0">
                <a:latin typeface="Aptos" panose="020B0004020202020204" pitchFamily="34" charset="0"/>
              </a:rPr>
              <a:t>[4] Kategorie dopasowane przez model językowy, a następnie ręcznie zweryfikowane, „Śmierć osoby” może dotyczyć osoby z artykułu lub osoby powiązanej. Suma zwiększonych wyświetleń została obliczona jako różnica między liczbą wyświetleń w danym miesiącu danego artykułu, a średnią jego wyświetleń. Dane na podstawie liczby wyświetleń top 1000 artykułów każdego miesiąca [5]. Na potrzeby wykresu zsumowano 200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l-PL" sz="1400" dirty="0">
                <a:latin typeface="Aptos" panose="020B0004020202020204" pitchFamily="34" charset="0"/>
              </a:rPr>
              <a:t>[5] Zrzuty „</a:t>
            </a:r>
            <a:r>
              <a:rPr lang="pl-PL" sz="1400" dirty="0" err="1">
                <a:latin typeface="Aptos" panose="020B0004020202020204" pitchFamily="34" charset="0"/>
              </a:rPr>
              <a:t>pageview_complete</a:t>
            </a:r>
            <a:r>
              <a:rPr lang="pl-PL" sz="1400" dirty="0">
                <a:latin typeface="Aptos" panose="020B0004020202020204" pitchFamily="34" charset="0"/>
              </a:rPr>
              <a:t>” (dumps.wikimedia.org), uzupełnione o metadane stron polskojęzycznej Wikipedii | CC0 1.0 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l-PL" sz="1400" dirty="0">
                <a:latin typeface="Aptos" panose="020B0004020202020204" pitchFamily="34" charset="0"/>
              </a:rPr>
              <a:t>[6] Kategoryzacja w oparciu o model językowy, który przypisał jedną z głównych kategorii Wikipedii do top 100 artykułów i zweryfikowane ręcznie. Najpopularniejszą kategorią polskiej Wikipedii są biografie, pozostałe zdecydowanie odbiegają. Nie sumuję kategorii geografia z Polską, gdyż zawiera ona cały przekrój kategorii.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l-PL" sz="1400" dirty="0">
                <a:latin typeface="Aptos" panose="020B0004020202020204" pitchFamily="34" charset="0"/>
              </a:rPr>
              <a:t>[7] </a:t>
            </a:r>
            <a:r>
              <a:rPr lang="pl-PL" sz="1400" dirty="0">
                <a:latin typeface="Aptos" panose="020B0004020202020204" pitchFamily="34" charset="0"/>
                <a:hlinkClick r:id="rId4"/>
              </a:rPr>
              <a:t>https://pl.wikipedia.org/wiki/Wikipedia:Liczba_artyku%C5%82%C3%B3w_w_polskoj%C4%99zycznej_Wikipedii</a:t>
            </a:r>
            <a:r>
              <a:rPr lang="pl-PL" sz="1400" dirty="0">
                <a:latin typeface="Aptos" panose="020B0004020202020204" pitchFamily="34" charset="0"/>
              </a:rPr>
              <a:t> – data pobrania: 25.09.2026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l-PL" sz="1400" dirty="0">
                <a:latin typeface="Aptos" panose="020B0004020202020204" pitchFamily="34" charset="0"/>
              </a:rPr>
              <a:t>[8] Użyte zdjęcia: Robert Lewandowski: </a:t>
            </a:r>
            <a:r>
              <a:rPr lang="pl-PL" sz="1400" dirty="0">
                <a:latin typeface="Aptos" panose="020B0004020202020204" pitchFamily="34" charset="0"/>
                <a:hlinkClick r:id="rId5"/>
              </a:rPr>
              <a:t>CC BY-SA 4.0</a:t>
            </a:r>
            <a:r>
              <a:rPr lang="pl-PL" sz="1400" dirty="0">
                <a:latin typeface="Aptos" panose="020B0004020202020204" pitchFamily="34" charset="0"/>
              </a:rPr>
              <a:t>, Plik:2019147183134 2019-05-27 </a:t>
            </a:r>
            <a:r>
              <a:rPr lang="pl-PL" sz="1400" dirty="0" err="1">
                <a:latin typeface="Aptos" panose="020B0004020202020204" pitchFamily="34" charset="0"/>
              </a:rPr>
              <a:t>Fussball</a:t>
            </a:r>
            <a:r>
              <a:rPr lang="pl-PL" sz="1400" dirty="0">
                <a:latin typeface="Aptos" panose="020B0004020202020204" pitchFamily="34" charset="0"/>
              </a:rPr>
              <a:t> 1.FC </a:t>
            </a:r>
            <a:r>
              <a:rPr lang="pl-PL" sz="1400" dirty="0" err="1">
                <a:latin typeface="Aptos" panose="020B0004020202020204" pitchFamily="34" charset="0"/>
              </a:rPr>
              <a:t>Kaiserslautern</a:t>
            </a:r>
            <a:r>
              <a:rPr lang="pl-PL" sz="1400" dirty="0">
                <a:latin typeface="Aptos" panose="020B0004020202020204" pitchFamily="34" charset="0"/>
              </a:rPr>
              <a:t> vs FC Bayern </a:t>
            </a:r>
            <a:r>
              <a:rPr lang="pl-PL" sz="1400" dirty="0" err="1">
                <a:latin typeface="Aptos" panose="020B0004020202020204" pitchFamily="34" charset="0"/>
              </a:rPr>
              <a:t>München</a:t>
            </a:r>
            <a:r>
              <a:rPr lang="pl-PL" sz="1400" dirty="0">
                <a:latin typeface="Aptos" panose="020B0004020202020204" pitchFamily="34" charset="0"/>
              </a:rPr>
              <a:t> - Sven - 1D X MK II - 0228 - B70I8527 (</a:t>
            </a:r>
            <a:r>
              <a:rPr lang="pl-PL" sz="1400" dirty="0" err="1">
                <a:latin typeface="Aptos" panose="020B0004020202020204" pitchFamily="34" charset="0"/>
              </a:rPr>
              <a:t>cropped</a:t>
            </a:r>
            <a:r>
              <a:rPr lang="pl-PL" sz="1400" dirty="0">
                <a:latin typeface="Aptos" panose="020B0004020202020204" pitchFamily="34" charset="0"/>
              </a:rPr>
              <a:t> </a:t>
            </a:r>
            <a:r>
              <a:rPr lang="pl-PL" sz="1400" dirty="0" err="1">
                <a:latin typeface="Aptos" panose="020B0004020202020204" pitchFamily="34" charset="0"/>
              </a:rPr>
              <a:t>wider</a:t>
            </a:r>
            <a:r>
              <a:rPr lang="pl-PL" sz="1400" dirty="0">
                <a:latin typeface="Aptos" panose="020B0004020202020204" pitchFamily="34" charset="0"/>
              </a:rPr>
              <a:t>).jpg, Utworzony: 27 maja 2019, Przesłany: 31 marca 2026; </a:t>
            </a:r>
            <a:br>
              <a:rPr lang="pl-PL" sz="1400" dirty="0">
                <a:latin typeface="Aptos" panose="020B0004020202020204" pitchFamily="34" charset="0"/>
              </a:rPr>
            </a:br>
            <a:r>
              <a:rPr lang="pl-PL" sz="1400" dirty="0">
                <a:latin typeface="Aptos" panose="020B0004020202020204" pitchFamily="34" charset="0"/>
              </a:rPr>
              <a:t>Elżbieta II – domena publiczna, z </a:t>
            </a:r>
            <a:r>
              <a:rPr lang="pl-PL" sz="1400" dirty="0" err="1">
                <a:latin typeface="Aptos" panose="020B0004020202020204" pitchFamily="34" charset="0"/>
              </a:rPr>
              <a:t>Wikimedia</a:t>
            </a:r>
            <a:r>
              <a:rPr lang="pl-PL" sz="1400" dirty="0">
                <a:latin typeface="Aptos" panose="020B0004020202020204" pitchFamily="34" charset="0"/>
              </a:rPr>
              <a:t> </a:t>
            </a:r>
            <a:r>
              <a:rPr lang="pl-PL" sz="1400" dirty="0" err="1">
                <a:latin typeface="Aptos" panose="020B0004020202020204" pitchFamily="34" charset="0"/>
              </a:rPr>
              <a:t>Commons</a:t>
            </a:r>
            <a:br>
              <a:rPr lang="pl-PL" sz="1400" dirty="0">
                <a:latin typeface="Aptos" panose="020B0004020202020204" pitchFamily="34" charset="0"/>
              </a:rPr>
            </a:br>
            <a:r>
              <a:rPr lang="pl-PL" sz="1400" dirty="0">
                <a:latin typeface="Aptos" panose="020B0004020202020204" pitchFamily="34" charset="0"/>
              </a:rPr>
              <a:t>Polska – domena publiczna, z </a:t>
            </a:r>
            <a:r>
              <a:rPr lang="pl-PL" sz="1400" dirty="0" err="1">
                <a:latin typeface="Aptos" panose="020B0004020202020204" pitchFamily="34" charset="0"/>
              </a:rPr>
              <a:t>Wikimedia</a:t>
            </a:r>
            <a:r>
              <a:rPr lang="pl-PL" sz="1400" dirty="0">
                <a:latin typeface="Aptos" panose="020B0004020202020204" pitchFamily="34" charset="0"/>
              </a:rPr>
              <a:t> </a:t>
            </a:r>
            <a:r>
              <a:rPr lang="pl-PL" sz="1400" dirty="0" err="1">
                <a:latin typeface="Aptos" panose="020B0004020202020204" pitchFamily="34" charset="0"/>
              </a:rPr>
              <a:t>Commons</a:t>
            </a:r>
            <a:endParaRPr lang="pl-PL" sz="1400" dirty="0">
              <a:latin typeface="Aptos" panose="020B0004020202020204" pitchFamily="34" charset="0"/>
            </a:endParaRPr>
          </a:p>
          <a:p>
            <a:pPr>
              <a:spcAft>
                <a:spcPts val="600"/>
              </a:spcAft>
            </a:pPr>
            <a:endParaRPr lang="pl-PL" sz="1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4356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382BA-BDE6-C715-5C7A-A641072AF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Symbol zastępczy zawartości 5">
            <a:extLst>
              <a:ext uri="{FF2B5EF4-FFF2-40B4-BE49-F238E27FC236}">
                <a16:creationId xmlns:a16="http://schemas.microsoft.com/office/drawing/2014/main" id="{B5B9341C-F4A6-EF18-93EF-81A1EE233B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1255117"/>
              </p:ext>
            </p:extLst>
          </p:nvPr>
        </p:nvGraphicFramePr>
        <p:xfrm>
          <a:off x="838200" y="1825625"/>
          <a:ext cx="7062279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ytuł 1">
            <a:extLst>
              <a:ext uri="{FF2B5EF4-FFF2-40B4-BE49-F238E27FC236}">
                <a16:creationId xmlns:a16="http://schemas.microsoft.com/office/drawing/2014/main" id="{C4D42B59-DCF6-4896-2960-FC277C022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dirty="0"/>
              <a:t>Slajd po napisach: A to ki czort?</a:t>
            </a:r>
          </a:p>
        </p:txBody>
      </p:sp>
      <p:sp>
        <p:nvSpPr>
          <p:cNvPr id="8" name="Symbol zastępczy zawartości 4">
            <a:extLst>
              <a:ext uri="{FF2B5EF4-FFF2-40B4-BE49-F238E27FC236}">
                <a16:creationId xmlns:a16="http://schemas.microsoft.com/office/drawing/2014/main" id="{53B82AA8-5108-9A9F-A76E-ACFC5CFEEE10}"/>
              </a:ext>
            </a:extLst>
          </p:cNvPr>
          <p:cNvSpPr txBox="1">
            <a:spLocks/>
          </p:cNvSpPr>
          <p:nvPr/>
        </p:nvSpPr>
        <p:spPr>
          <a:xfrm>
            <a:off x="7908583" y="1825625"/>
            <a:ext cx="3453319" cy="4008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pl-PL" sz="1800" dirty="0"/>
              <a:t>Mediana miesięcznych wyświetleń strony Przedłużanie życia wynosi </a:t>
            </a:r>
            <a:r>
              <a:rPr lang="pl-PL" sz="1800" b="1" u="sng" dirty="0"/>
              <a:t>455</a:t>
            </a:r>
            <a:r>
              <a:rPr lang="pl-PL" sz="1800" dirty="0"/>
              <a:t>. 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pl-PL" sz="1800" dirty="0"/>
              <a:t>Jak to się stało, że w lipcu 2019 osiągnęła oglądalność większą niż strona Królowej Elżbiety w miesiącu Jej śmierci?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pl-PL" sz="1800" dirty="0"/>
              <a:t>Cholera wie</a:t>
            </a:r>
          </a:p>
        </p:txBody>
      </p:sp>
    </p:spTree>
    <p:extLst>
      <p:ext uri="{BB962C8B-B14F-4D97-AF65-F5344CB8AC3E}">
        <p14:creationId xmlns:p14="http://schemas.microsoft.com/office/powerpoint/2010/main" val="4287588000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Niestandardowy 4">
      <a:dk1>
        <a:srgbClr val="000000"/>
      </a:dk1>
      <a:lt1>
        <a:sysClr val="window" lastClr="FFFFFF"/>
      </a:lt1>
      <a:dk2>
        <a:srgbClr val="404040"/>
      </a:dk2>
      <a:lt2>
        <a:srgbClr val="F9F9F0"/>
      </a:lt2>
      <a:accent1>
        <a:srgbClr val="C3D8EF"/>
      </a:accent1>
      <a:accent2>
        <a:srgbClr val="0E65C0"/>
      </a:accent2>
      <a:accent3>
        <a:srgbClr val="E5C0C0"/>
      </a:accent3>
      <a:accent4>
        <a:srgbClr val="308557"/>
      </a:accent4>
      <a:accent5>
        <a:srgbClr val="EE8019"/>
      </a:accent5>
      <a:accent6>
        <a:srgbClr val="7F7F7F"/>
      </a:accent6>
      <a:hlink>
        <a:srgbClr val="0E65C0"/>
      </a:hlink>
      <a:folHlink>
        <a:srgbClr val="0E65C0"/>
      </a:folHlink>
    </a:clrScheme>
    <a:fontScheme name="Niestandardowy 2">
      <a:majorFont>
        <a:latin typeface="Montserrat SemiBold"/>
        <a:ea typeface=""/>
        <a:cs typeface=""/>
      </a:majorFont>
      <a:minorFont>
        <a:latin typeface="Montserrat Medium"/>
        <a:ea typeface=""/>
        <a:cs typeface="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1289</TotalTime>
  <Words>936</Words>
  <Application>Microsoft Office PowerPoint</Application>
  <PresentationFormat>Panoramiczny</PresentationFormat>
  <Paragraphs>57</Paragraphs>
  <Slides>12</Slides>
  <Notes>1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12</vt:i4>
      </vt:variant>
    </vt:vector>
  </HeadingPairs>
  <TitlesOfParts>
    <vt:vector size="17" baseType="lpstr">
      <vt:lpstr>Aptos</vt:lpstr>
      <vt:lpstr>Arial</vt:lpstr>
      <vt:lpstr>Montserrat Medium</vt:lpstr>
      <vt:lpstr>Montserrat SemiBold</vt:lpstr>
      <vt:lpstr>Motyw pakietu Office</vt:lpstr>
      <vt:lpstr>Prezentacja programu PowerPoint</vt:lpstr>
      <vt:lpstr>Ludzie interesują się ludźmi</vt:lpstr>
      <vt:lpstr>Czego szukamy najczęściej</vt:lpstr>
      <vt:lpstr>Kiedy szukamy informacji</vt:lpstr>
      <vt:lpstr>Elżbieta II – śmierć i wesele</vt:lpstr>
      <vt:lpstr>Sukcesy Igi Świątek</vt:lpstr>
      <vt:lpstr>Drugie życie Freddiego Mercury’ego</vt:lpstr>
      <vt:lpstr>Piłka nożna a znajomość geografii</vt:lpstr>
      <vt:lpstr>Dlaczego otwieramy Wikipedię?</vt:lpstr>
      <vt:lpstr>Prezentacja programu PowerPoint</vt:lpstr>
      <vt:lpstr>Źródła</vt:lpstr>
      <vt:lpstr>Slajd po napisach: A to ki czort?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Marcin Kotlarek</dc:creator>
  <cp:lastModifiedBy>Marcin Kotlarek</cp:lastModifiedBy>
  <cp:revision>24</cp:revision>
  <dcterms:created xsi:type="dcterms:W3CDTF">2026-09-20T19:16:26Z</dcterms:created>
  <dcterms:modified xsi:type="dcterms:W3CDTF">2026-09-25T10:51:39Z</dcterms:modified>
</cp:coreProperties>
</file>