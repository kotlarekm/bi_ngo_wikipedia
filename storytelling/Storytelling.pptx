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1" r:id="rId5"/>
    <p:sldId id="262" r:id="rId6"/>
    <p:sldId id="260" r:id="rId7"/>
    <p:sldId id="263" r:id="rId8"/>
    <p:sldId id="264" r:id="rId9"/>
    <p:sldId id="265" r:id="rId10"/>
    <p:sldId id="259" r:id="rId11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1"/>
            <p14:sldId id="262"/>
            <p14:sldId id="260"/>
            <p14:sldId id="263"/>
            <p14:sldId id="264"/>
            <p14:sldId id="265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[mln]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cat>
            <c:strRef>
              <c:f>Arkusz1!$A$2:$A$8</c:f>
              <c:strCache>
                <c:ptCount val="7"/>
                <c:pt idx="0">
                  <c:v>Technika</c:v>
                </c:pt>
                <c:pt idx="1">
                  <c:v>Kultura i sztuka</c:v>
                </c:pt>
                <c:pt idx="2">
                  <c:v>Polska</c:v>
                </c:pt>
                <c:pt idx="3">
                  <c:v>Historia</c:v>
                </c:pt>
                <c:pt idx="4">
                  <c:v>Społeczeństwo</c:v>
                </c:pt>
                <c:pt idx="5">
                  <c:v>Geografia</c:v>
                </c:pt>
                <c:pt idx="6">
                  <c:v>Biografie</c:v>
                </c:pt>
              </c:strCache>
            </c:strRef>
          </c:cat>
          <c:val>
            <c:numRef>
              <c:f>Arkusz1!$B$2:$B$8</c:f>
              <c:numCache>
                <c:formatCode>General</c:formatCode>
                <c:ptCount val="7"/>
                <c:pt idx="0">
                  <c:v>4395312</c:v>
                </c:pt>
                <c:pt idx="1">
                  <c:v>10269740</c:v>
                </c:pt>
                <c:pt idx="2">
                  <c:v>19814745</c:v>
                </c:pt>
                <c:pt idx="3">
                  <c:v>25428753</c:v>
                </c:pt>
                <c:pt idx="4">
                  <c:v>33099833</c:v>
                </c:pt>
                <c:pt idx="5">
                  <c:v>70351979</c:v>
                </c:pt>
                <c:pt idx="6">
                  <c:v>128004067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[mln] 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4189380884412409"/>
          <c:y val="0.18825468321860345"/>
          <c:w val="0.6796250272249863"/>
          <c:h val="0.7177475576519556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1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Suma</a:t>
            </a:r>
            <a:r>
              <a:rPr lang="pl-PL" dirty="0"/>
              <a:t> wzrostów</a:t>
            </a:r>
            <a:r>
              <a:rPr lang="pl-PL" baseline="0" dirty="0"/>
              <a:t> odwiedzin stron wg kategorii przyczyn</a:t>
            </a:r>
            <a:r>
              <a:rPr lang="pl-PL" dirty="0"/>
              <a:t> zwiększonego</a:t>
            </a:r>
            <a:r>
              <a:rPr lang="pl-PL" baseline="0" dirty="0"/>
              <a:t> ruchu</a:t>
            </a:r>
            <a:r>
              <a:rPr lang="pl-PL" dirty="0"/>
              <a:t>[4]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A067-45B7-A7C5-005738E5D21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67-45B7-A7C5-005738E5D21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067-45B7-A7C5-005738E5D21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A067-45B7-A7C5-005738E5D216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A067-45B7-A7C5-005738E5D216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067-45B7-A7C5-005738E5D216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67-45B7-A7C5-005738E5D21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A067-45B7-A7C5-005738E5D216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67-45B7-A7C5-005738E5D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  <c:dispUnits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</c:dispUnitsLbl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</a:t>
            </a:r>
            <a:r>
              <a:rPr lang="en-US" dirty="0"/>
              <a:t>Elżbieta II</a:t>
            </a:r>
            <a:r>
              <a:rPr lang="pl-PL" dirty="0"/>
              <a:t> [mln][2][3]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endParaRPr lang="pl-PL" dirty="0"/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Filipa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endParaRPr lang="en-US" dirty="0"/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 </a:t>
            </a:r>
            <a:r>
              <a:rPr lang="pl-PL" dirty="0"/>
              <a:t>Republika Zielonego Przylądka oraz Curaçao [tys.][2][3]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926678644591617"/>
          <c:w val="0.94418872912625051"/>
          <c:h val="0.5800119411546517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Iga Świątek</a:t>
            </a:r>
            <a:r>
              <a:rPr lang="pl-PL" dirty="0"/>
              <a:t> [tys.][2][3]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</a:t>
            </a:r>
            <a:r>
              <a:rPr lang="pl-PL" baseline="0" dirty="0" err="1"/>
              <a:t>Freddie</a:t>
            </a:r>
            <a:r>
              <a:rPr lang="pl-PL" baseline="0" dirty="0"/>
              <a:t> </a:t>
            </a:r>
            <a:r>
              <a:rPr lang="pl-PL" baseline="0" dirty="0" err="1"/>
              <a:t>Mercury</a:t>
            </a:r>
            <a:r>
              <a:rPr lang="pl-PL" baseline="0" dirty="0"/>
              <a:t> </a:t>
            </a:r>
            <a:r>
              <a:rPr lang="pl-PL" dirty="0"/>
              <a:t>[tys.][2][3]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Przedłużanie życia </a:t>
            </a:r>
            <a:r>
              <a:rPr lang="pl-PL" dirty="0"/>
              <a:t>[mln][2][3]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16883" y="6140211"/>
            <a:ext cx="636917" cy="58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l.wikipedia.org/wiki/El%C5%BCbieta_II" TargetMode="External"/><Relationship Id="rId2" Type="http://schemas.openxmlformats.org/officeDocument/2006/relationships/hyperlink" Target="https://pageviews.wmcloud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1866796"/>
            <a:ext cx="5181600" cy="24537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 mln</a:t>
            </a:r>
          </a:p>
          <a:p>
            <a:pPr marL="0" indent="0" algn="ctr">
              <a:buNone/>
            </a:pPr>
            <a:r>
              <a:rPr lang="pl-PL" sz="1600" dirty="0"/>
              <a:t>Suma stworzonych artykułów przez polską Wikipedię przez ostatnie 25 lat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66796"/>
            <a:ext cx="5181600" cy="24537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/>
              <a:t>Suma wyświetleń przez użytkowników </a:t>
            </a:r>
            <a:br>
              <a:rPr lang="pl-PL" sz="1600" dirty="0"/>
            </a:br>
            <a:r>
              <a:rPr lang="pl-PL" sz="1600" dirty="0"/>
              <a:t>w ostatnich 8 latach[1]*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92" y="458158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838200" y="4320563"/>
            <a:ext cx="10515600" cy="1300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l-PL" sz="2400" dirty="0"/>
              <a:t>Od 25 lat Polska Wikipedia dostarcza nam wiedzy o nas </a:t>
            </a:r>
            <a:br>
              <a:rPr lang="pl-PL" sz="2400" dirty="0"/>
            </a:br>
            <a:r>
              <a:rPr lang="pl-PL" sz="2400" dirty="0"/>
              <a:t>i otaczającym nas świecie. Dowiedzmy się więcej o tym co nas interesuje i po co sięgamy.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AC538181-EDAA-9D86-BC1B-79F880235718}"/>
              </a:ext>
            </a:extLst>
          </p:cNvPr>
          <p:cNvSpPr txBox="1"/>
          <p:nvPr/>
        </p:nvSpPr>
        <p:spPr>
          <a:xfrm>
            <a:off x="953310" y="6035666"/>
            <a:ext cx="9426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 *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Nasze ulubione kategorie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5606745"/>
              </p:ext>
            </p:extLst>
          </p:nvPr>
        </p:nvGraphicFramePr>
        <p:xfrm>
          <a:off x="838199" y="1825627"/>
          <a:ext cx="7070387" cy="40089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963038" y="6079788"/>
            <a:ext cx="9426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Kategoryzacja w oparciu o model językowy, który przypisał jedną z głównych kategorii Wikipedii do top 100 artykułów.</a:t>
            </a:r>
          </a:p>
        </p:txBody>
      </p:sp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8FF34AFB-BB03-C486-2D94-7FC87E58046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l-PL" sz="1800" dirty="0"/>
              <a:t>Najpopularniejszą kategorią polskiej Wikipedii są biografie, pozostałe zdecydowanie odbiegają. Nie sumuję kategorii geografia z Polską, gdyż zawiera ona cały przekrój kategorii.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9108908"/>
              </p:ext>
            </p:extLst>
          </p:nvPr>
        </p:nvGraphicFramePr>
        <p:xfrm>
          <a:off x="838200" y="1825625"/>
          <a:ext cx="7731868" cy="40823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351" y="1959199"/>
            <a:ext cx="1536971" cy="1653781"/>
          </a:xfrm>
          <a:prstGeom prst="rect">
            <a:avLst/>
          </a:prstGeom>
        </p:spPr>
      </p:pic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2212" y="4254476"/>
            <a:ext cx="2381250" cy="1581150"/>
          </a:xfrm>
          <a:prstGeom prst="rect">
            <a:avLst/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540" y="2936165"/>
            <a:ext cx="1397343" cy="186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Kiedy szukamy informacji</a:t>
            </a:r>
          </a:p>
        </p:txBody>
      </p:sp>
      <p:graphicFrame>
        <p:nvGraphicFramePr>
          <p:cNvPr id="7" name="Wykres 6">
            <a:extLst>
              <a:ext uri="{FF2B5EF4-FFF2-40B4-BE49-F238E27FC236}">
                <a16:creationId xmlns:a16="http://schemas.microsoft.com/office/drawing/2014/main" id="{F6814C3D-6579-8325-76B9-9092EF1007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5726506"/>
              </p:ext>
            </p:extLst>
          </p:nvPr>
        </p:nvGraphicFramePr>
        <p:xfrm>
          <a:off x="838200" y="1945640"/>
          <a:ext cx="7187119" cy="4260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408B14C-EEE3-F15A-BE30-968444DB9FBB}"/>
              </a:ext>
            </a:extLst>
          </p:cNvPr>
          <p:cNvSpPr txBox="1"/>
          <p:nvPr/>
        </p:nvSpPr>
        <p:spPr>
          <a:xfrm>
            <a:off x="8341468" y="1945640"/>
            <a:ext cx="3536004" cy="2585323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dirty="0">
                <a:solidFill>
                  <a:schemeClr val="bg1"/>
                </a:solidFill>
              </a:rPr>
              <a:t>Zwiększenie ruchu na stronach Wikipedii powodują wydarzenia wywołujące różne emocje. Są to zarówno wydarzenia smutne, jak śmierć danej osoby, straszne typu wojny, pandemie i katastrofy, jak i emocje pozytywne jak sport.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1DB5434-4B8C-EEA6-8442-37AEBEBCCCC8}"/>
              </a:ext>
            </a:extLst>
          </p:cNvPr>
          <p:cNvSpPr txBox="1"/>
          <p:nvPr/>
        </p:nvSpPr>
        <p:spPr>
          <a:xfrm>
            <a:off x="8341468" y="4638605"/>
            <a:ext cx="3536004" cy="1477328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dirty="0">
                <a:solidFill>
                  <a:schemeClr val="bg1"/>
                </a:solidFill>
              </a:rPr>
              <a:t>Na wzrost wyświetleń wpływa również szum medialny – relacjonowane ważne wydarzenia, czy nowe produkcje </a:t>
            </a:r>
            <a:r>
              <a:rPr lang="pl-PL" dirty="0" err="1">
                <a:solidFill>
                  <a:schemeClr val="bg1"/>
                </a:solidFill>
              </a:rPr>
              <a:t>popkulutry</a:t>
            </a:r>
            <a:r>
              <a:rPr lang="pl-PL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- wyszukiwanie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3CD9D0DB-9DFC-5821-4BF0-47CA446729DD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l-PL" sz="1800" dirty="0"/>
              <a:t>Największe skoki oglądalności strony Elżbiety II wynikają ze śmierci Jej samej, jak i Jej męża Księcia Filipa. Mniejsze, acz znaczące skoki w ruchu generowane są przez wydarzenia medialne jak obchody rocznicy ślubu czy ślub Księcia </a:t>
            </a:r>
            <a:r>
              <a:rPr lang="pl-PL" sz="1800" dirty="0" err="1"/>
              <a:t>Harrego</a:t>
            </a:r>
            <a:r>
              <a:rPr lang="pl-PL" sz="1800" dirty="0"/>
              <a:t> z </a:t>
            </a:r>
            <a:r>
              <a:rPr lang="pl-PL" sz="1800" dirty="0" err="1"/>
              <a:t>Meghan</a:t>
            </a:r>
            <a:r>
              <a:rPr lang="pl-PL" sz="1800" dirty="0"/>
              <a:t> </a:t>
            </a:r>
            <a:r>
              <a:rPr lang="pl-PL" sz="1800" dirty="0" err="1"/>
              <a:t>Markle</a:t>
            </a:r>
            <a:r>
              <a:rPr lang="pl-PL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4436697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Wiele osób odkryło kraje takie jak Republika Zielonego Przylądka czy Curaçao dzięki ich pierwszemu udziałowi w Mistrzostwach Świata w Piłce Nożnej.</a:t>
            </a: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7780283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9B69F184-3F92-17F2-114A-2CE5AD94E7BB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Pięć największych szczytów wyświetleń strony Igi Świątek pochodzi z Jej wygranych turniejów wielkoszlemowych – czterech Rolanda Garrosa i Wimbledonu. Ani spadek z pierwszego miejsca klasyfikacji WTA, ani pozytywny wynik kontroli antydopingowej nie spowodowały takiego zainteresowania, jak spektakularne wygrane.</a:t>
            </a:r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 err="1"/>
              <a:t>Freddie</a:t>
            </a:r>
            <a:r>
              <a:rPr lang="pl-PL" dirty="0"/>
              <a:t> </a:t>
            </a:r>
            <a:r>
              <a:rPr lang="pl-PL" dirty="0" err="1"/>
              <a:t>Mercury</a:t>
            </a:r>
            <a:r>
              <a:rPr lang="pl-PL" dirty="0"/>
              <a:t> – film i rocznica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0987200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44FA4A5A-2D15-6902-72CC-6462164612AC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Strona </a:t>
            </a:r>
            <a:r>
              <a:rPr lang="pl-PL" sz="1800" dirty="0" err="1"/>
              <a:t>Frediego</a:t>
            </a:r>
            <a:r>
              <a:rPr lang="pl-PL" sz="1800" dirty="0"/>
              <a:t> </a:t>
            </a:r>
            <a:r>
              <a:rPr lang="pl-PL" sz="1800" dirty="0" err="1"/>
              <a:t>Mercury</a:t>
            </a:r>
            <a:r>
              <a:rPr lang="pl-PL" sz="1800" dirty="0"/>
              <a:t> jest jednym z przykładów ruchu powodowanego przez premierę filmu czy serialu o danym temacie.</a:t>
            </a:r>
          </a:p>
          <a:p>
            <a:pPr marL="0" indent="0" algn="ctr">
              <a:buNone/>
            </a:pPr>
            <a:r>
              <a:rPr lang="pl-PL" sz="1800" dirty="0"/>
              <a:t>Drugim powodem zwiększonego ruchu są wydarzenia medialne – w tym przypadku szeroko komentowana 30-ta rocznica śmierci artysty. </a:t>
            </a:r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A to ki czort?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636911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Mediana miesięcznych wyświetleń strony Przedłużanie życia wynosi 455. Jak to się stało, że w lipcu 2019 osiągnęła oglądalność większą niż strona Królowej Elżbiety w miesiącu Jej śmierci?</a:t>
            </a:r>
          </a:p>
          <a:p>
            <a:pPr marL="0" indent="0" algn="ctr">
              <a:buNone/>
            </a:pPr>
            <a:r>
              <a:rPr lang="pl-PL" sz="1800" dirty="0"/>
              <a:t>Cholera wie</a:t>
            </a: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l-PL" dirty="0"/>
              <a:t>[1] </a:t>
            </a:r>
            <a:r>
              <a:rPr lang="pl-PL" dirty="0" err="1"/>
              <a:t>Wikistats</a:t>
            </a:r>
            <a:r>
              <a:rPr lang="pl-PL" dirty="0"/>
              <a:t> 2 / </a:t>
            </a:r>
            <a:r>
              <a:rPr lang="pl-PL" dirty="0" err="1"/>
              <a:t>Wikimedia</a:t>
            </a:r>
            <a:r>
              <a:rPr lang="pl-PL" dirty="0"/>
              <a:t> Analytics API (AQS) | CC0 1.0 </a:t>
            </a:r>
          </a:p>
          <a:p>
            <a:r>
              <a:rPr lang="pl-PL" dirty="0"/>
              <a:t>[2] </a:t>
            </a:r>
            <a:r>
              <a:rPr lang="pl-PL" dirty="0">
                <a:hlinkClick r:id="rId2"/>
              </a:rPr>
              <a:t>https://pageviews.wmcloud.org/</a:t>
            </a:r>
            <a:r>
              <a:rPr lang="pl-PL" dirty="0"/>
              <a:t>  </a:t>
            </a:r>
          </a:p>
          <a:p>
            <a:r>
              <a:rPr lang="pl-PL" dirty="0"/>
              <a:t>[3] </a:t>
            </a:r>
            <a:r>
              <a:rPr lang="pl-PL" dirty="0">
                <a:hlinkClick r:id="rId3"/>
              </a:rPr>
              <a:t>https://pl.wikipedia.org/wiki/El%C5%BCbieta_II</a:t>
            </a:r>
            <a:r>
              <a:rPr lang="pl-PL" dirty="0"/>
              <a:t> </a:t>
            </a:r>
          </a:p>
          <a:p>
            <a:r>
              <a:rPr lang="pl-PL" dirty="0"/>
              <a:t>[4]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[5]. Na potrzeby wykresu zsumowano 200 </a:t>
            </a:r>
          </a:p>
          <a:p>
            <a:r>
              <a:rPr lang="pl-PL" dirty="0"/>
              <a:t>[5] Zrzuty „</a:t>
            </a:r>
            <a:r>
              <a:rPr lang="pl-PL" dirty="0" err="1"/>
              <a:t>pageview_complete</a:t>
            </a:r>
            <a:r>
              <a:rPr lang="pl-PL" dirty="0"/>
              <a:t>” (dumps.wikimedia.org), uzupełnione o metadane stron polskojęzycznej Wikipedii | CC0 1.0 |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Niestandardowy 2">
      <a:dk1>
        <a:srgbClr val="000000"/>
      </a:dk1>
      <a:lt1>
        <a:sysClr val="window" lastClr="FFFFFF"/>
      </a:lt1>
      <a:dk2>
        <a:srgbClr val="0E2841"/>
      </a:dk2>
      <a:lt2>
        <a:srgbClr val="E8E8E8"/>
      </a:lt2>
      <a:accent1>
        <a:srgbClr val="049DFF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</TotalTime>
  <Words>666</Words>
  <Application>Microsoft Office PowerPoint</Application>
  <PresentationFormat>Panoramiczny</PresentationFormat>
  <Paragraphs>45</Paragraphs>
  <Slides>10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4" baseType="lpstr">
      <vt:lpstr>Arial</vt:lpstr>
      <vt:lpstr>Montserrat Medium</vt:lpstr>
      <vt:lpstr>Montserrat SemiBold</vt:lpstr>
      <vt:lpstr>Motyw pakietu Office</vt:lpstr>
      <vt:lpstr>Prezentacja programu PowerPoint</vt:lpstr>
      <vt:lpstr>Nasze ulubione kategorie</vt:lpstr>
      <vt:lpstr>Czego szukamy najczęściej</vt:lpstr>
      <vt:lpstr>Kiedy szukamy informacji</vt:lpstr>
      <vt:lpstr>Elżbieta II - wyszukiwanie</vt:lpstr>
      <vt:lpstr>Piłka nożna a znajomość geografii</vt:lpstr>
      <vt:lpstr>Sukcesy Igi Świątek</vt:lpstr>
      <vt:lpstr>Freddie Mercury – film i rocznica</vt:lpstr>
      <vt:lpstr>A to ki czort?</vt:lpstr>
      <vt:lpstr>Źródła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11</cp:revision>
  <dcterms:created xsi:type="dcterms:W3CDTF">2026-09-20T19:16:26Z</dcterms:created>
  <dcterms:modified xsi:type="dcterms:W3CDTF">2026-09-24T20:47:36Z</dcterms:modified>
</cp:coreProperties>
</file>