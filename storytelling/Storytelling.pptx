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1" r:id="rId5"/>
    <p:sldId id="262" r:id="rId6"/>
    <p:sldId id="263" r:id="rId7"/>
    <p:sldId id="264" r:id="rId8"/>
    <p:sldId id="260" r:id="rId9"/>
    <p:sldId id="266" r:id="rId10"/>
    <p:sldId id="267" r:id="rId11"/>
    <p:sldId id="259" r:id="rId12"/>
    <p:sldId id="265" r:id="rId13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E1507DD5-B280-4770-AC0C-A345241EDAA4}">
          <p14:sldIdLst>
            <p14:sldId id="256"/>
            <p14:sldId id="258"/>
            <p14:sldId id="257"/>
            <p14:sldId id="261"/>
            <p14:sldId id="262"/>
            <p14:sldId id="263"/>
            <p14:sldId id="264"/>
            <p14:sldId id="260"/>
            <p14:sldId id="266"/>
            <p14:sldId id="267"/>
            <p14:sldId id="259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AnalizaDanych\000_projekty\BI_NGO_Wikipedia\BI_NGO_Wikipedia\storytelling\Dane_do_pp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 w latach 2018 – 2026 wg kategorii [mln][6]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530082714213458"/>
          <c:y val="0.24478882668966837"/>
          <c:w val="0.65362840086863538"/>
          <c:h val="0.600661464681058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Suma elementów views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7B9-4781-8620-6CC20A140C86}"/>
              </c:ext>
            </c:extLst>
          </c:dPt>
          <c:cat>
            <c:strRef>
              <c:f>Arkusz1!$A$2:$A$8</c:f>
              <c:strCache>
                <c:ptCount val="7"/>
                <c:pt idx="0">
                  <c:v>Technika</c:v>
                </c:pt>
                <c:pt idx="1">
                  <c:v>Kultura i sztuka</c:v>
                </c:pt>
                <c:pt idx="2">
                  <c:v>Polska</c:v>
                </c:pt>
                <c:pt idx="3">
                  <c:v>Historia</c:v>
                </c:pt>
                <c:pt idx="4">
                  <c:v>Społeczeństwo</c:v>
                </c:pt>
                <c:pt idx="5">
                  <c:v>Geografia</c:v>
                </c:pt>
                <c:pt idx="6">
                  <c:v>Biografie</c:v>
                </c:pt>
              </c:strCache>
            </c:strRef>
          </c:cat>
          <c:val>
            <c:numRef>
              <c:f>Arkusz1!$B$2:$B$8</c:f>
              <c:numCache>
                <c:formatCode>General</c:formatCode>
                <c:ptCount val="7"/>
                <c:pt idx="0">
                  <c:v>4395312</c:v>
                </c:pt>
                <c:pt idx="1">
                  <c:v>10269740</c:v>
                </c:pt>
                <c:pt idx="2">
                  <c:v>19814745</c:v>
                </c:pt>
                <c:pt idx="3">
                  <c:v>25428753</c:v>
                </c:pt>
                <c:pt idx="4">
                  <c:v>33099833</c:v>
                </c:pt>
                <c:pt idx="5">
                  <c:v>70351979</c:v>
                </c:pt>
                <c:pt idx="6">
                  <c:v>128004067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51-4C40-909C-701ED36B4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416327088"/>
        <c:axId val="942990160"/>
      </c:barChart>
      <c:catAx>
        <c:axId val="14163270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942990160"/>
        <c:crosses val="autoZero"/>
        <c:auto val="1"/>
        <c:lblAlgn val="ctr"/>
        <c:lblOffset val="100"/>
        <c:noMultiLvlLbl val="0"/>
      </c:catAx>
      <c:valAx>
        <c:axId val="942990160"/>
        <c:scaling>
          <c:orientation val="minMax"/>
        </c:scaling>
        <c:delete val="0"/>
        <c:axPos val="b"/>
        <c:numFmt formatCode="0" sourceLinked="0"/>
        <c:majorTickMark val="none"/>
        <c:minorTickMark val="none"/>
        <c:tickLblPos val="high"/>
        <c:spPr>
          <a:noFill/>
          <a:ln w="19050"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1632708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 w latach 2018 – 2026 [mln] [2]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4189380884412409"/>
          <c:y val="0.18825468321860345"/>
          <c:w val="0.6796250272249863"/>
          <c:h val="0.7177475576519556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Wyświetlenia łączne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093-46BE-9319-5B9CB374ED5E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093-46BE-9319-5B9CB374ED5E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093-46BE-9319-5B9CB374ED5E}"/>
              </c:ext>
            </c:extLst>
          </c:dPt>
          <c:dPt>
            <c:idx val="3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093-46BE-9319-5B9CB374ED5E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093-46BE-9319-5B9CB374ED5E}"/>
              </c:ext>
            </c:extLst>
          </c:dPt>
          <c:dPt>
            <c:idx val="5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093-46BE-9319-5B9CB374ED5E}"/>
              </c:ext>
            </c:extLst>
          </c:dPt>
          <c:dPt>
            <c:idx val="6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93-46BE-9319-5B9CB374ED5E}"/>
              </c:ext>
            </c:extLst>
          </c:dPt>
          <c:cat>
            <c:strRef>
              <c:f>Arkusz1!$A$2:$A$11</c:f>
              <c:strCache>
                <c:ptCount val="10"/>
                <c:pt idx="0">
                  <c:v>NATO</c:v>
                </c:pt>
                <c:pt idx="1">
                  <c:v>Ukraina</c:v>
                </c:pt>
                <c:pt idx="2">
                  <c:v>YouTube</c:v>
                </c:pt>
                <c:pt idx="3">
                  <c:v>Jan Paweł II</c:v>
                </c:pt>
                <c:pt idx="4">
                  <c:v>Facebook</c:v>
                </c:pt>
                <c:pt idx="5">
                  <c:v>Stany Zjednoczone</c:v>
                </c:pt>
                <c:pt idx="6">
                  <c:v>Warszawa</c:v>
                </c:pt>
                <c:pt idx="7">
                  <c:v>Robert Lewandowski</c:v>
                </c:pt>
                <c:pt idx="8">
                  <c:v>Elżbieta II</c:v>
                </c:pt>
                <c:pt idx="9">
                  <c:v>Polska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7503348</c:v>
                </c:pt>
                <c:pt idx="1">
                  <c:v>8937209</c:v>
                </c:pt>
                <c:pt idx="2">
                  <c:v>9065523</c:v>
                </c:pt>
                <c:pt idx="3">
                  <c:v>10371717</c:v>
                </c:pt>
                <c:pt idx="4">
                  <c:v>10445296</c:v>
                </c:pt>
                <c:pt idx="5">
                  <c:v>10714236</c:v>
                </c:pt>
                <c:pt idx="6">
                  <c:v>11041651</c:v>
                </c:pt>
                <c:pt idx="7">
                  <c:v>11304169</c:v>
                </c:pt>
                <c:pt idx="8">
                  <c:v>14156616</c:v>
                </c:pt>
                <c:pt idx="9">
                  <c:v>24679130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93-46BE-9319-5B9CB374ED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54764064"/>
        <c:axId val="1813308464"/>
      </c:barChart>
      <c:catAx>
        <c:axId val="11547640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813308464"/>
        <c:crosses val="autoZero"/>
        <c:auto val="1"/>
        <c:lblAlgn val="ctr"/>
        <c:lblOffset val="100"/>
        <c:noMultiLvlLbl val="0"/>
      </c:catAx>
      <c:valAx>
        <c:axId val="1813308464"/>
        <c:scaling>
          <c:orientation val="minMax"/>
          <c:max val="25000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15476406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[Dane_do_ppt.xlsx]Historia zmian!Tabela przestawna1</c:name>
    <c:fmtId val="14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Suma</a:t>
            </a:r>
            <a:r>
              <a:rPr lang="pl-PL" dirty="0"/>
              <a:t> wzrostów</a:t>
            </a:r>
            <a:r>
              <a:rPr lang="pl-PL" baseline="0" dirty="0"/>
              <a:t> odwiedzin stron wg kategorii przyczyn</a:t>
            </a:r>
            <a:r>
              <a:rPr lang="pl-PL" dirty="0"/>
              <a:t> zwiększonego</a:t>
            </a:r>
            <a:r>
              <a:rPr lang="pl-PL" baseline="0" dirty="0"/>
              <a:t> ruchu</a:t>
            </a:r>
            <a:r>
              <a:rPr lang="pl-PL" dirty="0"/>
              <a:t>[4]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'Historia zmian'!$B$3</c:f>
              <c:strCache>
                <c:ptCount val="1"/>
                <c:pt idx="0">
                  <c:v>Suma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A067-45B7-A7C5-005738E5D21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067-45B7-A7C5-005738E5D21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067-45B7-A7C5-005738E5D216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A067-45B7-A7C5-005738E5D216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A067-45B7-A7C5-005738E5D216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067-45B7-A7C5-005738E5D216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067-45B7-A7C5-005738E5D21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A067-45B7-A7C5-005738E5D216}"/>
              </c:ext>
            </c:extLst>
          </c:dPt>
          <c:cat>
            <c:strRef>
              <c:f>'Historia zmian'!$A$4:$A$13</c:f>
              <c:strCache>
                <c:ptCount val="9"/>
                <c:pt idx="0">
                  <c:v>Święta i rocznice</c:v>
                </c:pt>
                <c:pt idx="1">
                  <c:v>Katastrofa / wypadek</c:v>
                </c:pt>
                <c:pt idx="2">
                  <c:v>Pandemia / zdrowie</c:v>
                </c:pt>
                <c:pt idx="3">
                  <c:v>Wydarzenia medialne i społeczne</c:v>
                </c:pt>
                <c:pt idx="4">
                  <c:v>Wojna i konflikt</c:v>
                </c:pt>
                <c:pt idx="5">
                  <c:v>Polityka i wybory</c:v>
                </c:pt>
                <c:pt idx="6">
                  <c:v>Kultura / film / media</c:v>
                </c:pt>
                <c:pt idx="7">
                  <c:v>Śmierć osoby</c:v>
                </c:pt>
                <c:pt idx="8">
                  <c:v>Sport</c:v>
                </c:pt>
              </c:strCache>
            </c:strRef>
          </c:cat>
          <c:val>
            <c:numRef>
              <c:f>'Historia zmian'!$B$4:$B$13</c:f>
              <c:numCache>
                <c:formatCode>General</c:formatCode>
                <c:ptCount val="9"/>
                <c:pt idx="0">
                  <c:v>2248793</c:v>
                </c:pt>
                <c:pt idx="1">
                  <c:v>3531994</c:v>
                </c:pt>
                <c:pt idx="2">
                  <c:v>3868868</c:v>
                </c:pt>
                <c:pt idx="3">
                  <c:v>10673271</c:v>
                </c:pt>
                <c:pt idx="4">
                  <c:v>13663255</c:v>
                </c:pt>
                <c:pt idx="5">
                  <c:v>14441969</c:v>
                </c:pt>
                <c:pt idx="6">
                  <c:v>16898015</c:v>
                </c:pt>
                <c:pt idx="7">
                  <c:v>20346071</c:v>
                </c:pt>
                <c:pt idx="8">
                  <c:v>21020972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67-45B7-A7C5-005738E5D2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287888656"/>
        <c:axId val="413498544"/>
      </c:barChart>
      <c:catAx>
        <c:axId val="2878886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13498544"/>
        <c:crosses val="autoZero"/>
        <c:auto val="1"/>
        <c:lblAlgn val="ctr"/>
        <c:lblOffset val="100"/>
        <c:noMultiLvlLbl val="0"/>
      </c:catAx>
      <c:valAx>
        <c:axId val="413498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87888656"/>
        <c:crosses val="autoZero"/>
        <c:crossBetween val="between"/>
        <c:dispUnits>
          <c:builtInUnit val="millions"/>
          <c:dispUnits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</c:dispUnitsLbl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</a:t>
            </a:r>
            <a:r>
              <a:rPr lang="en-US" dirty="0"/>
              <a:t>Elżbieta II</a:t>
            </a:r>
            <a:r>
              <a:rPr lang="pl-PL" dirty="0"/>
              <a:t> [mln][2][3]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Elżbieta II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3.14716421046514E-2"/>
                  <c:y val="-0.18971176222118347"/>
                </c:manualLayout>
              </c:layout>
              <c:tx>
                <c:rich>
                  <a:bodyPr/>
                  <a:lstStyle/>
                  <a:p>
                    <a:r>
                      <a:rPr lang="pl-PL" dirty="0"/>
                      <a:t>Ślub</a:t>
                    </a:r>
                    <a:r>
                      <a:rPr lang="pl-PL" baseline="0" dirty="0"/>
                      <a:t> Księcia </a:t>
                    </a:r>
                    <a:r>
                      <a:rPr lang="pl-PL" baseline="0" dirty="0" err="1"/>
                      <a:t>Harrego</a:t>
                    </a:r>
                    <a:r>
                      <a:rPr lang="pl-PL" baseline="0" dirty="0"/>
                      <a:t> z </a:t>
                    </a:r>
                    <a:r>
                      <a:rPr lang="pl-PL" baseline="0" dirty="0" err="1"/>
                      <a:t>Meghan</a:t>
                    </a:r>
                    <a:r>
                      <a:rPr lang="pl-PL" baseline="0" dirty="0"/>
                      <a:t> </a:t>
                    </a:r>
                    <a:r>
                      <a:rPr lang="pl-PL" baseline="0" dirty="0" err="1"/>
                      <a:t>Markle</a:t>
                    </a:r>
                    <a:endParaRPr lang="pl-PL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603-405E-B21C-BFF645A67AEA}"/>
                </c:ext>
              </c:extLst>
            </c:dLbl>
            <c:dLbl>
              <c:idx val="34"/>
              <c:layout>
                <c:manualLayout>
                  <c:x val="-0.2303467088836782"/>
                  <c:y val="-0.3239693170238671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pl-PL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Obchody 73 rocznicy ślubu z Księciem Filipem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defRPr>
                    </a:pPr>
                    <a:endParaRPr lang="pl-PL" dirty="0"/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298A-42B4-BA2C-8AEEEEF9E6BE}"/>
                </c:ext>
              </c:extLst>
            </c:dLbl>
            <c:dLbl>
              <c:idx val="39"/>
              <c:layout>
                <c:manualLayout>
                  <c:x val="-4.3135758687979329E-2"/>
                  <c:y val="-0.2714337521010779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Śmierć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Księcia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Filipa</a:t>
                    </a:r>
                  </a:p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defRPr>
                    </a:pPr>
                    <a:endParaRPr lang="en-US" dirty="0"/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1-6603-405E-B21C-BFF645A67AEA}"/>
                </c:ext>
              </c:extLst>
            </c:dLbl>
            <c:dLbl>
              <c:idx val="56"/>
              <c:layout>
                <c:manualLayout>
                  <c:x val="1.0645526866962766E-2"/>
                  <c:y val="-2.334913996568409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Śmierć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Elżbiety</a:t>
                    </a:r>
                    <a:r>
                      <a:rPr lang="en-US" baseline="0" dirty="0"/>
                      <a:t> II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603-405E-B21C-BFF645A67AEA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144493</c:v>
                </c:pt>
                <c:pt idx="1">
                  <c:v>97617</c:v>
                </c:pt>
                <c:pt idx="2">
                  <c:v>86240</c:v>
                </c:pt>
                <c:pt idx="3">
                  <c:v>134475</c:v>
                </c:pt>
                <c:pt idx="4">
                  <c:v>375064</c:v>
                </c:pt>
                <c:pt idx="5">
                  <c:v>118184</c:v>
                </c:pt>
                <c:pt idx="6">
                  <c:v>99867</c:v>
                </c:pt>
                <c:pt idx="7">
                  <c:v>68493</c:v>
                </c:pt>
                <c:pt idx="8">
                  <c:v>60403</c:v>
                </c:pt>
                <c:pt idx="9">
                  <c:v>107675</c:v>
                </c:pt>
                <c:pt idx="10">
                  <c:v>86502</c:v>
                </c:pt>
                <c:pt idx="11">
                  <c:v>97699</c:v>
                </c:pt>
                <c:pt idx="12">
                  <c:v>156814</c:v>
                </c:pt>
                <c:pt idx="13">
                  <c:v>95459</c:v>
                </c:pt>
                <c:pt idx="14">
                  <c:v>90494</c:v>
                </c:pt>
                <c:pt idx="15">
                  <c:v>101154</c:v>
                </c:pt>
                <c:pt idx="16">
                  <c:v>140605</c:v>
                </c:pt>
                <c:pt idx="17">
                  <c:v>88963</c:v>
                </c:pt>
                <c:pt idx="18">
                  <c:v>73949</c:v>
                </c:pt>
                <c:pt idx="19">
                  <c:v>73525</c:v>
                </c:pt>
                <c:pt idx="20">
                  <c:v>58771</c:v>
                </c:pt>
                <c:pt idx="21">
                  <c:v>65568</c:v>
                </c:pt>
                <c:pt idx="22">
                  <c:v>199955</c:v>
                </c:pt>
                <c:pt idx="23">
                  <c:v>166970</c:v>
                </c:pt>
                <c:pt idx="24">
                  <c:v>198512</c:v>
                </c:pt>
                <c:pt idx="25">
                  <c:v>96712</c:v>
                </c:pt>
                <c:pt idx="26">
                  <c:v>131951</c:v>
                </c:pt>
                <c:pt idx="27">
                  <c:v>153187</c:v>
                </c:pt>
                <c:pt idx="28">
                  <c:v>85875</c:v>
                </c:pt>
                <c:pt idx="29">
                  <c:v>75402</c:v>
                </c:pt>
                <c:pt idx="30">
                  <c:v>59104</c:v>
                </c:pt>
                <c:pt idx="31">
                  <c:v>67302</c:v>
                </c:pt>
                <c:pt idx="32">
                  <c:v>67736</c:v>
                </c:pt>
                <c:pt idx="33">
                  <c:v>95625</c:v>
                </c:pt>
                <c:pt idx="34">
                  <c:v>631869</c:v>
                </c:pt>
                <c:pt idx="35">
                  <c:v>505906</c:v>
                </c:pt>
                <c:pt idx="36">
                  <c:v>323138</c:v>
                </c:pt>
                <c:pt idx="37">
                  <c:v>199731</c:v>
                </c:pt>
                <c:pt idx="38">
                  <c:v>330514</c:v>
                </c:pt>
                <c:pt idx="39">
                  <c:v>932081</c:v>
                </c:pt>
                <c:pt idx="40">
                  <c:v>118044</c:v>
                </c:pt>
                <c:pt idx="41">
                  <c:v>81910</c:v>
                </c:pt>
                <c:pt idx="42">
                  <c:v>82489</c:v>
                </c:pt>
                <c:pt idx="43">
                  <c:v>72238</c:v>
                </c:pt>
                <c:pt idx="44">
                  <c:v>75262</c:v>
                </c:pt>
                <c:pt idx="45">
                  <c:v>93208</c:v>
                </c:pt>
                <c:pt idx="46">
                  <c:v>107871</c:v>
                </c:pt>
                <c:pt idx="47">
                  <c:v>97380</c:v>
                </c:pt>
                <c:pt idx="48">
                  <c:v>108876</c:v>
                </c:pt>
                <c:pt idx="49">
                  <c:v>160475</c:v>
                </c:pt>
                <c:pt idx="50">
                  <c:v>71090</c:v>
                </c:pt>
                <c:pt idx="51">
                  <c:v>95350</c:v>
                </c:pt>
                <c:pt idx="52">
                  <c:v>81374</c:v>
                </c:pt>
                <c:pt idx="53">
                  <c:v>136118</c:v>
                </c:pt>
                <c:pt idx="54">
                  <c:v>64773</c:v>
                </c:pt>
                <c:pt idx="55">
                  <c:v>56130</c:v>
                </c:pt>
                <c:pt idx="56">
                  <c:v>2060640</c:v>
                </c:pt>
                <c:pt idx="57">
                  <c:v>115027</c:v>
                </c:pt>
                <c:pt idx="58">
                  <c:v>159108</c:v>
                </c:pt>
                <c:pt idx="59">
                  <c:v>89680</c:v>
                </c:pt>
                <c:pt idx="60">
                  <c:v>78603</c:v>
                </c:pt>
                <c:pt idx="61">
                  <c:v>46833</c:v>
                </c:pt>
                <c:pt idx="62">
                  <c:v>50690</c:v>
                </c:pt>
                <c:pt idx="63">
                  <c:v>54220</c:v>
                </c:pt>
                <c:pt idx="64">
                  <c:v>226682</c:v>
                </c:pt>
                <c:pt idx="65">
                  <c:v>31620</c:v>
                </c:pt>
                <c:pt idx="66">
                  <c:v>26717</c:v>
                </c:pt>
                <c:pt idx="67">
                  <c:v>30496</c:v>
                </c:pt>
                <c:pt idx="68">
                  <c:v>30704</c:v>
                </c:pt>
                <c:pt idx="69">
                  <c:v>26923</c:v>
                </c:pt>
                <c:pt idx="70">
                  <c:v>54409</c:v>
                </c:pt>
                <c:pt idx="71">
                  <c:v>99082</c:v>
                </c:pt>
                <c:pt idx="72">
                  <c:v>70150</c:v>
                </c:pt>
                <c:pt idx="73">
                  <c:v>52402</c:v>
                </c:pt>
                <c:pt idx="74">
                  <c:v>41690</c:v>
                </c:pt>
                <c:pt idx="75">
                  <c:v>33836</c:v>
                </c:pt>
                <c:pt idx="76">
                  <c:v>28177</c:v>
                </c:pt>
                <c:pt idx="77">
                  <c:v>26740</c:v>
                </c:pt>
                <c:pt idx="78">
                  <c:v>34836</c:v>
                </c:pt>
                <c:pt idx="79">
                  <c:v>26276</c:v>
                </c:pt>
                <c:pt idx="80">
                  <c:v>29725</c:v>
                </c:pt>
                <c:pt idx="81">
                  <c:v>27763</c:v>
                </c:pt>
                <c:pt idx="82">
                  <c:v>32114</c:v>
                </c:pt>
                <c:pt idx="83">
                  <c:v>30819</c:v>
                </c:pt>
                <c:pt idx="84">
                  <c:v>34989</c:v>
                </c:pt>
                <c:pt idx="85">
                  <c:v>31270</c:v>
                </c:pt>
                <c:pt idx="86">
                  <c:v>32749</c:v>
                </c:pt>
                <c:pt idx="87">
                  <c:v>29308</c:v>
                </c:pt>
                <c:pt idx="88">
                  <c:v>21985</c:v>
                </c:pt>
                <c:pt idx="89">
                  <c:v>17903</c:v>
                </c:pt>
                <c:pt idx="90">
                  <c:v>25998</c:v>
                </c:pt>
                <c:pt idx="91">
                  <c:v>26678</c:v>
                </c:pt>
                <c:pt idx="92">
                  <c:v>29825</c:v>
                </c:pt>
                <c:pt idx="93">
                  <c:v>28897</c:v>
                </c:pt>
                <c:pt idx="94">
                  <c:v>28915</c:v>
                </c:pt>
                <c:pt idx="95">
                  <c:v>27559</c:v>
                </c:pt>
                <c:pt idx="96">
                  <c:v>29673</c:v>
                </c:pt>
                <c:pt idx="97">
                  <c:v>41238</c:v>
                </c:pt>
                <c:pt idx="98">
                  <c:v>25981</c:v>
                </c:pt>
                <c:pt idx="99">
                  <c:v>29279</c:v>
                </c:pt>
                <c:pt idx="100">
                  <c:v>22758</c:v>
                </c:pt>
                <c:pt idx="101">
                  <c:v>20851</c:v>
                </c:pt>
                <c:pt idx="102">
                  <c:v>20094</c:v>
                </c:pt>
                <c:pt idx="103">
                  <c:v>26023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Iga Świątek</a:t>
            </a:r>
            <a:r>
              <a:rPr lang="pl-PL" dirty="0"/>
              <a:t> [tys.][2][3]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0213800904457435"/>
          <c:w val="0.94418872912625051"/>
          <c:h val="0.64714071855599353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Iga Świątek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653</c:v>
                </c:pt>
                <c:pt idx="1">
                  <c:v>1014</c:v>
                </c:pt>
                <c:pt idx="2">
                  <c:v>496</c:v>
                </c:pt>
                <c:pt idx="3">
                  <c:v>3007</c:v>
                </c:pt>
                <c:pt idx="4">
                  <c:v>3760</c:v>
                </c:pt>
                <c:pt idx="5">
                  <c:v>8328</c:v>
                </c:pt>
                <c:pt idx="6">
                  <c:v>36928</c:v>
                </c:pt>
                <c:pt idx="7">
                  <c:v>2477</c:v>
                </c:pt>
                <c:pt idx="8">
                  <c:v>6395</c:v>
                </c:pt>
                <c:pt idx="9">
                  <c:v>3673</c:v>
                </c:pt>
                <c:pt idx="10">
                  <c:v>2409</c:v>
                </c:pt>
                <c:pt idx="11">
                  <c:v>3302</c:v>
                </c:pt>
                <c:pt idx="12">
                  <c:v>16784</c:v>
                </c:pt>
                <c:pt idx="13">
                  <c:v>6414</c:v>
                </c:pt>
                <c:pt idx="14">
                  <c:v>2878</c:v>
                </c:pt>
                <c:pt idx="15">
                  <c:v>21265</c:v>
                </c:pt>
                <c:pt idx="16">
                  <c:v>10211</c:v>
                </c:pt>
                <c:pt idx="17">
                  <c:v>16548</c:v>
                </c:pt>
                <c:pt idx="18">
                  <c:v>5133</c:v>
                </c:pt>
                <c:pt idx="19">
                  <c:v>17307</c:v>
                </c:pt>
                <c:pt idx="20">
                  <c:v>2028</c:v>
                </c:pt>
                <c:pt idx="21">
                  <c:v>935</c:v>
                </c:pt>
                <c:pt idx="22">
                  <c:v>1242</c:v>
                </c:pt>
                <c:pt idx="23">
                  <c:v>874</c:v>
                </c:pt>
                <c:pt idx="24">
                  <c:v>14186</c:v>
                </c:pt>
                <c:pt idx="25">
                  <c:v>3070</c:v>
                </c:pt>
                <c:pt idx="26">
                  <c:v>893</c:v>
                </c:pt>
                <c:pt idx="27">
                  <c:v>1805</c:v>
                </c:pt>
                <c:pt idx="28">
                  <c:v>1251</c:v>
                </c:pt>
                <c:pt idx="29">
                  <c:v>1693</c:v>
                </c:pt>
                <c:pt idx="30">
                  <c:v>1202</c:v>
                </c:pt>
                <c:pt idx="31">
                  <c:v>2605</c:v>
                </c:pt>
                <c:pt idx="32">
                  <c:v>7774</c:v>
                </c:pt>
                <c:pt idx="33">
                  <c:v>572375</c:v>
                </c:pt>
                <c:pt idx="34">
                  <c:v>17233</c:v>
                </c:pt>
                <c:pt idx="35">
                  <c:v>11320</c:v>
                </c:pt>
                <c:pt idx="36">
                  <c:v>23791</c:v>
                </c:pt>
                <c:pt idx="37">
                  <c:v>67800</c:v>
                </c:pt>
                <c:pt idx="38">
                  <c:v>27164</c:v>
                </c:pt>
                <c:pt idx="39">
                  <c:v>15187</c:v>
                </c:pt>
                <c:pt idx="40">
                  <c:v>54552</c:v>
                </c:pt>
                <c:pt idx="41">
                  <c:v>75102</c:v>
                </c:pt>
                <c:pt idx="42">
                  <c:v>42576</c:v>
                </c:pt>
                <c:pt idx="43">
                  <c:v>7114</c:v>
                </c:pt>
                <c:pt idx="44">
                  <c:v>17297</c:v>
                </c:pt>
                <c:pt idx="45">
                  <c:v>7917</c:v>
                </c:pt>
                <c:pt idx="46">
                  <c:v>9354</c:v>
                </c:pt>
                <c:pt idx="47">
                  <c:v>6321</c:v>
                </c:pt>
                <c:pt idx="48">
                  <c:v>66418</c:v>
                </c:pt>
                <c:pt idx="49">
                  <c:v>21482</c:v>
                </c:pt>
                <c:pt idx="50">
                  <c:v>78025</c:v>
                </c:pt>
                <c:pt idx="51">
                  <c:v>120751</c:v>
                </c:pt>
                <c:pt idx="52">
                  <c:v>102025</c:v>
                </c:pt>
                <c:pt idx="53">
                  <c:v>251771</c:v>
                </c:pt>
                <c:pt idx="54">
                  <c:v>37087</c:v>
                </c:pt>
                <c:pt idx="55">
                  <c:v>15795</c:v>
                </c:pt>
                <c:pt idx="56">
                  <c:v>155521</c:v>
                </c:pt>
                <c:pt idx="57">
                  <c:v>38265</c:v>
                </c:pt>
                <c:pt idx="58">
                  <c:v>24337</c:v>
                </c:pt>
                <c:pt idx="59">
                  <c:v>14462</c:v>
                </c:pt>
                <c:pt idx="60">
                  <c:v>88435</c:v>
                </c:pt>
                <c:pt idx="61">
                  <c:v>51815</c:v>
                </c:pt>
                <c:pt idx="62">
                  <c:v>29360</c:v>
                </c:pt>
                <c:pt idx="63">
                  <c:v>36341</c:v>
                </c:pt>
                <c:pt idx="64">
                  <c:v>62509</c:v>
                </c:pt>
                <c:pt idx="65">
                  <c:v>270738</c:v>
                </c:pt>
                <c:pt idx="66">
                  <c:v>125497</c:v>
                </c:pt>
                <c:pt idx="67">
                  <c:v>49908</c:v>
                </c:pt>
                <c:pt idx="68">
                  <c:v>40639</c:v>
                </c:pt>
                <c:pt idx="69">
                  <c:v>32484</c:v>
                </c:pt>
                <c:pt idx="70">
                  <c:v>77202</c:v>
                </c:pt>
                <c:pt idx="71">
                  <c:v>20296</c:v>
                </c:pt>
                <c:pt idx="72">
                  <c:v>87152</c:v>
                </c:pt>
                <c:pt idx="73">
                  <c:v>58812</c:v>
                </c:pt>
                <c:pt idx="74">
                  <c:v>77396</c:v>
                </c:pt>
                <c:pt idx="75">
                  <c:v>48437</c:v>
                </c:pt>
                <c:pt idx="76">
                  <c:v>175038</c:v>
                </c:pt>
                <c:pt idx="77">
                  <c:v>240368</c:v>
                </c:pt>
                <c:pt idx="78">
                  <c:v>97073</c:v>
                </c:pt>
                <c:pt idx="79">
                  <c:v>118940</c:v>
                </c:pt>
                <c:pt idx="80">
                  <c:v>40517</c:v>
                </c:pt>
                <c:pt idx="81">
                  <c:v>23714</c:v>
                </c:pt>
                <c:pt idx="82">
                  <c:v>27422</c:v>
                </c:pt>
                <c:pt idx="83">
                  <c:v>15316</c:v>
                </c:pt>
                <c:pt idx="84">
                  <c:v>88222</c:v>
                </c:pt>
                <c:pt idx="85">
                  <c:v>28762</c:v>
                </c:pt>
                <c:pt idx="86">
                  <c:v>28445</c:v>
                </c:pt>
                <c:pt idx="87">
                  <c:v>17945</c:v>
                </c:pt>
                <c:pt idx="88">
                  <c:v>29504</c:v>
                </c:pt>
                <c:pt idx="89">
                  <c:v>59003</c:v>
                </c:pt>
                <c:pt idx="90">
                  <c:v>370899</c:v>
                </c:pt>
                <c:pt idx="91">
                  <c:v>88578</c:v>
                </c:pt>
                <c:pt idx="92">
                  <c:v>69044</c:v>
                </c:pt>
                <c:pt idx="93">
                  <c:v>22683</c:v>
                </c:pt>
                <c:pt idx="94">
                  <c:v>25858</c:v>
                </c:pt>
                <c:pt idx="95">
                  <c:v>14753</c:v>
                </c:pt>
                <c:pt idx="96">
                  <c:v>70226</c:v>
                </c:pt>
                <c:pt idx="97">
                  <c:v>27615</c:v>
                </c:pt>
                <c:pt idx="98">
                  <c:v>27910</c:v>
                </c:pt>
                <c:pt idx="99">
                  <c:v>21060</c:v>
                </c:pt>
                <c:pt idx="100">
                  <c:v>50230</c:v>
                </c:pt>
                <c:pt idx="101">
                  <c:v>139857</c:v>
                </c:pt>
                <c:pt idx="102">
                  <c:v>31837</c:v>
                </c:pt>
                <c:pt idx="103">
                  <c:v>48439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</a:t>
            </a:r>
            <a:r>
              <a:rPr lang="pl-PL" baseline="0" dirty="0" err="1"/>
              <a:t>Freddie</a:t>
            </a:r>
            <a:r>
              <a:rPr lang="pl-PL" baseline="0" dirty="0"/>
              <a:t> </a:t>
            </a:r>
            <a:r>
              <a:rPr lang="pl-PL" baseline="0" dirty="0" err="1"/>
              <a:t>Mercury</a:t>
            </a:r>
            <a:r>
              <a:rPr lang="pl-PL" baseline="0" dirty="0"/>
              <a:t> </a:t>
            </a:r>
            <a:r>
              <a:rPr lang="pl-PL" dirty="0"/>
              <a:t>[tys.][2][3]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Freddie Mercury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10"/>
              <c:layout>
                <c:manualLayout>
                  <c:x val="1.0645526866962735E-2"/>
                  <c:y val="7.880334738418390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Premiera filmu Bohemian Rapsody</a:t>
                    </a:r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FE-4D5B-A63F-93FE995277E8}"/>
                </c:ext>
              </c:extLst>
            </c:dLbl>
            <c:dLbl>
              <c:idx val="46"/>
              <c:layout>
                <c:manualLayout>
                  <c:x val="1.4194035822617088E-2"/>
                  <c:y val="-1.16745699828420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30-ta </a:t>
                    </a:r>
                    <a:r>
                      <a:rPr lang="en-US" dirty="0" err="1"/>
                      <a:t>rocznica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śmierci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FE-4D5B-A63F-93FE995277E8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32919</c:v>
                </c:pt>
                <c:pt idx="1">
                  <c:v>25397</c:v>
                </c:pt>
                <c:pt idx="2">
                  <c:v>28423</c:v>
                </c:pt>
                <c:pt idx="3">
                  <c:v>30273</c:v>
                </c:pt>
                <c:pt idx="4">
                  <c:v>37553</c:v>
                </c:pt>
                <c:pt idx="5">
                  <c:v>25038</c:v>
                </c:pt>
                <c:pt idx="6">
                  <c:v>44352</c:v>
                </c:pt>
                <c:pt idx="7">
                  <c:v>30343</c:v>
                </c:pt>
                <c:pt idx="8">
                  <c:v>37061</c:v>
                </c:pt>
                <c:pt idx="9">
                  <c:v>78271</c:v>
                </c:pt>
                <c:pt idx="10">
                  <c:v>449113</c:v>
                </c:pt>
                <c:pt idx="11">
                  <c:v>211198</c:v>
                </c:pt>
                <c:pt idx="12">
                  <c:v>194916</c:v>
                </c:pt>
                <c:pt idx="13">
                  <c:v>214954</c:v>
                </c:pt>
                <c:pt idx="14">
                  <c:v>165365</c:v>
                </c:pt>
                <c:pt idx="15">
                  <c:v>75085</c:v>
                </c:pt>
                <c:pt idx="16">
                  <c:v>58533</c:v>
                </c:pt>
                <c:pt idx="17">
                  <c:v>50277</c:v>
                </c:pt>
                <c:pt idx="18">
                  <c:v>52872</c:v>
                </c:pt>
                <c:pt idx="19">
                  <c:v>45240</c:v>
                </c:pt>
                <c:pt idx="20">
                  <c:v>131260</c:v>
                </c:pt>
                <c:pt idx="21">
                  <c:v>85430</c:v>
                </c:pt>
                <c:pt idx="22">
                  <c:v>87686</c:v>
                </c:pt>
                <c:pt idx="23">
                  <c:v>67782</c:v>
                </c:pt>
                <c:pt idx="24">
                  <c:v>52818</c:v>
                </c:pt>
                <c:pt idx="25">
                  <c:v>44863</c:v>
                </c:pt>
                <c:pt idx="26">
                  <c:v>51769</c:v>
                </c:pt>
                <c:pt idx="27">
                  <c:v>50207</c:v>
                </c:pt>
                <c:pt idx="28">
                  <c:v>43144</c:v>
                </c:pt>
                <c:pt idx="29">
                  <c:v>37022</c:v>
                </c:pt>
                <c:pt idx="30">
                  <c:v>30423</c:v>
                </c:pt>
                <c:pt idx="31">
                  <c:v>32078</c:v>
                </c:pt>
                <c:pt idx="32">
                  <c:v>36980</c:v>
                </c:pt>
                <c:pt idx="33">
                  <c:v>33182</c:v>
                </c:pt>
                <c:pt idx="34">
                  <c:v>48119</c:v>
                </c:pt>
                <c:pt idx="35">
                  <c:v>44213</c:v>
                </c:pt>
                <c:pt idx="36">
                  <c:v>51776</c:v>
                </c:pt>
                <c:pt idx="37">
                  <c:v>34205</c:v>
                </c:pt>
                <c:pt idx="38">
                  <c:v>39312</c:v>
                </c:pt>
                <c:pt idx="39">
                  <c:v>37064</c:v>
                </c:pt>
                <c:pt idx="40">
                  <c:v>40983</c:v>
                </c:pt>
                <c:pt idx="41">
                  <c:v>28222</c:v>
                </c:pt>
                <c:pt idx="42">
                  <c:v>28539</c:v>
                </c:pt>
                <c:pt idx="43">
                  <c:v>29883</c:v>
                </c:pt>
                <c:pt idx="44">
                  <c:v>149854</c:v>
                </c:pt>
                <c:pt idx="45">
                  <c:v>93633</c:v>
                </c:pt>
                <c:pt idx="46">
                  <c:v>267298</c:v>
                </c:pt>
                <c:pt idx="47">
                  <c:v>95078</c:v>
                </c:pt>
                <c:pt idx="48">
                  <c:v>89223</c:v>
                </c:pt>
                <c:pt idx="49">
                  <c:v>44844</c:v>
                </c:pt>
                <c:pt idx="50">
                  <c:v>25220</c:v>
                </c:pt>
                <c:pt idx="51">
                  <c:v>30878</c:v>
                </c:pt>
                <c:pt idx="52">
                  <c:v>85157</c:v>
                </c:pt>
                <c:pt idx="53">
                  <c:v>33930</c:v>
                </c:pt>
                <c:pt idx="54">
                  <c:v>40443</c:v>
                </c:pt>
                <c:pt idx="55">
                  <c:v>24178</c:v>
                </c:pt>
                <c:pt idx="56">
                  <c:v>23694</c:v>
                </c:pt>
                <c:pt idx="57">
                  <c:v>24345</c:v>
                </c:pt>
                <c:pt idx="58">
                  <c:v>31850</c:v>
                </c:pt>
                <c:pt idx="59">
                  <c:v>23008</c:v>
                </c:pt>
                <c:pt idx="60">
                  <c:v>47372</c:v>
                </c:pt>
                <c:pt idx="61">
                  <c:v>25496</c:v>
                </c:pt>
                <c:pt idx="62">
                  <c:v>29122</c:v>
                </c:pt>
                <c:pt idx="63">
                  <c:v>29761</c:v>
                </c:pt>
                <c:pt idx="64">
                  <c:v>100721</c:v>
                </c:pt>
                <c:pt idx="65">
                  <c:v>26820</c:v>
                </c:pt>
                <c:pt idx="66">
                  <c:v>36048</c:v>
                </c:pt>
                <c:pt idx="67">
                  <c:v>34590</c:v>
                </c:pt>
                <c:pt idx="68">
                  <c:v>41269</c:v>
                </c:pt>
                <c:pt idx="69">
                  <c:v>25151</c:v>
                </c:pt>
                <c:pt idx="70">
                  <c:v>73888</c:v>
                </c:pt>
                <c:pt idx="71">
                  <c:v>36627</c:v>
                </c:pt>
                <c:pt idx="72">
                  <c:v>39646</c:v>
                </c:pt>
                <c:pt idx="73">
                  <c:v>22182</c:v>
                </c:pt>
                <c:pt idx="74">
                  <c:v>23681</c:v>
                </c:pt>
                <c:pt idx="75">
                  <c:v>77313</c:v>
                </c:pt>
                <c:pt idx="76">
                  <c:v>22061</c:v>
                </c:pt>
                <c:pt idx="77">
                  <c:v>19112</c:v>
                </c:pt>
                <c:pt idx="78">
                  <c:v>16485</c:v>
                </c:pt>
                <c:pt idx="79">
                  <c:v>18593</c:v>
                </c:pt>
                <c:pt idx="80">
                  <c:v>22637</c:v>
                </c:pt>
                <c:pt idx="81">
                  <c:v>19053</c:v>
                </c:pt>
                <c:pt idx="82">
                  <c:v>26886</c:v>
                </c:pt>
                <c:pt idx="83">
                  <c:v>23867</c:v>
                </c:pt>
                <c:pt idx="84">
                  <c:v>23190</c:v>
                </c:pt>
                <c:pt idx="85">
                  <c:v>28138</c:v>
                </c:pt>
                <c:pt idx="86">
                  <c:v>60700</c:v>
                </c:pt>
                <c:pt idx="87">
                  <c:v>19013</c:v>
                </c:pt>
                <c:pt idx="88">
                  <c:v>14599</c:v>
                </c:pt>
                <c:pt idx="89">
                  <c:v>15262</c:v>
                </c:pt>
                <c:pt idx="90">
                  <c:v>18648</c:v>
                </c:pt>
                <c:pt idx="91">
                  <c:v>16869</c:v>
                </c:pt>
                <c:pt idx="92">
                  <c:v>22743</c:v>
                </c:pt>
                <c:pt idx="93">
                  <c:v>22633</c:v>
                </c:pt>
                <c:pt idx="94">
                  <c:v>22206</c:v>
                </c:pt>
                <c:pt idx="95">
                  <c:v>22621</c:v>
                </c:pt>
                <c:pt idx="96">
                  <c:v>19715</c:v>
                </c:pt>
                <c:pt idx="97">
                  <c:v>13823</c:v>
                </c:pt>
                <c:pt idx="98">
                  <c:v>44827</c:v>
                </c:pt>
                <c:pt idx="99">
                  <c:v>14635</c:v>
                </c:pt>
                <c:pt idx="100">
                  <c:v>20408</c:v>
                </c:pt>
                <c:pt idx="101">
                  <c:v>18121</c:v>
                </c:pt>
                <c:pt idx="102">
                  <c:v>14827</c:v>
                </c:pt>
                <c:pt idx="103">
                  <c:v>20686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 </a:t>
            </a:r>
            <a:r>
              <a:rPr lang="pl-PL" dirty="0"/>
              <a:t>Republika Zielonego Przylądka oraz Curaçao [tys.][2][3]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926678644591617"/>
          <c:w val="0.94418872912625051"/>
          <c:h val="0.5800119411546517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Republika Zielonego Przylądka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22551</c:v>
                </c:pt>
                <c:pt idx="1">
                  <c:v>20088</c:v>
                </c:pt>
                <c:pt idx="2">
                  <c:v>18648</c:v>
                </c:pt>
                <c:pt idx="3">
                  <c:v>15304</c:v>
                </c:pt>
                <c:pt idx="4">
                  <c:v>16017</c:v>
                </c:pt>
                <c:pt idx="5">
                  <c:v>20793</c:v>
                </c:pt>
                <c:pt idx="6">
                  <c:v>24073</c:v>
                </c:pt>
                <c:pt idx="7">
                  <c:v>20587</c:v>
                </c:pt>
                <c:pt idx="8">
                  <c:v>21821</c:v>
                </c:pt>
                <c:pt idx="9">
                  <c:v>20866</c:v>
                </c:pt>
                <c:pt idx="10">
                  <c:v>20681</c:v>
                </c:pt>
                <c:pt idx="11">
                  <c:v>20276</c:v>
                </c:pt>
                <c:pt idx="12">
                  <c:v>22216</c:v>
                </c:pt>
                <c:pt idx="13">
                  <c:v>20603</c:v>
                </c:pt>
                <c:pt idx="14">
                  <c:v>19292</c:v>
                </c:pt>
                <c:pt idx="15">
                  <c:v>11804</c:v>
                </c:pt>
                <c:pt idx="16">
                  <c:v>12443</c:v>
                </c:pt>
                <c:pt idx="17">
                  <c:v>15614</c:v>
                </c:pt>
                <c:pt idx="18">
                  <c:v>18295</c:v>
                </c:pt>
                <c:pt idx="19">
                  <c:v>34271</c:v>
                </c:pt>
                <c:pt idx="20">
                  <c:v>32728</c:v>
                </c:pt>
                <c:pt idx="21">
                  <c:v>16496</c:v>
                </c:pt>
                <c:pt idx="22">
                  <c:v>15918</c:v>
                </c:pt>
                <c:pt idx="23">
                  <c:v>14647</c:v>
                </c:pt>
                <c:pt idx="24">
                  <c:v>18428</c:v>
                </c:pt>
                <c:pt idx="25">
                  <c:v>13301</c:v>
                </c:pt>
                <c:pt idx="26">
                  <c:v>10989</c:v>
                </c:pt>
                <c:pt idx="27">
                  <c:v>7888</c:v>
                </c:pt>
                <c:pt idx="28">
                  <c:v>7726</c:v>
                </c:pt>
                <c:pt idx="29">
                  <c:v>5652</c:v>
                </c:pt>
                <c:pt idx="30">
                  <c:v>7029</c:v>
                </c:pt>
                <c:pt idx="31">
                  <c:v>6579</c:v>
                </c:pt>
                <c:pt idx="32">
                  <c:v>6880</c:v>
                </c:pt>
                <c:pt idx="33">
                  <c:v>6468</c:v>
                </c:pt>
                <c:pt idx="34">
                  <c:v>7657</c:v>
                </c:pt>
                <c:pt idx="35">
                  <c:v>8879</c:v>
                </c:pt>
                <c:pt idx="36">
                  <c:v>14813</c:v>
                </c:pt>
                <c:pt idx="37">
                  <c:v>10721</c:v>
                </c:pt>
                <c:pt idx="38">
                  <c:v>15336</c:v>
                </c:pt>
                <c:pt idx="39">
                  <c:v>15873</c:v>
                </c:pt>
                <c:pt idx="40">
                  <c:v>13452</c:v>
                </c:pt>
                <c:pt idx="41">
                  <c:v>18018</c:v>
                </c:pt>
                <c:pt idx="42">
                  <c:v>18029</c:v>
                </c:pt>
                <c:pt idx="43">
                  <c:v>17484</c:v>
                </c:pt>
                <c:pt idx="44">
                  <c:v>18591</c:v>
                </c:pt>
                <c:pt idx="45">
                  <c:v>20359</c:v>
                </c:pt>
                <c:pt idx="46">
                  <c:v>17381</c:v>
                </c:pt>
                <c:pt idx="47">
                  <c:v>14139</c:v>
                </c:pt>
                <c:pt idx="48">
                  <c:v>21102</c:v>
                </c:pt>
                <c:pt idx="49">
                  <c:v>13575</c:v>
                </c:pt>
                <c:pt idx="50">
                  <c:v>16139</c:v>
                </c:pt>
                <c:pt idx="51">
                  <c:v>12940</c:v>
                </c:pt>
                <c:pt idx="52">
                  <c:v>12287</c:v>
                </c:pt>
                <c:pt idx="53">
                  <c:v>11969</c:v>
                </c:pt>
                <c:pt idx="54">
                  <c:v>15070</c:v>
                </c:pt>
                <c:pt idx="55">
                  <c:v>14212</c:v>
                </c:pt>
                <c:pt idx="56">
                  <c:v>12952</c:v>
                </c:pt>
                <c:pt idx="57">
                  <c:v>13750</c:v>
                </c:pt>
                <c:pt idx="58">
                  <c:v>15068</c:v>
                </c:pt>
                <c:pt idx="59">
                  <c:v>16377</c:v>
                </c:pt>
                <c:pt idx="60">
                  <c:v>20988</c:v>
                </c:pt>
                <c:pt idx="61">
                  <c:v>16314</c:v>
                </c:pt>
                <c:pt idx="62">
                  <c:v>16029</c:v>
                </c:pt>
                <c:pt idx="63">
                  <c:v>15490</c:v>
                </c:pt>
                <c:pt idx="64">
                  <c:v>16950</c:v>
                </c:pt>
                <c:pt idx="65">
                  <c:v>16184</c:v>
                </c:pt>
                <c:pt idx="66">
                  <c:v>16749</c:v>
                </c:pt>
                <c:pt idx="67">
                  <c:v>19702</c:v>
                </c:pt>
                <c:pt idx="68">
                  <c:v>18341</c:v>
                </c:pt>
                <c:pt idx="69">
                  <c:v>20925</c:v>
                </c:pt>
                <c:pt idx="70">
                  <c:v>22426</c:v>
                </c:pt>
                <c:pt idx="71">
                  <c:v>24749</c:v>
                </c:pt>
                <c:pt idx="72">
                  <c:v>36474</c:v>
                </c:pt>
                <c:pt idx="73">
                  <c:v>26349</c:v>
                </c:pt>
                <c:pt idx="74">
                  <c:v>23087</c:v>
                </c:pt>
                <c:pt idx="75">
                  <c:v>19485</c:v>
                </c:pt>
                <c:pt idx="76">
                  <c:v>18349</c:v>
                </c:pt>
                <c:pt idx="77">
                  <c:v>15729</c:v>
                </c:pt>
                <c:pt idx="78">
                  <c:v>20903</c:v>
                </c:pt>
                <c:pt idx="79">
                  <c:v>18287</c:v>
                </c:pt>
                <c:pt idx="80">
                  <c:v>19081</c:v>
                </c:pt>
                <c:pt idx="81">
                  <c:v>20806</c:v>
                </c:pt>
                <c:pt idx="82">
                  <c:v>23368</c:v>
                </c:pt>
                <c:pt idx="83">
                  <c:v>24771</c:v>
                </c:pt>
                <c:pt idx="84">
                  <c:v>29250</c:v>
                </c:pt>
                <c:pt idx="85">
                  <c:v>24407</c:v>
                </c:pt>
                <c:pt idx="86">
                  <c:v>26287</c:v>
                </c:pt>
                <c:pt idx="87">
                  <c:v>18755</c:v>
                </c:pt>
                <c:pt idx="88">
                  <c:v>17160</c:v>
                </c:pt>
                <c:pt idx="89">
                  <c:v>18956</c:v>
                </c:pt>
                <c:pt idx="90">
                  <c:v>22533</c:v>
                </c:pt>
                <c:pt idx="91">
                  <c:v>26900</c:v>
                </c:pt>
                <c:pt idx="92">
                  <c:v>31540</c:v>
                </c:pt>
                <c:pt idx="93">
                  <c:v>42687</c:v>
                </c:pt>
                <c:pt idx="94">
                  <c:v>27507</c:v>
                </c:pt>
                <c:pt idx="95">
                  <c:v>25250</c:v>
                </c:pt>
                <c:pt idx="96">
                  <c:v>28459</c:v>
                </c:pt>
                <c:pt idx="97">
                  <c:v>23050</c:v>
                </c:pt>
                <c:pt idx="98">
                  <c:v>23760</c:v>
                </c:pt>
                <c:pt idx="99">
                  <c:v>21524</c:v>
                </c:pt>
                <c:pt idx="100">
                  <c:v>24934</c:v>
                </c:pt>
                <c:pt idx="101">
                  <c:v>338510</c:v>
                </c:pt>
                <c:pt idx="102">
                  <c:v>176331</c:v>
                </c:pt>
                <c:pt idx="103">
                  <c:v>19500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Curaçao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Arkusz1!$C$2:$C$105</c:f>
              <c:numCache>
                <c:formatCode>General</c:formatCode>
                <c:ptCount val="104"/>
                <c:pt idx="0">
                  <c:v>4960</c:v>
                </c:pt>
                <c:pt idx="1">
                  <c:v>4015</c:v>
                </c:pt>
                <c:pt idx="2">
                  <c:v>6474</c:v>
                </c:pt>
                <c:pt idx="3">
                  <c:v>4131</c:v>
                </c:pt>
                <c:pt idx="4">
                  <c:v>4209</c:v>
                </c:pt>
                <c:pt idx="5">
                  <c:v>4919</c:v>
                </c:pt>
                <c:pt idx="6">
                  <c:v>5130</c:v>
                </c:pt>
                <c:pt idx="7">
                  <c:v>5424</c:v>
                </c:pt>
                <c:pt idx="8">
                  <c:v>4967</c:v>
                </c:pt>
                <c:pt idx="9">
                  <c:v>4789</c:v>
                </c:pt>
                <c:pt idx="10">
                  <c:v>5160</c:v>
                </c:pt>
                <c:pt idx="11">
                  <c:v>5804</c:v>
                </c:pt>
                <c:pt idx="12">
                  <c:v>6412</c:v>
                </c:pt>
                <c:pt idx="13">
                  <c:v>5483</c:v>
                </c:pt>
                <c:pt idx="14">
                  <c:v>5347</c:v>
                </c:pt>
                <c:pt idx="15">
                  <c:v>3877</c:v>
                </c:pt>
                <c:pt idx="16">
                  <c:v>4447</c:v>
                </c:pt>
                <c:pt idx="17">
                  <c:v>7604</c:v>
                </c:pt>
                <c:pt idx="18">
                  <c:v>5939</c:v>
                </c:pt>
                <c:pt idx="19">
                  <c:v>5042</c:v>
                </c:pt>
                <c:pt idx="20">
                  <c:v>6801</c:v>
                </c:pt>
                <c:pt idx="21">
                  <c:v>6864</c:v>
                </c:pt>
                <c:pt idx="22">
                  <c:v>5952</c:v>
                </c:pt>
                <c:pt idx="23">
                  <c:v>5743</c:v>
                </c:pt>
                <c:pt idx="24">
                  <c:v>11412</c:v>
                </c:pt>
                <c:pt idx="25">
                  <c:v>5938</c:v>
                </c:pt>
                <c:pt idx="26">
                  <c:v>6179</c:v>
                </c:pt>
                <c:pt idx="27">
                  <c:v>7535</c:v>
                </c:pt>
                <c:pt idx="28">
                  <c:v>4814</c:v>
                </c:pt>
                <c:pt idx="29">
                  <c:v>4120</c:v>
                </c:pt>
                <c:pt idx="30">
                  <c:v>4437</c:v>
                </c:pt>
                <c:pt idx="31">
                  <c:v>4986</c:v>
                </c:pt>
                <c:pt idx="32">
                  <c:v>5141</c:v>
                </c:pt>
                <c:pt idx="33">
                  <c:v>5343</c:v>
                </c:pt>
                <c:pt idx="34">
                  <c:v>5062</c:v>
                </c:pt>
                <c:pt idx="35">
                  <c:v>5273</c:v>
                </c:pt>
                <c:pt idx="36">
                  <c:v>5441</c:v>
                </c:pt>
                <c:pt idx="37">
                  <c:v>4138</c:v>
                </c:pt>
                <c:pt idx="38">
                  <c:v>6732</c:v>
                </c:pt>
                <c:pt idx="39">
                  <c:v>7821</c:v>
                </c:pt>
                <c:pt idx="40">
                  <c:v>6303</c:v>
                </c:pt>
                <c:pt idx="41">
                  <c:v>7504</c:v>
                </c:pt>
                <c:pt idx="42">
                  <c:v>6409</c:v>
                </c:pt>
                <c:pt idx="43">
                  <c:v>5988</c:v>
                </c:pt>
                <c:pt idx="44">
                  <c:v>5574</c:v>
                </c:pt>
                <c:pt idx="45">
                  <c:v>6041</c:v>
                </c:pt>
                <c:pt idx="46">
                  <c:v>5295</c:v>
                </c:pt>
                <c:pt idx="47">
                  <c:v>5387</c:v>
                </c:pt>
                <c:pt idx="48">
                  <c:v>5831</c:v>
                </c:pt>
                <c:pt idx="49">
                  <c:v>4844</c:v>
                </c:pt>
                <c:pt idx="50">
                  <c:v>5654</c:v>
                </c:pt>
                <c:pt idx="51">
                  <c:v>5115</c:v>
                </c:pt>
                <c:pt idx="52">
                  <c:v>4868</c:v>
                </c:pt>
                <c:pt idx="53">
                  <c:v>6929</c:v>
                </c:pt>
                <c:pt idx="54">
                  <c:v>6460</c:v>
                </c:pt>
                <c:pt idx="55">
                  <c:v>5523</c:v>
                </c:pt>
                <c:pt idx="56">
                  <c:v>5545</c:v>
                </c:pt>
                <c:pt idx="57">
                  <c:v>4835</c:v>
                </c:pt>
                <c:pt idx="58">
                  <c:v>6508</c:v>
                </c:pt>
                <c:pt idx="59">
                  <c:v>6668</c:v>
                </c:pt>
                <c:pt idx="60">
                  <c:v>6183</c:v>
                </c:pt>
                <c:pt idx="61">
                  <c:v>6594</c:v>
                </c:pt>
                <c:pt idx="62">
                  <c:v>10725</c:v>
                </c:pt>
                <c:pt idx="63">
                  <c:v>5583</c:v>
                </c:pt>
                <c:pt idx="64">
                  <c:v>5670</c:v>
                </c:pt>
                <c:pt idx="65">
                  <c:v>5919</c:v>
                </c:pt>
                <c:pt idx="66">
                  <c:v>7305</c:v>
                </c:pt>
                <c:pt idx="67">
                  <c:v>6385</c:v>
                </c:pt>
                <c:pt idx="68">
                  <c:v>5432</c:v>
                </c:pt>
                <c:pt idx="69">
                  <c:v>5156</c:v>
                </c:pt>
                <c:pt idx="70">
                  <c:v>5927</c:v>
                </c:pt>
                <c:pt idx="71">
                  <c:v>6007</c:v>
                </c:pt>
                <c:pt idx="72">
                  <c:v>6957</c:v>
                </c:pt>
                <c:pt idx="73">
                  <c:v>5917</c:v>
                </c:pt>
                <c:pt idx="74">
                  <c:v>5922</c:v>
                </c:pt>
                <c:pt idx="75">
                  <c:v>5516</c:v>
                </c:pt>
                <c:pt idx="76">
                  <c:v>4974</c:v>
                </c:pt>
                <c:pt idx="77">
                  <c:v>5967</c:v>
                </c:pt>
                <c:pt idx="78">
                  <c:v>9441</c:v>
                </c:pt>
                <c:pt idx="79">
                  <c:v>6516</c:v>
                </c:pt>
                <c:pt idx="80">
                  <c:v>4786</c:v>
                </c:pt>
                <c:pt idx="81">
                  <c:v>4976</c:v>
                </c:pt>
                <c:pt idx="82">
                  <c:v>5073</c:v>
                </c:pt>
                <c:pt idx="83">
                  <c:v>7020</c:v>
                </c:pt>
                <c:pt idx="84">
                  <c:v>7384</c:v>
                </c:pt>
                <c:pt idx="85">
                  <c:v>5723</c:v>
                </c:pt>
                <c:pt idx="86">
                  <c:v>5627</c:v>
                </c:pt>
                <c:pt idx="87">
                  <c:v>5559</c:v>
                </c:pt>
                <c:pt idx="88">
                  <c:v>3798</c:v>
                </c:pt>
                <c:pt idx="89">
                  <c:v>8780</c:v>
                </c:pt>
                <c:pt idx="90">
                  <c:v>7324</c:v>
                </c:pt>
                <c:pt idx="91">
                  <c:v>6670</c:v>
                </c:pt>
                <c:pt idx="92">
                  <c:v>6034</c:v>
                </c:pt>
                <c:pt idx="93">
                  <c:v>13600</c:v>
                </c:pt>
                <c:pt idx="94">
                  <c:v>53420</c:v>
                </c:pt>
                <c:pt idx="95">
                  <c:v>20560</c:v>
                </c:pt>
                <c:pt idx="96">
                  <c:v>10172</c:v>
                </c:pt>
                <c:pt idx="97">
                  <c:v>7314</c:v>
                </c:pt>
                <c:pt idx="98">
                  <c:v>11119</c:v>
                </c:pt>
                <c:pt idx="99">
                  <c:v>18778</c:v>
                </c:pt>
                <c:pt idx="100">
                  <c:v>19030</c:v>
                </c:pt>
                <c:pt idx="101">
                  <c:v>703315</c:v>
                </c:pt>
                <c:pt idx="102">
                  <c:v>24281</c:v>
                </c:pt>
                <c:pt idx="103">
                  <c:v>6829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l-PL" dirty="0"/>
              <a:t>Suma wyświetleń</a:t>
            </a:r>
            <a:r>
              <a:rPr lang="pl-PL" baseline="0" dirty="0"/>
              <a:t> strony Przedłużanie życia </a:t>
            </a:r>
            <a:r>
              <a:rPr lang="pl-PL" dirty="0"/>
              <a:t>[mln][2][3]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663481439502057"/>
          <c:w val="0.94418872912625051"/>
          <c:h val="0.5829305836503621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Przedłużanie życia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769</c:v>
                </c:pt>
                <c:pt idx="1">
                  <c:v>447</c:v>
                </c:pt>
                <c:pt idx="2">
                  <c:v>621</c:v>
                </c:pt>
                <c:pt idx="3">
                  <c:v>624</c:v>
                </c:pt>
                <c:pt idx="4">
                  <c:v>503</c:v>
                </c:pt>
                <c:pt idx="5">
                  <c:v>512</c:v>
                </c:pt>
                <c:pt idx="6">
                  <c:v>507</c:v>
                </c:pt>
                <c:pt idx="7">
                  <c:v>469</c:v>
                </c:pt>
                <c:pt idx="8">
                  <c:v>505</c:v>
                </c:pt>
                <c:pt idx="9">
                  <c:v>532</c:v>
                </c:pt>
                <c:pt idx="10">
                  <c:v>666</c:v>
                </c:pt>
                <c:pt idx="11">
                  <c:v>612</c:v>
                </c:pt>
                <c:pt idx="12">
                  <c:v>585</c:v>
                </c:pt>
                <c:pt idx="13">
                  <c:v>502</c:v>
                </c:pt>
                <c:pt idx="14">
                  <c:v>513</c:v>
                </c:pt>
                <c:pt idx="15">
                  <c:v>423</c:v>
                </c:pt>
                <c:pt idx="16">
                  <c:v>491</c:v>
                </c:pt>
                <c:pt idx="17">
                  <c:v>280830</c:v>
                </c:pt>
                <c:pt idx="18">
                  <c:v>2518501</c:v>
                </c:pt>
                <c:pt idx="19">
                  <c:v>569</c:v>
                </c:pt>
                <c:pt idx="20">
                  <c:v>380</c:v>
                </c:pt>
                <c:pt idx="21">
                  <c:v>758</c:v>
                </c:pt>
                <c:pt idx="22">
                  <c:v>464</c:v>
                </c:pt>
                <c:pt idx="23">
                  <c:v>404</c:v>
                </c:pt>
                <c:pt idx="24">
                  <c:v>589</c:v>
                </c:pt>
                <c:pt idx="25">
                  <c:v>455</c:v>
                </c:pt>
                <c:pt idx="26">
                  <c:v>444</c:v>
                </c:pt>
                <c:pt idx="27">
                  <c:v>535</c:v>
                </c:pt>
                <c:pt idx="28">
                  <c:v>600</c:v>
                </c:pt>
                <c:pt idx="29">
                  <c:v>427</c:v>
                </c:pt>
                <c:pt idx="30">
                  <c:v>368</c:v>
                </c:pt>
                <c:pt idx="31">
                  <c:v>331</c:v>
                </c:pt>
                <c:pt idx="32">
                  <c:v>400</c:v>
                </c:pt>
                <c:pt idx="33">
                  <c:v>483</c:v>
                </c:pt>
                <c:pt idx="34">
                  <c:v>526</c:v>
                </c:pt>
                <c:pt idx="35">
                  <c:v>536</c:v>
                </c:pt>
                <c:pt idx="36">
                  <c:v>605</c:v>
                </c:pt>
                <c:pt idx="37">
                  <c:v>523</c:v>
                </c:pt>
                <c:pt idx="38">
                  <c:v>635</c:v>
                </c:pt>
                <c:pt idx="39">
                  <c:v>610</c:v>
                </c:pt>
                <c:pt idx="40">
                  <c:v>556</c:v>
                </c:pt>
                <c:pt idx="41">
                  <c:v>530</c:v>
                </c:pt>
                <c:pt idx="42">
                  <c:v>455</c:v>
                </c:pt>
                <c:pt idx="43">
                  <c:v>375</c:v>
                </c:pt>
                <c:pt idx="44">
                  <c:v>416</c:v>
                </c:pt>
                <c:pt idx="45">
                  <c:v>532</c:v>
                </c:pt>
                <c:pt idx="46">
                  <c:v>542</c:v>
                </c:pt>
                <c:pt idx="47">
                  <c:v>553</c:v>
                </c:pt>
                <c:pt idx="48">
                  <c:v>583</c:v>
                </c:pt>
                <c:pt idx="49">
                  <c:v>403</c:v>
                </c:pt>
                <c:pt idx="50">
                  <c:v>419</c:v>
                </c:pt>
                <c:pt idx="51">
                  <c:v>366</c:v>
                </c:pt>
                <c:pt idx="52">
                  <c:v>334</c:v>
                </c:pt>
                <c:pt idx="53">
                  <c:v>283</c:v>
                </c:pt>
                <c:pt idx="54">
                  <c:v>299</c:v>
                </c:pt>
                <c:pt idx="55">
                  <c:v>310</c:v>
                </c:pt>
                <c:pt idx="56">
                  <c:v>284</c:v>
                </c:pt>
                <c:pt idx="57">
                  <c:v>364</c:v>
                </c:pt>
                <c:pt idx="58">
                  <c:v>377</c:v>
                </c:pt>
                <c:pt idx="59">
                  <c:v>325</c:v>
                </c:pt>
                <c:pt idx="60">
                  <c:v>419</c:v>
                </c:pt>
                <c:pt idx="61">
                  <c:v>298</c:v>
                </c:pt>
                <c:pt idx="62">
                  <c:v>391</c:v>
                </c:pt>
                <c:pt idx="63">
                  <c:v>352</c:v>
                </c:pt>
                <c:pt idx="64">
                  <c:v>405</c:v>
                </c:pt>
                <c:pt idx="65">
                  <c:v>346</c:v>
                </c:pt>
                <c:pt idx="66">
                  <c:v>319</c:v>
                </c:pt>
                <c:pt idx="67">
                  <c:v>346</c:v>
                </c:pt>
                <c:pt idx="68">
                  <c:v>283</c:v>
                </c:pt>
                <c:pt idx="69">
                  <c:v>260</c:v>
                </c:pt>
                <c:pt idx="70">
                  <c:v>270</c:v>
                </c:pt>
                <c:pt idx="71">
                  <c:v>223</c:v>
                </c:pt>
                <c:pt idx="72">
                  <c:v>288</c:v>
                </c:pt>
                <c:pt idx="73">
                  <c:v>247</c:v>
                </c:pt>
                <c:pt idx="74">
                  <c:v>237</c:v>
                </c:pt>
                <c:pt idx="75">
                  <c:v>267</c:v>
                </c:pt>
                <c:pt idx="76">
                  <c:v>236</c:v>
                </c:pt>
                <c:pt idx="77">
                  <c:v>220</c:v>
                </c:pt>
                <c:pt idx="78">
                  <c:v>183</c:v>
                </c:pt>
                <c:pt idx="79">
                  <c:v>237</c:v>
                </c:pt>
                <c:pt idx="80">
                  <c:v>220</c:v>
                </c:pt>
                <c:pt idx="81">
                  <c:v>240</c:v>
                </c:pt>
                <c:pt idx="82">
                  <c:v>265</c:v>
                </c:pt>
                <c:pt idx="83">
                  <c:v>202</c:v>
                </c:pt>
                <c:pt idx="84">
                  <c:v>217</c:v>
                </c:pt>
                <c:pt idx="85">
                  <c:v>162</c:v>
                </c:pt>
                <c:pt idx="86">
                  <c:v>207</c:v>
                </c:pt>
                <c:pt idx="87">
                  <c:v>169</c:v>
                </c:pt>
                <c:pt idx="88">
                  <c:v>158</c:v>
                </c:pt>
                <c:pt idx="89">
                  <c:v>150</c:v>
                </c:pt>
                <c:pt idx="90">
                  <c:v>144</c:v>
                </c:pt>
                <c:pt idx="91">
                  <c:v>134</c:v>
                </c:pt>
                <c:pt idx="92">
                  <c:v>106</c:v>
                </c:pt>
                <c:pt idx="93">
                  <c:v>120</c:v>
                </c:pt>
                <c:pt idx="94">
                  <c:v>144</c:v>
                </c:pt>
                <c:pt idx="95">
                  <c:v>167</c:v>
                </c:pt>
                <c:pt idx="96">
                  <c:v>133</c:v>
                </c:pt>
                <c:pt idx="97">
                  <c:v>96</c:v>
                </c:pt>
                <c:pt idx="98">
                  <c:v>135</c:v>
                </c:pt>
                <c:pt idx="99">
                  <c:v>101</c:v>
                </c:pt>
                <c:pt idx="100">
                  <c:v>104</c:v>
                </c:pt>
                <c:pt idx="101">
                  <c:v>101</c:v>
                </c:pt>
                <c:pt idx="102">
                  <c:v>97</c:v>
                </c:pt>
                <c:pt idx="103">
                  <c:v>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m/d/yyyy" sourceLinked="1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9D3066-3F9E-7507-A82F-F90BCB3F5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53957D5-0BDA-51DF-583D-5C9B92F11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CBFD57A-F1C5-E83D-6994-61615151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029B45-B938-BC91-DEA6-31988BDB0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9C2CB1-9F34-7292-9FAC-D1522A4C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2363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08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EC914C-3EFF-FC05-C5D4-D338B73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9140809-F34E-A8C6-5D6F-B06FBB879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1597F03-AA90-1517-F4C5-10CD3432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4E40038-BB1E-5A52-F407-D8C946C7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EE438-352C-D242-180C-924AF861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399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E03817-2A93-FED3-FBDB-244CF85F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88ED-75BC-0121-376D-5A3156FDF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5CDAD63-6655-BE50-0BF2-C7E9BCC77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612F97F-AC7D-1CC2-FECC-A8AB3817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0B73069-7046-BFD7-42A1-A34F11A7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A65674-A0E6-87F0-365A-A5E3BFC7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074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313B9C-F8AD-859F-E1EB-A05D47D9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1C5EE98-2342-9422-2E20-B66E54842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17E98A2-CF8A-3D91-D593-FE5EA52B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C9D4037-DEF4-C410-AB67-0DF9860BD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3ED75DF-E629-FAE6-57CB-621947130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6EEE76A-F576-EE75-073C-0395AF0F6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5CBA82FD-645F-7F4C-B01D-09097334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81617355-7BF2-428A-3BCE-95BABBB9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8646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09FE18-0AE9-7353-49BF-A33AB1E6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894EE45-BE5D-2EC2-871B-F380B772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D5EF9C5-CB98-6ACD-ED22-B016DB1C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90C3667-2BEB-9CC1-6881-1E0B3F11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3597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FD3E4AFA-9D77-ECD2-3537-12712237D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25A8279-982E-2DEB-48C4-31346B241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1C08BCF-AC92-55DE-F2F0-11494317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26010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DAC369-5338-3B1B-F146-2A8E6A938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D4C74-DF6C-153A-26B1-74788DEE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D88DD2-39C9-E478-21A7-750DEB6C2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2B2F165-82F3-8DF9-B941-12FB976A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5428AA0-D2A3-75DF-BC05-640CF235B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900F070-C41B-84CF-22B3-B7B93832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526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F58B93-0757-98BD-CF28-F4085C4C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BD4A296-459A-9B19-E7F6-5B64707F0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BF1E3F-4369-7633-ABF3-9DCC5DAB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C1FD90B-6427-6B84-8D86-4065C195F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CB3725F-0963-468C-3496-C6507191B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CAD953-3D47-9575-BB09-2DCFA3A83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9175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4882DE-D6C2-ADAA-5CC4-9C86E558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F2EAB83-76D1-C014-BDE4-459C3BEA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4F553C6-CE96-31E2-9D0B-87F080421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E984E3A-F428-9721-57D4-4DA6A60F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3202D7-522C-85FA-AF9E-E3EECD96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571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432D806-DFEC-1939-C6F7-E41DAFDFB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D926729-E8F8-36B4-561D-2BCAA84B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8D9FD4A-C811-CC77-4EAE-26EF19E6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F210D4-8811-A5CC-BFF8-ABF352F91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B9B824F-4746-C760-83D5-28C515466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327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70AEF985-C006-A2C8-FE5C-9336877C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6A447A2-73DA-7AFC-6B1A-DA7A5A6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7F7173B-C4EA-8C34-A7C1-AA1F082E1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EE27-536F-479E-B304-98213E6B58CC}" type="datetimeFigureOut">
              <a:rPr lang="pl-PL" smtClean="0"/>
              <a:t>25.09.2026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C21AE16-4107-19CD-FC61-FC35B7E57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F53CDD-E309-7B6A-BF3C-C65B27CDF4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1C49296C-602D-8351-3C9D-7E5AD22125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716883" y="6140211"/>
            <a:ext cx="636917" cy="58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6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l.wikipedia.org/wiki/El%C5%BCbieta_II" TargetMode="External"/><Relationship Id="rId2" Type="http://schemas.openxmlformats.org/officeDocument/2006/relationships/hyperlink" Target="https://pageviews.wmcloud.org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2A08C688-2254-4D63-9CD5-1A55F8EC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1866796"/>
            <a:ext cx="5181600" cy="245376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 mln</a:t>
            </a:r>
          </a:p>
          <a:p>
            <a:pPr marL="0" indent="0" algn="ctr">
              <a:buNone/>
            </a:pPr>
            <a:r>
              <a:rPr lang="pl-PL" sz="1600" dirty="0"/>
              <a:t>Suma stworzonych artykułów przez polską Wikipedię przez ostatnie 25 lat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1EC44DC-1882-24AB-7621-D4D838414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66796"/>
            <a:ext cx="5181600" cy="245376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27 mld</a:t>
            </a:r>
          </a:p>
          <a:p>
            <a:pPr marL="0" indent="0" algn="ctr">
              <a:buNone/>
            </a:pPr>
            <a:r>
              <a:rPr lang="pl-PL" sz="1600" dirty="0"/>
              <a:t>Suma wyświetleń przez użytkowników </a:t>
            </a:r>
            <a:br>
              <a:rPr lang="pl-PL" sz="1600" dirty="0"/>
            </a:br>
            <a:r>
              <a:rPr lang="pl-PL" sz="1600" dirty="0"/>
              <a:t>w ostatnich 8 latach[1]*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BB49EA53-37D8-077D-998A-E3927B7AA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92" y="458158"/>
            <a:ext cx="7976616" cy="1217315"/>
          </a:xfrm>
          <a:prstGeom prst="rect">
            <a:avLst/>
          </a:prstGeom>
        </p:spPr>
      </p:pic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CE723375-0C54-A455-129B-05381629C29E}"/>
              </a:ext>
            </a:extLst>
          </p:cNvPr>
          <p:cNvSpPr txBox="1">
            <a:spLocks/>
          </p:cNvSpPr>
          <p:nvPr/>
        </p:nvSpPr>
        <p:spPr>
          <a:xfrm>
            <a:off x="838200" y="4320563"/>
            <a:ext cx="10515600" cy="13000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l-PL" sz="2400" dirty="0"/>
              <a:t>Od 25 lat Polska Wikipedia dostarcza nam wiedzy o nas </a:t>
            </a:r>
            <a:br>
              <a:rPr lang="pl-PL" sz="2400" dirty="0"/>
            </a:br>
            <a:r>
              <a:rPr lang="pl-PL" sz="2400" dirty="0"/>
              <a:t>i otaczającym nas świecie. Dowiedzmy się więcej o tym co nas interesuje, kiedy po to sięgamy i dlaczego.</a:t>
            </a: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AC538181-EDAA-9D86-BC1B-79F880235718}"/>
              </a:ext>
            </a:extLst>
          </p:cNvPr>
          <p:cNvSpPr txBox="1"/>
          <p:nvPr/>
        </p:nvSpPr>
        <p:spPr>
          <a:xfrm>
            <a:off x="953310" y="6035666"/>
            <a:ext cx="9426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 * Dostępne są dane dotyczące wyświetleń od 2008 r, natomiast dane od 2016 roku zawierają podział na ludzi i boty. W latach 2016-17 odnotowano incydenty wzmożonego ruchu botów zaklasyfikowanych jako użytkownicy, dlatego zdecydowałem się pokazać ostatnie 8 lat.</a:t>
            </a:r>
          </a:p>
        </p:txBody>
      </p:sp>
    </p:spTree>
    <p:extLst>
      <p:ext uri="{BB962C8B-B14F-4D97-AF65-F5344CB8AC3E}">
        <p14:creationId xmlns:p14="http://schemas.microsoft.com/office/powerpoint/2010/main" val="231039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B94377-C155-CDFE-9C2B-B075431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Ludzie interesują się ludźmi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C11DD809-F3DD-AF53-5429-39F7AACFF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5637000"/>
              </p:ext>
            </p:extLst>
          </p:nvPr>
        </p:nvGraphicFramePr>
        <p:xfrm>
          <a:off x="838199" y="1825627"/>
          <a:ext cx="7070387" cy="40089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pole tekstowe 7">
            <a:extLst>
              <a:ext uri="{FF2B5EF4-FFF2-40B4-BE49-F238E27FC236}">
                <a16:creationId xmlns:a16="http://schemas.microsoft.com/office/drawing/2014/main" id="{7E87780E-5B20-ACFA-6A11-7A79835FD890}"/>
              </a:ext>
            </a:extLst>
          </p:cNvPr>
          <p:cNvSpPr txBox="1"/>
          <p:nvPr/>
        </p:nvSpPr>
        <p:spPr>
          <a:xfrm>
            <a:off x="963038" y="6079788"/>
            <a:ext cx="9426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Kategoryzacja w oparciu o model językowy, który przypisał jedną z głównych kategorii Wikipedii do top 100 artykułów.</a:t>
            </a:r>
          </a:p>
        </p:txBody>
      </p:sp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8FF34AFB-BB03-C486-2D94-7FC87E58046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l-PL" sz="1800" dirty="0"/>
              <a:t>Najpopularniejszą kategorią polskiej Wikipedii są biografie, pozostałe zdecydowanie odbiegają. </a:t>
            </a:r>
          </a:p>
        </p:txBody>
      </p:sp>
    </p:spTree>
    <p:extLst>
      <p:ext uri="{BB962C8B-B14F-4D97-AF65-F5344CB8AC3E}">
        <p14:creationId xmlns:p14="http://schemas.microsoft.com/office/powerpoint/2010/main" val="4105226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ytuł 8">
            <a:extLst>
              <a:ext uri="{FF2B5EF4-FFF2-40B4-BE49-F238E27FC236}">
                <a16:creationId xmlns:a16="http://schemas.microsoft.com/office/drawing/2014/main" id="{C0DEE201-5A1F-4DAA-DD16-738368DEE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Czego szukamy najczęściej</a:t>
            </a:r>
          </a:p>
        </p:txBody>
      </p:sp>
      <p:graphicFrame>
        <p:nvGraphicFramePr>
          <p:cNvPr id="18" name="Symbol zastępczy zawartości 17">
            <a:extLst>
              <a:ext uri="{FF2B5EF4-FFF2-40B4-BE49-F238E27FC236}">
                <a16:creationId xmlns:a16="http://schemas.microsoft.com/office/drawing/2014/main" id="{1CED35B4-95D4-37AD-597F-EADF4B8D92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9108908"/>
              </p:ext>
            </p:extLst>
          </p:nvPr>
        </p:nvGraphicFramePr>
        <p:xfrm>
          <a:off x="838200" y="1825625"/>
          <a:ext cx="7731868" cy="40823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9" name="Obraz 18" descr="Mapa opisywanego kraju">
            <a:extLst>
              <a:ext uri="{FF2B5EF4-FFF2-40B4-BE49-F238E27FC236}">
                <a16:creationId xmlns:a16="http://schemas.microsoft.com/office/drawing/2014/main" id="{619B8E3E-16F0-0004-5A2C-28B6697D9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351" y="1959199"/>
            <a:ext cx="1536971" cy="1653781"/>
          </a:xfrm>
          <a:prstGeom prst="rect">
            <a:avLst/>
          </a:prstGeom>
        </p:spPr>
      </p:pic>
      <p:pic>
        <p:nvPicPr>
          <p:cNvPr id="2" name="Obraz 1" descr="Ilustracja">
            <a:extLst>
              <a:ext uri="{FF2B5EF4-FFF2-40B4-BE49-F238E27FC236}">
                <a16:creationId xmlns:a16="http://schemas.microsoft.com/office/drawing/2014/main" id="{442588CC-D45D-0187-38D5-7C1E4AE77A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2212" y="4254476"/>
            <a:ext cx="2381250" cy="1581150"/>
          </a:xfrm>
          <a:prstGeom prst="rect">
            <a:avLst/>
          </a:prstGeom>
        </p:spPr>
      </p:pic>
      <p:pic>
        <p:nvPicPr>
          <p:cNvPr id="21" name="Obraz 20" descr="Ilustracja">
            <a:extLst>
              <a:ext uri="{FF2B5EF4-FFF2-40B4-BE49-F238E27FC236}">
                <a16:creationId xmlns:a16="http://schemas.microsoft.com/office/drawing/2014/main" id="{2AA5B949-D598-B0A1-AE1D-03766D2755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3540" y="2936165"/>
            <a:ext cx="1397343" cy="186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220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460EE4-EA64-CC2B-6927-2112E572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Kiedy szukamy informacji</a:t>
            </a:r>
          </a:p>
        </p:txBody>
      </p:sp>
      <p:graphicFrame>
        <p:nvGraphicFramePr>
          <p:cNvPr id="7" name="Wykres 6">
            <a:extLst>
              <a:ext uri="{FF2B5EF4-FFF2-40B4-BE49-F238E27FC236}">
                <a16:creationId xmlns:a16="http://schemas.microsoft.com/office/drawing/2014/main" id="{F6814C3D-6579-8325-76B9-9092EF1007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80172190"/>
              </p:ext>
            </p:extLst>
          </p:nvPr>
        </p:nvGraphicFramePr>
        <p:xfrm>
          <a:off x="838200" y="1753616"/>
          <a:ext cx="7187119" cy="4260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pole tekstowe 10">
            <a:extLst>
              <a:ext uri="{FF2B5EF4-FFF2-40B4-BE49-F238E27FC236}">
                <a16:creationId xmlns:a16="http://schemas.microsoft.com/office/drawing/2014/main" id="{6408B14C-EEE3-F15A-BE30-968444DB9FBB}"/>
              </a:ext>
            </a:extLst>
          </p:cNvPr>
          <p:cNvSpPr txBox="1"/>
          <p:nvPr/>
        </p:nvSpPr>
        <p:spPr>
          <a:xfrm>
            <a:off x="8341468" y="1753616"/>
            <a:ext cx="3536004" cy="2062103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bg1"/>
                </a:solidFill>
              </a:rPr>
              <a:t>Zwiększenie ruchu na stronach Wikipedii powodują wydarzenia wywołujące różne emocje. Są to zarówno wydarzenia smutne, jak śmierć danej osoby, straszne typu wojny, pandemie i katastrofy, jak i emocje pozytywne jak sport.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B1DB5434-4B8C-EEA6-8442-37AEBEBCCCC8}"/>
              </a:ext>
            </a:extLst>
          </p:cNvPr>
          <p:cNvSpPr txBox="1"/>
          <p:nvPr/>
        </p:nvSpPr>
        <p:spPr>
          <a:xfrm>
            <a:off x="8341468" y="3961949"/>
            <a:ext cx="3536004" cy="1323439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>
                <a:solidFill>
                  <a:schemeClr val="bg1"/>
                </a:solidFill>
              </a:rPr>
              <a:t>Na wzrost wyświetleń wpływa również szum medialny – relacjonowane ważne wydarzenia, czy nowe produkcje </a:t>
            </a:r>
            <a:r>
              <a:rPr lang="pl-PL" sz="1600" dirty="0" err="1">
                <a:solidFill>
                  <a:schemeClr val="bg1"/>
                </a:solidFill>
              </a:rPr>
              <a:t>popkulutry</a:t>
            </a:r>
            <a:r>
              <a:rPr lang="pl-PL" sz="16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F2E79AD-B041-5ADB-B7D6-BE50C8AFBB59}"/>
              </a:ext>
            </a:extLst>
          </p:cNvPr>
          <p:cNvSpPr txBox="1"/>
          <p:nvPr/>
        </p:nvSpPr>
        <p:spPr>
          <a:xfrm>
            <a:off x="8341468" y="5431618"/>
            <a:ext cx="3536004" cy="5847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pl-PL" sz="1600" dirty="0"/>
              <a:t>Za każdą kategorią kryją się konkretne historie.</a:t>
            </a:r>
          </a:p>
        </p:txBody>
      </p:sp>
    </p:spTree>
    <p:extLst>
      <p:ext uri="{BB962C8B-B14F-4D97-AF65-F5344CB8AC3E}">
        <p14:creationId xmlns:p14="http://schemas.microsoft.com/office/powerpoint/2010/main" val="373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5D46-B436-0687-F0BE-76004710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1D4BB3-9918-D94B-07CC-A46844FE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Elżbieta II - wyszukiwanie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AEDA1524-37FE-05DD-A0C6-B5A1DD4D50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3CD9D0DB-9DFC-5821-4BF0-47CA446729DD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pl-PL" sz="1800" dirty="0"/>
              <a:t>Największe skoki oglądalności strony Elżbiety II wynikają ze śmierci Jej samej, jak i Jej męża Księcia Filipa. Mniejsze, acz znaczące skoki w ruchu generowane są przez wydarzenia medialne jak obchody rocznicy ślubu czy ślub Księcia </a:t>
            </a:r>
            <a:r>
              <a:rPr lang="pl-PL" sz="1800" dirty="0" err="1"/>
              <a:t>Harrego</a:t>
            </a:r>
            <a:r>
              <a:rPr lang="pl-PL" sz="1800" dirty="0"/>
              <a:t> z </a:t>
            </a:r>
            <a:r>
              <a:rPr lang="pl-PL" sz="1800" dirty="0" err="1"/>
              <a:t>Meghan</a:t>
            </a:r>
            <a:r>
              <a:rPr lang="pl-PL" sz="1800" dirty="0"/>
              <a:t> </a:t>
            </a:r>
            <a:r>
              <a:rPr lang="pl-PL" sz="1800" dirty="0" err="1"/>
              <a:t>Markle</a:t>
            </a:r>
            <a:r>
              <a:rPr lang="pl-PL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1833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4312-CD02-FC4C-F8DD-7C079AED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84AD0D-7CD0-3713-508A-FC0699E95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Sukcesy Igi Świątek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09D98903-2D8C-F765-284D-96F1B8D81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7780283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9B69F184-3F92-17F2-114A-2CE5AD94E7BB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Pięć największych szczytów wyświetleń strony Igi Świątek pochodzi z Jej wygranych turniejów wielkoszlemowych – czterech Rolanda Garrosa i Wimbledonu. Ani spadek z pierwszego miejsca klasyfikacji WTA, ani pozytywny wynik kontroli antydopingowej nie spowodowały takiego zainteresowania, jak spektakularne wygrane.</a:t>
            </a:r>
          </a:p>
        </p:txBody>
      </p:sp>
    </p:spTree>
    <p:extLst>
      <p:ext uri="{BB962C8B-B14F-4D97-AF65-F5344CB8AC3E}">
        <p14:creationId xmlns:p14="http://schemas.microsoft.com/office/powerpoint/2010/main" val="89983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FECD-C453-A5D0-4CEB-90324FAE3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77D155-CF86-1E32-3C60-1EA6CD509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 err="1"/>
              <a:t>Freddie</a:t>
            </a:r>
            <a:r>
              <a:rPr lang="pl-PL" dirty="0"/>
              <a:t> </a:t>
            </a:r>
            <a:r>
              <a:rPr lang="pl-PL" dirty="0" err="1"/>
              <a:t>Mercury</a:t>
            </a:r>
            <a:r>
              <a:rPr lang="pl-PL" dirty="0"/>
              <a:t> – film i rocznica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FA18856F-AC8A-DDEF-2221-BFA52CE49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0987200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44FA4A5A-2D15-6902-72CC-6462164612AC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Strona </a:t>
            </a:r>
            <a:r>
              <a:rPr lang="pl-PL" sz="1800" dirty="0" err="1"/>
              <a:t>Frediego</a:t>
            </a:r>
            <a:r>
              <a:rPr lang="pl-PL" sz="1800" dirty="0"/>
              <a:t> </a:t>
            </a:r>
            <a:r>
              <a:rPr lang="pl-PL" sz="1800" dirty="0" err="1"/>
              <a:t>Mercury</a:t>
            </a:r>
            <a:r>
              <a:rPr lang="pl-PL" sz="1800" dirty="0"/>
              <a:t> jest jednym z przykładów ruchu powodowanego przez premierę filmu czy serialu o danym temacie.</a:t>
            </a:r>
          </a:p>
          <a:p>
            <a:pPr marL="0" indent="0" algn="ctr">
              <a:buNone/>
            </a:pPr>
            <a:r>
              <a:rPr lang="pl-PL" sz="1800" dirty="0"/>
              <a:t>Drugim powodem zwiększonego ruchu są wydarzenia medialne – w tym przypadku szeroko komentowana 30-ta rocznica śmierci artysty. </a:t>
            </a:r>
          </a:p>
        </p:txBody>
      </p:sp>
    </p:spTree>
    <p:extLst>
      <p:ext uri="{BB962C8B-B14F-4D97-AF65-F5344CB8AC3E}">
        <p14:creationId xmlns:p14="http://schemas.microsoft.com/office/powerpoint/2010/main" val="1523644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B22C4A2-1B90-4E31-AB1C-E2D45B1E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Piłka nożna a znajomość geografii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4B65AB7F-448F-7A38-A170-C9008F7743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4436697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2FF7C437-CEDE-316F-788D-27733231305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Wiele osób odkryło kraje takie jak Republika Zielonego Przylądka czy Curaçao dzięki ich pierwszemu udziałowi w Mistrzostwach Świata w Piłce Nożnej.</a:t>
            </a:r>
          </a:p>
        </p:txBody>
      </p:sp>
    </p:spTree>
    <p:extLst>
      <p:ext uri="{BB962C8B-B14F-4D97-AF65-F5344CB8AC3E}">
        <p14:creationId xmlns:p14="http://schemas.microsoft.com/office/powerpoint/2010/main" val="408702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06FA26-7517-0D14-088B-3B6593165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Dlaczego otwieramy Wikipedię?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912FD5-44F1-B5A4-DB1C-68AEC4C7D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Analiza powyższych przykładów pokazuje, że Wikipedia nie jest tylko encyklopedią. </a:t>
            </a:r>
          </a:p>
          <a:p>
            <a:pPr marL="0" indent="0">
              <a:buNone/>
            </a:pPr>
            <a:r>
              <a:rPr lang="pl-PL" dirty="0"/>
              <a:t>Jest miejscem do którego udajemy się, by zrozumieć świat wokół nas. By zgłębić wydarzenia wywołujące smutek, strach, ciekawość czy ekscytację.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b="1" dirty="0"/>
              <a:t>Wikipedia odpowiada na nasze emocje. Od 25 lat.</a:t>
            </a:r>
          </a:p>
        </p:txBody>
      </p:sp>
    </p:spTree>
    <p:extLst>
      <p:ext uri="{BB962C8B-B14F-4D97-AF65-F5344CB8AC3E}">
        <p14:creationId xmlns:p14="http://schemas.microsoft.com/office/powerpoint/2010/main" val="139238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7687F5BB-8301-DFD8-9EDB-3655C2257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94" y="2572213"/>
            <a:ext cx="11228412" cy="171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1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61581-DBC8-41B7-1C77-09DC67F2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153441-6F99-2CEC-8830-0CF93CCCA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pl-PL" sz="1800" dirty="0"/>
              <a:t>[1] </a:t>
            </a:r>
            <a:r>
              <a:rPr lang="pl-PL" sz="1800" dirty="0" err="1"/>
              <a:t>Wikistats</a:t>
            </a:r>
            <a:r>
              <a:rPr lang="pl-PL" sz="1800" dirty="0"/>
              <a:t> 2 / </a:t>
            </a:r>
            <a:r>
              <a:rPr lang="pl-PL" sz="1800" dirty="0" err="1"/>
              <a:t>Wikimedia</a:t>
            </a:r>
            <a:r>
              <a:rPr lang="pl-PL" sz="1800" dirty="0"/>
              <a:t> Analytics API (AQS) | CC0 1.0 </a:t>
            </a:r>
          </a:p>
          <a:p>
            <a:pPr>
              <a:spcAft>
                <a:spcPts val="600"/>
              </a:spcAft>
            </a:pPr>
            <a:r>
              <a:rPr lang="pl-PL" sz="1800" dirty="0"/>
              <a:t>[2] </a:t>
            </a:r>
            <a:r>
              <a:rPr lang="pl-PL" sz="1800" dirty="0">
                <a:hlinkClick r:id="rId2"/>
              </a:rPr>
              <a:t>https://pageviews.wmcloud.org/</a:t>
            </a:r>
            <a:r>
              <a:rPr lang="pl-PL" sz="1800" dirty="0"/>
              <a:t>  </a:t>
            </a:r>
          </a:p>
          <a:p>
            <a:pPr>
              <a:spcAft>
                <a:spcPts val="600"/>
              </a:spcAft>
            </a:pPr>
            <a:r>
              <a:rPr lang="pl-PL" sz="1800" dirty="0"/>
              <a:t>[3] </a:t>
            </a:r>
            <a:r>
              <a:rPr lang="pl-PL" sz="1800" dirty="0">
                <a:hlinkClick r:id="rId3"/>
              </a:rPr>
              <a:t>https://pl.wikipedia.org/wiki/El%C5%BCbieta_II</a:t>
            </a:r>
            <a:r>
              <a:rPr lang="pl-PL" sz="1800" dirty="0"/>
              <a:t> </a:t>
            </a:r>
          </a:p>
          <a:p>
            <a:pPr>
              <a:spcAft>
                <a:spcPts val="600"/>
              </a:spcAft>
            </a:pPr>
            <a:r>
              <a:rPr lang="pl-PL" sz="1800" dirty="0"/>
              <a:t>[4] Kategorie dopasowane przez model językowy, a następnie ręcznie zweryfikowane, „Śmierć osoby” może dotyczyć osoby z artykułu lub osoby powiązanej. Suma zwiększonych wyświetleń została obliczona jako różnica między liczbą wyświetleń w danym miesiącu danego artykułu, a średnią jego wyświetleń. Dane na podstawie liczby wyświetleń top 1000 artykułów każdego miesiąca [5]. Na potrzeby wykresu zsumowano 200 </a:t>
            </a:r>
          </a:p>
          <a:p>
            <a:pPr>
              <a:spcAft>
                <a:spcPts val="600"/>
              </a:spcAft>
            </a:pPr>
            <a:r>
              <a:rPr lang="pl-PL" sz="1800" dirty="0"/>
              <a:t>[5] Zrzuty „</a:t>
            </a:r>
            <a:r>
              <a:rPr lang="pl-PL" sz="1800" dirty="0" err="1"/>
              <a:t>pageview_complete</a:t>
            </a:r>
            <a:r>
              <a:rPr lang="pl-PL" sz="1800" dirty="0"/>
              <a:t>” (dumps.wikimedia.org), uzupełnione o metadane stron polskojęzycznej Wikipedii | CC0 1.0 |</a:t>
            </a:r>
          </a:p>
          <a:p>
            <a:pPr>
              <a:spcAft>
                <a:spcPts val="600"/>
              </a:spcAft>
            </a:pPr>
            <a:r>
              <a:rPr lang="pl-PL" sz="1800" dirty="0"/>
              <a:t>[6] Kategoryzacja w oparciu o model językowy, który przypisał jedną z głównych kategorii Wikipedii do top 100 artykułów i zweryfikowane ręcznie. Najpopularniejszą kategorią polskiej Wikipedii są biografie, pozostałe zdecydowanie odbiegają. Nie sumuję kategorii geografia z Polską, gdyż zawiera ona cały przekrój kategorii.</a:t>
            </a:r>
          </a:p>
          <a:p>
            <a:pPr>
              <a:spcAft>
                <a:spcPts val="600"/>
              </a:spcAft>
            </a:pPr>
            <a:endParaRPr lang="pl-PL" sz="1800" dirty="0"/>
          </a:p>
          <a:p>
            <a:pPr>
              <a:spcAft>
                <a:spcPts val="600"/>
              </a:spcAft>
            </a:pPr>
            <a:endParaRPr lang="pl-PL" sz="1800" dirty="0"/>
          </a:p>
        </p:txBody>
      </p:sp>
    </p:spTree>
    <p:extLst>
      <p:ext uri="{BB962C8B-B14F-4D97-AF65-F5344CB8AC3E}">
        <p14:creationId xmlns:p14="http://schemas.microsoft.com/office/powerpoint/2010/main" val="356435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82BA-BDE6-C715-5C7A-A641072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D42B59-DCF6-4896-2960-FC277C0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Slajd po napisach: A to ki czort?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B5B9341C-F4A6-EF18-93EF-81A1EE233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636911"/>
              </p:ext>
            </p:extLst>
          </p:nvPr>
        </p:nvGraphicFramePr>
        <p:xfrm>
          <a:off x="838200" y="1825625"/>
          <a:ext cx="7157936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53B82AA8-5108-9A9F-A76E-ACFC5CFEEE10}"/>
              </a:ext>
            </a:extLst>
          </p:cNvPr>
          <p:cNvSpPr txBox="1">
            <a:spLocks/>
          </p:cNvSpPr>
          <p:nvPr/>
        </p:nvSpPr>
        <p:spPr>
          <a:xfrm>
            <a:off x="8180961" y="1825626"/>
            <a:ext cx="3453319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l-PL" sz="1800" dirty="0"/>
              <a:t>Mediana miesięcznych wyświetleń strony Przedłużanie życia wynosi </a:t>
            </a:r>
            <a:r>
              <a:rPr lang="pl-PL" sz="1800" b="1" u="sng" dirty="0"/>
              <a:t>455</a:t>
            </a:r>
            <a:r>
              <a:rPr lang="pl-PL" sz="1800" dirty="0"/>
              <a:t>. </a:t>
            </a:r>
          </a:p>
          <a:p>
            <a:pPr marL="0" indent="0" algn="ctr">
              <a:buNone/>
            </a:pPr>
            <a:r>
              <a:rPr lang="pl-PL" sz="1800" dirty="0"/>
              <a:t>Jak to się stało, że w lipcu 2019 osiągnęła oglądalność większą niż strona Królowej Elżbiety w miesiącu Jej śmierci?</a:t>
            </a:r>
          </a:p>
          <a:p>
            <a:pPr marL="0" indent="0" algn="ctr">
              <a:buNone/>
            </a:pPr>
            <a:r>
              <a:rPr lang="pl-PL" sz="1800" dirty="0"/>
              <a:t>Cholera wie</a:t>
            </a:r>
          </a:p>
        </p:txBody>
      </p:sp>
    </p:spTree>
    <p:extLst>
      <p:ext uri="{BB962C8B-B14F-4D97-AF65-F5344CB8AC3E}">
        <p14:creationId xmlns:p14="http://schemas.microsoft.com/office/powerpoint/2010/main" val="428758800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Niestandardowy 2">
      <a:dk1>
        <a:srgbClr val="000000"/>
      </a:dk1>
      <a:lt1>
        <a:sysClr val="window" lastClr="FFFFFF"/>
      </a:lt1>
      <a:dk2>
        <a:srgbClr val="0E2841"/>
      </a:dk2>
      <a:lt2>
        <a:srgbClr val="E8E8E8"/>
      </a:lt2>
      <a:accent1>
        <a:srgbClr val="049DFF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Niestandardowy 2">
      <a:majorFont>
        <a:latin typeface="Montserrat SemiBold"/>
        <a:ea typeface=""/>
        <a:cs typeface=""/>
      </a:majorFont>
      <a:minorFont>
        <a:latin typeface="Montserrat Medium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1099</TotalTime>
  <Words>773</Words>
  <Application>Microsoft Office PowerPoint</Application>
  <PresentationFormat>Panoramiczny</PresentationFormat>
  <Paragraphs>53</Paragraphs>
  <Slides>12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6" baseType="lpstr">
      <vt:lpstr>Arial</vt:lpstr>
      <vt:lpstr>Montserrat Medium</vt:lpstr>
      <vt:lpstr>Montserrat SemiBold</vt:lpstr>
      <vt:lpstr>Motyw pakietu Office</vt:lpstr>
      <vt:lpstr>Prezentacja programu PowerPoint</vt:lpstr>
      <vt:lpstr>Ludzie interesują się ludźmi</vt:lpstr>
      <vt:lpstr>Czego szukamy najczęściej</vt:lpstr>
      <vt:lpstr>Kiedy szukamy informacji</vt:lpstr>
      <vt:lpstr>Elżbieta II - wyszukiwanie</vt:lpstr>
      <vt:lpstr>Sukcesy Igi Świątek</vt:lpstr>
      <vt:lpstr>Freddie Mercury – film i rocznica</vt:lpstr>
      <vt:lpstr>Piłka nożna a znajomość geografii</vt:lpstr>
      <vt:lpstr>Dlaczego otwieramy Wikipedię?</vt:lpstr>
      <vt:lpstr>Prezentacja programu PowerPoint</vt:lpstr>
      <vt:lpstr>Źródła</vt:lpstr>
      <vt:lpstr>Slajd po napisach: A to ki czort?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Marcin Kotlarek</dc:creator>
  <cp:lastModifiedBy>Marcin Kotlarek</cp:lastModifiedBy>
  <cp:revision>13</cp:revision>
  <dcterms:created xsi:type="dcterms:W3CDTF">2026-09-20T19:16:26Z</dcterms:created>
  <dcterms:modified xsi:type="dcterms:W3CDTF">2026-09-25T07:41:36Z</dcterms:modified>
</cp:coreProperties>
</file>