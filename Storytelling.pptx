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kcja domyślna" id="{E1507DD5-B280-4770-AC0C-A345241EDAA4}">
          <p14:sldIdLst>
            <p14:sldId id="256"/>
            <p14:sldId id="258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2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pl-PL"/>
              <a:t>Suma wyświetleń w latach 2016 - 2026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l-PL"/>
        </a:p>
      </c:txPr>
    </c:title>
    <c:autoTitleDeleted val="0"/>
    <c:plotArea>
      <c:layout>
        <c:manualLayout>
          <c:layoutTarget val="inner"/>
          <c:xMode val="edge"/>
          <c:yMode val="edge"/>
          <c:x val="0.26986990756590207"/>
          <c:y val="0.13046331955826002"/>
          <c:w val="0.67485840085206739"/>
          <c:h val="0.5394680900449471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Arkusz1!$B$1</c:f>
              <c:strCache>
                <c:ptCount val="1"/>
                <c:pt idx="0">
                  <c:v>Suma elementów views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951-4C40-909C-701ED36B4C0F}"/>
              </c:ext>
            </c:extLst>
          </c:dPt>
          <c:cat>
            <c:strRef>
              <c:f>Arkusz1!$A$2:$A$10</c:f>
              <c:strCache>
                <c:ptCount val="9"/>
                <c:pt idx="0">
                  <c:v>Technika</c:v>
                </c:pt>
                <c:pt idx="1">
                  <c:v>Nauki społeczne i humanistyczne</c:v>
                </c:pt>
                <c:pt idx="2">
                  <c:v>Kultura i sztuka</c:v>
                </c:pt>
                <c:pt idx="3">
                  <c:v>Religioznawstwo</c:v>
                </c:pt>
                <c:pt idx="4">
                  <c:v>Polska</c:v>
                </c:pt>
                <c:pt idx="5">
                  <c:v>Społeczeństwo</c:v>
                </c:pt>
                <c:pt idx="6">
                  <c:v>Historia</c:v>
                </c:pt>
                <c:pt idx="7">
                  <c:v>Geografia</c:v>
                </c:pt>
                <c:pt idx="8">
                  <c:v>Biografie</c:v>
                </c:pt>
              </c:strCache>
            </c:strRef>
          </c:cat>
          <c:val>
            <c:numRef>
              <c:f>Arkusz1!$B$2:$B$10</c:f>
              <c:numCache>
                <c:formatCode>General</c:formatCode>
                <c:ptCount val="9"/>
                <c:pt idx="0">
                  <c:v>5227025</c:v>
                </c:pt>
                <c:pt idx="1">
                  <c:v>9794436</c:v>
                </c:pt>
                <c:pt idx="2">
                  <c:v>18048283</c:v>
                </c:pt>
                <c:pt idx="3">
                  <c:v>21628578</c:v>
                </c:pt>
                <c:pt idx="4">
                  <c:v>24445135</c:v>
                </c:pt>
                <c:pt idx="5">
                  <c:v>49891213</c:v>
                </c:pt>
                <c:pt idx="6">
                  <c:v>58994664</c:v>
                </c:pt>
                <c:pt idx="7">
                  <c:v>157122431</c:v>
                </c:pt>
                <c:pt idx="8">
                  <c:v>208644239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51-4C40-909C-701ED36B4C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416327088"/>
        <c:axId val="942990160"/>
      </c:barChart>
      <c:catAx>
        <c:axId val="141632708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942990160"/>
        <c:crosses val="autoZero"/>
        <c:auto val="1"/>
        <c:lblAlgn val="ctr"/>
        <c:lblOffset val="100"/>
        <c:noMultiLvlLbl val="0"/>
      </c:catAx>
      <c:valAx>
        <c:axId val="94299016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416327088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l-PL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pl-P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pl-PL"/>
              <a:t>Suma wyświetleń w latach 2016 - 2026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l-P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Arkusz1!$B$1</c:f>
              <c:strCache>
                <c:ptCount val="1"/>
                <c:pt idx="0">
                  <c:v>Wyświetlenia łączne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7093-46BE-9319-5B9CB374ED5E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7093-46BE-9319-5B9CB374ED5E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7093-46BE-9319-5B9CB374ED5E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7093-46BE-9319-5B9CB374ED5E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093-46BE-9319-5B9CB374ED5E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7093-46BE-9319-5B9CB374ED5E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093-46BE-9319-5B9CB374ED5E}"/>
              </c:ext>
            </c:extLst>
          </c:dPt>
          <c:cat>
            <c:strRef>
              <c:f>Arkusz1!$A$2:$A$11</c:f>
              <c:strCache>
                <c:ptCount val="10"/>
                <c:pt idx="0">
                  <c:v>Ukraina</c:v>
                </c:pt>
                <c:pt idx="1">
                  <c:v>YouTube</c:v>
                </c:pt>
                <c:pt idx="2">
                  <c:v>Jan Paweł II</c:v>
                </c:pt>
                <c:pt idx="3">
                  <c:v>Facebook</c:v>
                </c:pt>
                <c:pt idx="4">
                  <c:v>Stany Zjednoczone</c:v>
                </c:pt>
                <c:pt idx="5">
                  <c:v>Warszawa</c:v>
                </c:pt>
                <c:pt idx="6">
                  <c:v>Robert Lewandowski</c:v>
                </c:pt>
                <c:pt idx="7">
                  <c:v>Elżbieta II</c:v>
                </c:pt>
                <c:pt idx="8">
                  <c:v>Biblia</c:v>
                </c:pt>
                <c:pt idx="9">
                  <c:v>Polska</c:v>
                </c:pt>
              </c:strCache>
            </c:strRef>
          </c:cat>
          <c:val>
            <c:numRef>
              <c:f>Arkusz1!$B$2:$B$11</c:f>
              <c:numCache>
                <c:formatCode>General</c:formatCode>
                <c:ptCount val="10"/>
                <c:pt idx="0">
                  <c:v>8862749</c:v>
                </c:pt>
                <c:pt idx="1">
                  <c:v>9012484</c:v>
                </c:pt>
                <c:pt idx="2">
                  <c:v>10314604</c:v>
                </c:pt>
                <c:pt idx="3">
                  <c:v>10388056</c:v>
                </c:pt>
                <c:pt idx="4">
                  <c:v>10623004</c:v>
                </c:pt>
                <c:pt idx="5">
                  <c:v>10925879</c:v>
                </c:pt>
                <c:pt idx="6">
                  <c:v>11162945</c:v>
                </c:pt>
                <c:pt idx="7">
                  <c:v>14110505</c:v>
                </c:pt>
                <c:pt idx="8">
                  <c:v>21628578</c:v>
                </c:pt>
                <c:pt idx="9">
                  <c:v>24445135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93-46BE-9319-5B9CB374ED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154764064"/>
        <c:axId val="1813308464"/>
      </c:barChart>
      <c:catAx>
        <c:axId val="11547640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813308464"/>
        <c:crosses val="autoZero"/>
        <c:auto val="1"/>
        <c:lblAlgn val="ctr"/>
        <c:lblOffset val="100"/>
        <c:noMultiLvlLbl val="0"/>
      </c:catAx>
      <c:valAx>
        <c:axId val="181330846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154764064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l-PL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pl-P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C9D3066-3F9E-7507-A82F-F90BCB3F5A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53957D5-0BDA-51DF-583D-5C9B92F110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CBFD57A-F1C5-E83D-6994-616151519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23.09.2026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7029B45-B938-BC91-DEA6-31988BDB0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D9C2CB1-9F34-7292-9FAC-D1522A4CB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42363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74624C3-F21A-D57C-4779-71E4C7A0F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96DF078-20D2-95CF-5E14-A94DDEECB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6982C61-7CAE-31F3-18B7-2DFB504BB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23.09.2026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FAC59E4-A4C2-4C9E-C116-F32B86275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8231EC9-AF99-43AE-4BF9-EFDF0851A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80086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1EC914C-3EFF-FC05-C5D4-D338B73FB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9140809-F34E-A8C6-5D6F-B06FBB879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1597F03-AA90-1517-F4C5-10CD3432E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23.09.2026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4E40038-BB1E-5A52-F407-D8C946C70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AFEE438-352C-D242-180C-924AF8610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24399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AE03817-2A93-FED3-FBDB-244CF85F2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F3A88ED-75BC-0121-376D-5A3156FDF0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25CDAD63-6655-BE50-0BF2-C7E9BCC77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612F97F-AC7D-1CC2-FECC-A8AB38175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23.09.2026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0B73069-7046-BFD7-42A1-A34F11A74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6DA65674-A0E6-87F0-365A-A5E3BFC7C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24074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9313B9C-F8AD-859F-E1EB-A05D47D94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1C5EE98-2342-9422-2E20-B66E54842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B17E98A2-CF8A-3D91-D593-FE5EA52B8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1C9D4037-DEF4-C410-AB67-0DF9860BD2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63ED75DF-E629-FAE6-57CB-621947130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56EEE76A-F576-EE75-073C-0395AF0F6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23.09.2026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5CBA82FD-645F-7F4C-B01D-090973348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81617355-7BF2-428A-3BCE-95BABBB9C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98646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809FE18-0AE9-7353-49BF-A33AB1E63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E894EE45-BE5D-2EC2-871B-F380B772A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23.09.2026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5D5EF9C5-CB98-6ACD-ED22-B016DB1C9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790C3667-2BEB-9CC1-6881-1E0B3F115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35974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FD3E4AFA-9D77-ECD2-3537-12712237D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23.09.2026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125A8279-982E-2DEB-48C4-31346B241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A1C08BCF-AC92-55DE-F2F0-11494317E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26010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DAC369-5338-3B1B-F146-2A8E6A938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5DD4C74-DF6C-153A-26B1-74788DEE7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1DD88DD2-39C9-E478-21A7-750DEB6C27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2B2F165-82F3-8DF9-B941-12FB976A9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23.09.2026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75428AA0-D2A3-75DF-BC05-640CF235B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900F070-C41B-84CF-22B3-B7B938329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46526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9F58B93-0757-98BD-CF28-F4085C4CB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DBD4A296-459A-9B19-E7F6-5B64707F0B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B3BF1E3F-4369-7633-ABF3-9DCC5DAB9C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0C1FD90B-6427-6B84-8D86-4065C195F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23.09.2026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CB3725F-0963-468C-3496-C6507191B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CCAD953-3D47-9575-BB09-2DCFA3A83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49175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74882DE-D6C2-ADAA-5CC4-9C86E558E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8F2EAB83-76D1-C014-BDE4-459C3BEA27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4F553C6-CE96-31E2-9D0B-87F080421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23.09.2026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E984E3A-F428-9721-57D4-4DA6A60FA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B3202D7-522C-85FA-AF9E-E3EECD96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95716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C432D806-DFEC-1939-C6F7-E41DAFDFBA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ED926729-E8F8-36B4-561D-2BCAA84B76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8D9FD4A-C811-CC77-4EAE-26EF19E68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23.09.2026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BF210D4-8811-A5CC-BFF8-ABF352F91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B9B824F-4746-C760-83D5-28C515466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43279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70AEF985-C006-A2C8-FE5C-9336877CF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6A447A2-73DA-7AFC-6B1A-DA7A5A62E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7F7173B-C4EA-8C34-A7C1-AA1F082E1C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5FEE27-536F-479E-B304-98213E6B58CC}" type="datetimeFigureOut">
              <a:rPr lang="pl-PL" smtClean="0"/>
              <a:t>23.09.2026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C21AE16-4107-19CD-FC61-FC35B7E57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7F53CDD-E309-7B6A-BF3C-C65B27CDF4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  <p:pic>
        <p:nvPicPr>
          <p:cNvPr id="8" name="Grafika 7">
            <a:extLst>
              <a:ext uri="{FF2B5EF4-FFF2-40B4-BE49-F238E27FC236}">
                <a16:creationId xmlns:a16="http://schemas.microsoft.com/office/drawing/2014/main" id="{1C49296C-602D-8351-3C9D-7E5AD221257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716883" y="6140211"/>
            <a:ext cx="636917" cy="58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269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ageviews.wmcloud.org/" TargetMode="Externa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zawartości 4">
            <a:extLst>
              <a:ext uri="{FF2B5EF4-FFF2-40B4-BE49-F238E27FC236}">
                <a16:creationId xmlns:a16="http://schemas.microsoft.com/office/drawing/2014/main" id="{2A08C688-2254-4D63-9CD5-1A55F8ECF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401697"/>
            <a:ext cx="5181600" cy="245376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l-PL" sz="7200" dirty="0">
                <a:latin typeface="Montserrat SemiBold" pitchFamily="2" charset="-18"/>
              </a:rPr>
              <a:t>2 mln</a:t>
            </a:r>
          </a:p>
          <a:p>
            <a:pPr marL="0" indent="0" algn="ctr">
              <a:buNone/>
            </a:pPr>
            <a:r>
              <a:rPr lang="pl-PL" sz="1600" dirty="0"/>
              <a:t>Suma stworzonych artykułów przez polską Wikipedię przez ostatnie 25 lat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31EC44DC-1882-24AB-7621-D4D8384142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2401697"/>
            <a:ext cx="5181600" cy="245376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l-PL" sz="7200" dirty="0">
                <a:latin typeface="Montserrat SemiBold" pitchFamily="2" charset="-18"/>
              </a:rPr>
              <a:t>30 mld</a:t>
            </a:r>
          </a:p>
          <a:p>
            <a:pPr marL="0" indent="0" algn="ctr">
              <a:buNone/>
            </a:pPr>
            <a:r>
              <a:rPr lang="pl-PL" sz="1600" dirty="0"/>
              <a:t>Suma wyświetleń przez użytkowników </a:t>
            </a:r>
            <a:br>
              <a:rPr lang="pl-PL" sz="1600" dirty="0"/>
            </a:br>
            <a:r>
              <a:rPr lang="pl-PL" sz="1600" dirty="0"/>
              <a:t>w ostatnich 10 latach*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BB49EA53-37D8-077D-998A-E3927B7AAE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492" y="419248"/>
            <a:ext cx="7976616" cy="1217315"/>
          </a:xfrm>
          <a:prstGeom prst="rect">
            <a:avLst/>
          </a:prstGeom>
        </p:spPr>
      </p:pic>
      <p:sp>
        <p:nvSpPr>
          <p:cNvPr id="9" name="Symbol zastępczy zawartości 4">
            <a:extLst>
              <a:ext uri="{FF2B5EF4-FFF2-40B4-BE49-F238E27FC236}">
                <a16:creationId xmlns:a16="http://schemas.microsoft.com/office/drawing/2014/main" id="{CE723375-0C54-A455-129B-05381629C29E}"/>
              </a:ext>
            </a:extLst>
          </p:cNvPr>
          <p:cNvSpPr txBox="1">
            <a:spLocks/>
          </p:cNvSpPr>
          <p:nvPr/>
        </p:nvSpPr>
        <p:spPr>
          <a:xfrm>
            <a:off x="838200" y="4320563"/>
            <a:ext cx="10515600" cy="13000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pl-PL" sz="2400" dirty="0"/>
              <a:t>Od 25 lat Polska Wikipedia dostarcza nam wiedzy o nas </a:t>
            </a:r>
            <a:br>
              <a:rPr lang="pl-PL" sz="2400" dirty="0"/>
            </a:br>
            <a:r>
              <a:rPr lang="pl-PL" sz="2400" dirty="0"/>
              <a:t>i otaczającym nas świecie. Dowiedzmy się więcej o tym co nas interesuje i po co sięgamy.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AC538181-EDAA-9D86-BC1B-79F880235718}"/>
              </a:ext>
            </a:extLst>
          </p:cNvPr>
          <p:cNvSpPr txBox="1"/>
          <p:nvPr/>
        </p:nvSpPr>
        <p:spPr>
          <a:xfrm>
            <a:off x="963038" y="6079788"/>
            <a:ext cx="9426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 * Dostępne są dane dotyczące wyświetleń od 2008 r, natomiast dane od 2016 roku zawierają podział na ludzi i boty</a:t>
            </a:r>
          </a:p>
        </p:txBody>
      </p:sp>
    </p:spTree>
    <p:extLst>
      <p:ext uri="{BB962C8B-B14F-4D97-AF65-F5344CB8AC3E}">
        <p14:creationId xmlns:p14="http://schemas.microsoft.com/office/powerpoint/2010/main" val="231039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1B94377-C155-CDFE-9C2B-B07543175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Nasze ulubione kategorie</a:t>
            </a:r>
          </a:p>
        </p:txBody>
      </p:sp>
      <p:graphicFrame>
        <p:nvGraphicFramePr>
          <p:cNvPr id="6" name="Symbol zastępczy zawartości 5">
            <a:extLst>
              <a:ext uri="{FF2B5EF4-FFF2-40B4-BE49-F238E27FC236}">
                <a16:creationId xmlns:a16="http://schemas.microsoft.com/office/drawing/2014/main" id="{C11DD809-F3DD-AF53-5429-39F7AACFF9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5360011"/>
              </p:ext>
            </p:extLst>
          </p:nvPr>
        </p:nvGraphicFramePr>
        <p:xfrm>
          <a:off x="838200" y="1767258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pole tekstowe 7">
            <a:extLst>
              <a:ext uri="{FF2B5EF4-FFF2-40B4-BE49-F238E27FC236}">
                <a16:creationId xmlns:a16="http://schemas.microsoft.com/office/drawing/2014/main" id="{7E87780E-5B20-ACFA-6A11-7A79835FD890}"/>
              </a:ext>
            </a:extLst>
          </p:cNvPr>
          <p:cNvSpPr txBox="1"/>
          <p:nvPr/>
        </p:nvSpPr>
        <p:spPr>
          <a:xfrm>
            <a:off x="963038" y="6079788"/>
            <a:ext cx="9426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Kategoryzacja w oparciu o model językowy, który przypisał jedną z głównych kategorii Wikipedii do top 100 artykułów.</a:t>
            </a:r>
          </a:p>
        </p:txBody>
      </p:sp>
    </p:spTree>
    <p:extLst>
      <p:ext uri="{BB962C8B-B14F-4D97-AF65-F5344CB8AC3E}">
        <p14:creationId xmlns:p14="http://schemas.microsoft.com/office/powerpoint/2010/main" val="4105226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ytuł 8">
            <a:extLst>
              <a:ext uri="{FF2B5EF4-FFF2-40B4-BE49-F238E27FC236}">
                <a16:creationId xmlns:a16="http://schemas.microsoft.com/office/drawing/2014/main" id="{C0DEE201-5A1F-4DAA-DD16-738368DEE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Czego szukamy najczęściej</a:t>
            </a:r>
          </a:p>
        </p:txBody>
      </p:sp>
      <p:graphicFrame>
        <p:nvGraphicFramePr>
          <p:cNvPr id="18" name="Symbol zastępczy zawartości 17">
            <a:extLst>
              <a:ext uri="{FF2B5EF4-FFF2-40B4-BE49-F238E27FC236}">
                <a16:creationId xmlns:a16="http://schemas.microsoft.com/office/drawing/2014/main" id="{1CED35B4-95D4-37AD-597F-EADF4B8D92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963336"/>
              </p:ext>
            </p:extLst>
          </p:nvPr>
        </p:nvGraphicFramePr>
        <p:xfrm>
          <a:off x="838200" y="1825625"/>
          <a:ext cx="7731868" cy="40823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9" name="Obraz 18" descr="Mapa opisywanego kraju">
            <a:extLst>
              <a:ext uri="{FF2B5EF4-FFF2-40B4-BE49-F238E27FC236}">
                <a16:creationId xmlns:a16="http://schemas.microsoft.com/office/drawing/2014/main" id="{619B8E3E-16F0-0004-5A2C-28B6697D9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4740" y="1825625"/>
            <a:ext cx="1536971" cy="1653781"/>
          </a:xfrm>
          <a:prstGeom prst="rect">
            <a:avLst/>
          </a:prstGeom>
        </p:spPr>
      </p:pic>
      <p:pic>
        <p:nvPicPr>
          <p:cNvPr id="20" name="Obraz 19">
            <a:extLst>
              <a:ext uri="{FF2B5EF4-FFF2-40B4-BE49-F238E27FC236}">
                <a16:creationId xmlns:a16="http://schemas.microsoft.com/office/drawing/2014/main" id="{9BD65F04-5259-CAA7-BC6E-F8794E47DB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2740" y="3626684"/>
            <a:ext cx="1274809" cy="1742239"/>
          </a:xfrm>
          <a:prstGeom prst="rect">
            <a:avLst/>
          </a:prstGeom>
        </p:spPr>
      </p:pic>
      <p:pic>
        <p:nvPicPr>
          <p:cNvPr id="21" name="Obraz 20" descr="Ilustracja">
            <a:extLst>
              <a:ext uri="{FF2B5EF4-FFF2-40B4-BE49-F238E27FC236}">
                <a16:creationId xmlns:a16="http://schemas.microsoft.com/office/drawing/2014/main" id="{2AA5B949-D598-B0A1-AE1D-03766D2755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2095" y="4046706"/>
            <a:ext cx="1397343" cy="1861261"/>
          </a:xfrm>
          <a:prstGeom prst="rect">
            <a:avLst/>
          </a:prstGeom>
        </p:spPr>
      </p:pic>
      <p:sp>
        <p:nvSpPr>
          <p:cNvPr id="3" name="pole tekstowe 2">
            <a:extLst>
              <a:ext uri="{FF2B5EF4-FFF2-40B4-BE49-F238E27FC236}">
                <a16:creationId xmlns:a16="http://schemas.microsoft.com/office/drawing/2014/main" id="{3E3D54AA-C3D7-8023-FEC3-309D031449FB}"/>
              </a:ext>
            </a:extLst>
          </p:cNvPr>
          <p:cNvSpPr txBox="1"/>
          <p:nvPr/>
        </p:nvSpPr>
        <p:spPr>
          <a:xfrm>
            <a:off x="963038" y="6079788"/>
            <a:ext cx="9426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Na podstawie danych z </a:t>
            </a:r>
            <a:r>
              <a:rPr lang="pl-PL" sz="1400" dirty="0">
                <a:hlinkClick r:id="rId6"/>
              </a:rPr>
              <a:t>https://pageviews.wmcloud.org/</a:t>
            </a:r>
            <a:r>
              <a:rPr lang="pl-PL" sz="1400" dirty="0"/>
              <a:t> - </a:t>
            </a:r>
          </a:p>
        </p:txBody>
      </p:sp>
    </p:spTree>
    <p:extLst>
      <p:ext uri="{BB962C8B-B14F-4D97-AF65-F5344CB8AC3E}">
        <p14:creationId xmlns:p14="http://schemas.microsoft.com/office/powerpoint/2010/main" val="680220519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Niestandardowy 2">
      <a:dk1>
        <a:srgbClr val="000000"/>
      </a:dk1>
      <a:lt1>
        <a:sysClr val="window" lastClr="FFFFFF"/>
      </a:lt1>
      <a:dk2>
        <a:srgbClr val="0E2841"/>
      </a:dk2>
      <a:lt2>
        <a:srgbClr val="E8E8E8"/>
      </a:lt2>
      <a:accent1>
        <a:srgbClr val="049DFF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Niestandardowy 2">
      <a:majorFont>
        <a:latin typeface="Montserrat SemiBold"/>
        <a:ea typeface=""/>
        <a:cs typeface=""/>
      </a:majorFont>
      <a:minorFont>
        <a:latin typeface="Montserrat Medium"/>
        <a:ea typeface=""/>
        <a:cs typeface="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127</Words>
  <Application>Microsoft Office PowerPoint</Application>
  <PresentationFormat>Panoramiczny</PresentationFormat>
  <Paragraphs>12</Paragraphs>
  <Slides>3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</vt:i4>
      </vt:variant>
    </vt:vector>
  </HeadingPairs>
  <TitlesOfParts>
    <vt:vector size="7" baseType="lpstr">
      <vt:lpstr>Arial</vt:lpstr>
      <vt:lpstr>Montserrat Medium</vt:lpstr>
      <vt:lpstr>Montserrat SemiBold</vt:lpstr>
      <vt:lpstr>Motyw pakietu Office</vt:lpstr>
      <vt:lpstr>Prezentacja programu PowerPoint</vt:lpstr>
      <vt:lpstr>Nasze ulubione kategorie</vt:lpstr>
      <vt:lpstr>Czego szukamy najczęściej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Marcin Kotlarek</dc:creator>
  <cp:lastModifiedBy>Marcin Kotlarek</cp:lastModifiedBy>
  <cp:revision>4</cp:revision>
  <dcterms:created xsi:type="dcterms:W3CDTF">2026-09-20T19:16:26Z</dcterms:created>
  <dcterms:modified xsi:type="dcterms:W3CDTF">2026-09-23T12:26:17Z</dcterms:modified>
</cp:coreProperties>
</file>